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41"/>
    <p:sldId id="258" r:id="rId3"/>
    <p:sldId id="259" r:id="rId4"/>
    <p:sldId id="260" r:id="rId5"/>
    <p:sldId id="261" r:id="rId6"/>
    <p:sldId id="262" r:id="rId7"/>
    <p:sldId id="263" r:id="rId8"/>
    <p:sldId id="264" r:id="rId9"/>
    <p:sldId id="265" r:id="rId10"/>
    <p:sldId id="266" r:id="rId11"/>
    <p:sldId id="267" r:id="rId45"/>
    <p:sldId id="268" r:id="rId43"/>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42"/>
    <p:sldId id="289" r:id="rId31"/>
    <p:sldId id="290" r:id="rId34"/>
    <p:sldId id="291" r:id="rId32"/>
    <p:sldId id="292" r:id="rId33"/>
    <p:sldId id="293" r:id="rId46"/>
    <p:sldId id="294" r:id="rId44"/>
    <p:sldId id="295"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999999"/>
                </a:solidFill>
                <a:latin typeface="Arial"/>
              </a:defRPr>
            </a:pPr>
            <a:r>
              <a:rPr sz="1000" b="0" i="0" u="none" strike="noStrike">
                <a:solidFill>
                  <a:srgbClr val="999999"/>
                </a:solidFill>
                <a:latin typeface="Arial"/>
              </a:rPr>
              <a:t>results</a:t>
            </a:r>
          </a:p>
        </c:rich>
      </c:tx>
      <c:layout/>
      <c:overlay val="0"/>
    </c:title>
    <c:autoTitleDeleted val="0"/>
    <c:plotArea>
      <c:layout/>
      <c:barChart>
        <c:barDir val="col"/>
        <c:grouping val="clustered"/>
        <c:varyColors val="0"/>
        <c:ser>
          <c:idx val="0"/>
          <c:order val="0"/>
          <c:tx>
            <c:strRef>
              <c:f>Sheet1!$B$1</c:f>
              <c:strCache>
                <c:ptCount val="1"/>
                <c:pt idx="0">
                  <c:v>acc</c:v>
                </c:pt>
              </c:strCache>
            </c:strRef>
          </c:tx>
          <c:spPr>
            <a:solidFill>
              <a:srgbClr val="FF00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m1</c:v>
                  </c:pt>
                  <c:pt idx="1">
                    <c:v>m2</c:v>
                  </c:pt>
                  <c:pt idx="2">
                    <c:v>m3</c:v>
                  </c:pt>
                  <c:pt idx="3">
                    <c:v>ours</c:v>
                  </c:pt>
                </c:lvl>
              </c:multiLvlStrCache>
            </c:multiLvlStrRef>
          </c:cat>
          <c:val>
            <c:numRef>
              <c:f>Sheet1!$B$2:$B$5</c:f>
              <c:numCache>
                <c:formatCode>General</c:formatCode>
                <c:ptCount val="4"/>
                <c:pt idx="0">
                  <c:v>71.2</c:v>
                </c:pt>
                <c:pt idx="1">
                  <c:v>74.8</c:v>
                </c:pt>
                <c:pt idx="2">
                  <c:v>76.1</c:v>
                </c:pt>
                <c:pt idx="3">
                  <c:v>78.3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BBBBB"/>
                </a:solidFill>
                <a:latin typeface="Arial"/>
              </a:defRPr>
            </a:pPr>
            <a:endParaRPr lang="en-US"/>
          </a:p>
        </c:txPr>
        <c:crossAx val="2094734552"/>
        <c:crosses val="autoZero"/>
        <c:auto val="1"/>
        <c:lblAlgn val="ctr"/>
        <c:noMultiLvlLbl val="1"/>
      </c:catAx>
      <c:valAx>
        <c:axId val="2094734552"/>
        <c:scaling>
          <c:orientation val="minMax"/>
          <c:max val="79"/>
          <c:min val="70"/>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BBBBB"/>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23312B"/>
                </a:solidFill>
                <a:latin typeface="Arial"/>
              </a:defRPr>
            </a:pPr>
            <a:r>
              <a:rPr sz="1000" b="0" i="0" u="none" strike="noStrike">
                <a:solidFill>
                  <a:srgbClr val="23312B"/>
                </a:solidFill>
                <a:latin typeface="Arial"/>
              </a:rPr>
              <a:t>Top-1 accuracy (%) on cassava test set — mean of 3 seeds</a:t>
            </a:r>
          </a:p>
        </c:rich>
      </c:tx>
      <c:layout/>
      <c:overlay val="0"/>
    </c:title>
    <c:autoTitleDeleted val="0"/>
    <c:plotArea>
      <c:layout/>
      <c:barChart>
        <c:barDir val="col"/>
        <c:grouping val="clustered"/>
        <c:varyColors val="0"/>
        <c:ser>
          <c:idx val="0"/>
          <c:order val="0"/>
          <c:tx>
            <c:strRef>
              <c:f>Sheet1!$B$1</c:f>
              <c:strCache>
                <c:ptCount val="1"/>
                <c:pt idx="0">
                  <c:v>Top-1 accuracy (%)</c:v>
                </c:pt>
              </c:strCache>
            </c:strRef>
          </c:tx>
          <c:spPr>
            <a:solidFill>
              <a:srgbClr val="1E5A3F"/>
            </a:solidFill>
            <a:effectLst/>
          </c:spPr>
          <c:invertIfNegative val="0"/>
          <c:dLbls>
            <c:numFmt formatCode="#,##0" sourceLinked="0"/>
            <c:txPr>
              <a:bodyPr/>
              <a:lstStyle/>
              <a:p>
                <a:pPr>
                  <a:defRPr b="0" i="0" strike="noStrike" sz="900" u="none">
                    <a:solidFill>
                      <a:srgbClr val="233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ResNet-50</c:v>
                  </c:pt>
                  <c:pt idx="1">
                    <c:v>MobileNetV3</c:v>
                  </c:pt>
                  <c:pt idx="2">
                    <c:v>EffNet-B0</c:v>
                  </c:pt>
                  <c:pt idx="3">
                    <c:v>AgroNet (ours)</c:v>
                  </c:pt>
                </c:lvl>
              </c:multiLvlStrCache>
            </c:multiLvlStrRef>
          </c:cat>
          <c:val>
            <c:numRef>
              <c:f>Sheet1!$B$2:$B$5</c:f>
              <c:numCache>
                <c:formatCode>General</c:formatCode>
                <c:ptCount val="4"/>
                <c:pt idx="0">
                  <c:v>71.2</c:v>
                </c:pt>
                <c:pt idx="1">
                  <c:v>74.8</c:v>
                </c:pt>
                <c:pt idx="2">
                  <c:v>76.1</c:v>
                </c:pt>
                <c:pt idx="3">
                  <c:v>78.3</c:v>
                </c:pt>
              </c:numCache>
            </c:numRef>
          </c:val>
        </c:ser>
        <c:dLbls>
          <c:numFmt formatCode="#,##0" sourceLinked="0"/>
          <c:txPr>
            <a:bodyPr/>
            <a:lstStyle/>
            <a:p>
              <a:pPr>
                <a:defRPr b="0" i="0" strike="noStrike" sz="900" u="none">
                  <a:solidFill>
                    <a:srgbClr val="2331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6E66"/>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E6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00:00–00:01 | RÉGIE : Souriez, regardez la salle, attendez le silence. Diapo affichée pendant l'installation.</a:t>
            </a:r>
          </a:p>
          <a:p>
            <a:r>
              <a:t>SAY: "Good morning everyone! My name is Castro Hounmenou, from the University of Labé and CERFIG in Guinea. I work on AI applications and I review papers — which means I've seen hundreds of brilliant African ideas fail in writing, and I've seen average ideas succeed because they were written well. In the next 90 minutes, I will give you the two skills that separate those outcomes: reading papers like an expert, and writing papers that get accepted. This is a workshop — you WILL write today. Ready? Let's go."</a:t>
            </a:r>
          </a:p>
          <a:p>
            <a:r>
              <a:t>TRANSITION : cliquez vers le sondage.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00:01–00:03 | RÉGIE : Levez vous-même la main pour modéliser le geste. Comptez à voix haute ("wow, almost everyone!").</a:t>
            </a:r>
          </a:p>
          <a:p>
            <a:r>
              <a:t>SAY: "Quick poll, be honest. Poll 1: who has ever opened a research paper... and closed it after two minutes? [main levée] Look around — you are not alone! Poll 2: who has already submitted to a conference or journal? [quelques mains] Keep those hands up — you are our witnesses today."</a:t>
            </a:r>
          </a:p>
          <a:p>
            <a:r>
              <a:t>POINT CLÉ — SAY: "Notice the gap between the two polls. Many of us struggle to read; few of us have submitted. That gap is not talent — it's method. Reading and writing papers are LEARNABLE skills, and today you get both methods."</a:t>
            </a:r>
          </a:p>
          <a:p>
            <a:r>
              <a:t>PIÈGE À ÉVITER : ne commentez jamais négativement le faible nombre de mains au Poll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00:03–00:04 | RÉGIE : Ralentissez le débit. C'est le slide "pourquoi" — le lien avec le thème Sovereign Intelligence.</a:t>
            </a:r>
          </a:p>
          <a:p>
            <a:r>
              <a:t>SAY: "Here is the premise of this session. Research that is not written does not exist. Research that is not published does not travel. You can build the best crop-disease model in West Africa — if it lives only on your laptop, the world will cite someone else's inferior version. AI research is not only about writing code; it is about establishing African scientific agency: documenting and publishing OUR innovations in the venues the world reads — NeurIPS, ICLR, CVPR, Nature Machine Intelligence, and our own growing venues like AfricaNLP and the Deep Learning Indaba."</a:t>
            </a:r>
          </a:p>
          <a:p>
            <a:r>
              <a:t>SAY (plus lentement): "Sovereign Intelligence requires a Sovereign Narrative. Owning our stories is how African-led solutions get peer-reviewed, cited, and built upon."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00:04–00:05 | RÉGIE : 60 secondes max. Balayez la timeline de gauche à droite avec la main.</a:t>
            </a:r>
          </a:p>
          <a:p>
            <a:r>
              <a:t>SAY: "Here's our hour together. Five minutes of context — almost done. Eight minutes on the anatomy of an AI paper. Fourteen minutes on the 3-Pass reading method, with a live demo. Eighteen minutes on the Writing Blueprint — four steps. Then the golden block [pointez la carte dorée]: nine minutes where YOU write a real abstract. And we close with Q&amp;A and your Resource Kit."</a:t>
            </a:r>
          </a:p>
          <a:p>
            <a:r>
              <a:t>SAY: "Two superpowers, one kit, sixty minutes. Let's open the paper."</a:t>
            </a:r>
          </a:p>
          <a:p>
            <a:r>
              <a:t>TRANSITION : enchaînez immédiatement — pas de questions ici, le Q&amp;A vient à la fin.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00:05–00:07 | RÉGIE : Début de la Partie 1 (8 min au total). Pointez d'abord la colonne IMRAD, puis l'écran de droite ligne par ligne.</a:t>
            </a:r>
          </a:p>
          <a:p>
            <a:r>
              <a:t>SAY: "Good news: every scientific paper you have ever feared has the same skeleton. Classic science calls it IMRAD: Introduction, Methods, Results And Discussion. Modern machine-learning venues — NeurIPS, ICLR, CVPR — use an extended version of exactly the same skeleton."</a:t>
            </a:r>
          </a:p>
          <a:p>
            <a:r>
              <a:t>SAY (en pointant la ligne dorée): "Look at the first row: Title plus Abstract. Here is the number that should change how you write: roughly 80% of readers never go past the abstract. The abstract is not a summary you write at the end — it IS the paper for most of humanity."</a:t>
            </a:r>
          </a:p>
          <a:p>
            <a:r>
              <a:t>SAY: "The additions are Related Work — positioning yourself in the conversation — ablations inside Experiments, and a Broader Impact statement. Same skeleton, new muscles."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00:07–00:08 | RÉGIE : Lisez 3 des 6 questions à voix haute avec énergie, comme si un reviewer les posait.</a:t>
            </a:r>
          </a:p>
          <a:p>
            <a:r>
              <a:t>SAY: "Now the secret that changes everything: every section is the answer to ONE question a busy reader is silently asking. The Abstract answers: 'Why should I spend ten minutes on this paper?' The Introduction: 'What problem, what gap, what is new?' The Methodology: 'Could I re-implement this myself?' Limitations: 'Where does this honestly stop working?'"</a:t>
            </a:r>
          </a:p>
          <a:p>
            <a:r>
              <a:t>SAY: "This gives you two tools. Reading tip: before reading a section, say its question out loud — you'll instantly know what to look for. Writing tip: if your section does not answer its question, rewrite it. Simple, brutal, effective."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00:08–00:10 | RÉGIE : Slide clé de la Partie 1. La page affichée est la page 1 de "AgroNet" — notre exemple fil rouge (fictif mais réaliste). Ayez la version imprimée en main et brandissez-la.</a:t>
            </a:r>
          </a:p>
          <a:p>
            <a:r>
              <a:t>SAY: "Here is page one of a real-style paper — AgroNet, cassava disease detection on cheap phones. This exact paper will follow us through the whole session. Let's locate the five vital organs."</a:t>
            </a:r>
          </a:p>
          <a:p>
            <a:r>
              <a:t>SAY (pointez chaque pastille): "One — the title: a promise in fifteen words or less. Two — authors and affiliations: this is your African lab entering the world map; never undersell it. Three — the abstract: the paper in miniature; you will write one in thirty minutes. Four — Figure 1: experienced readers jump here FIRST, before reading a single sentence; if Figure 1 tells your story, you have already won. Five — the contributions list: reviewers hunt for these bullets."</a:t>
            </a:r>
          </a:p>
          <a:p>
            <a:r>
              <a:t>RÉGIE : distribuez ou faites circuler l'extrait imprimé maintenant — il servira pour la démo du 3-Pass.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00:10–00:11 | RÉGIE : Restez sur l'exemple AgroNet ; le cadre de droite est le point de vue reviewer.</a:t>
            </a:r>
          </a:p>
          <a:p>
            <a:r>
              <a:t>SAY: "Zoom on organ number five: the contributions list. At the end of every strong introduction, reviewers expect the explicit sentence: 'Our contributions are threefold.' A method. A resource. Evidence."</a:t>
            </a:r>
          </a:p>
          <a:p>
            <a:r>
              <a:t>SAY (pointez le cadre doré): "And here is the reviewer's iron law: contributions are PROMISES; results are PROOFS. Claim three things, prove three things. Claim four and prove three? Rejected."</a:t>
            </a:r>
          </a:p>
          <a:p>
            <a:r>
              <a:t>SAY: "Note the second bullet carefully: releasing an African dataset is a first-class scientific contribution — remember that; we come back to it with FAIR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00:11–00:12 | RÉGIE : Nouveau slide "abstract disséqué". Lisez l'abstract EN ENTIER à voix haute, en changeant légèrement de ton à chaque couleur.</a:t>
            </a:r>
          </a:p>
          <a:p>
            <a:r>
              <a:t>SAY: "Before we leave anatomy, let's dissect the AgroNet abstract, move by move — because great abstracts are engineered, not inspired. [Lisez.] Green: CONTEXT — 500 million people, 40% losses; stakes with numbers. Red: the GAP — cloud connectivity absent in rural areas; the wall the world hits. Dark: METHOD — one sentence, one system, its key property: offline, quantized, low-end devices. Gold: RESULTS — 12,406 images, 42 farms, 78.3%, minus 40% latency; numbers, not adjectives. Blue: IMPACT — we release everything; the door we open."</a:t>
            </a:r>
          </a:p>
          <a:p>
            <a:r>
              <a:t>SAY: "Five moves. In our exercise you will compress them into three sentences: context-plus-gap, method, results-plus-impact. Keep this structure in your head."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00:12–00:13 | RÉGIE : Mini-quiz oral. Préparez mentalement les 2 abstracts parlés (A vague / B précis).</a:t>
            </a:r>
          </a:p>
          <a:p>
            <a:r>
              <a:t>SAY: "So who are we writing for? A tired, skeptical volunteer reading 8 papers this weekend. On the left, what reviewers score: can I state the contribution in ONE sentence? Is it genuinely new? Can I reproduce it? Is the evidence fair? On the right, the desk-rejection classics: missing baselines, undefined symbols, overclaiming — the words 'we solve' are a red flag — and unreadable figures."</a:t>
            </a:r>
          </a:p>
          <a:p>
            <a:r>
              <a:t>QUIZ — SAY: "Mini-quiz. Abstract A: 'We use AI to improve agriculture in Africa. Our results are very good and promising.' Abstract B: 'We introduce AgroNet, evaluated on 12,406 images from 42 farms, reaching 78.3% accuracy, +3.5 points over MobileNetV3.' Hands up for A? [silence amusé] For B? [toutes les mains] Exactly. Precision wins. Always."</a:t>
            </a:r>
          </a:p>
          <a:p>
            <a:r>
              <a:t>TRANSITION : "You now know what a paper IS. Next: how experts READ one — fast."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00:13–00:15 | RÉGIE : Slide sombre = respiration. Début Partie 2 (14 min). Ton complice sur les 3 cartes.</a:t>
            </a:r>
          </a:p>
          <a:p>
            <a:r>
              <a:t>SAY: "Let's diagnose why we read badly. Habit one: page 1 to page N, like a novel — but a NeurIPS paper is not a novel, it's a legal document with appendices. Habit two: decoding every equation on first contact — you drown on page 3. Habit three, the worst: no decision point; we never ask 'is this paper worth my time?'"</a:t>
            </a:r>
          </a:p>
          <a:p>
            <a:r>
              <a:t>SAY: "The fix comes from S. Keshav at the University of Waterloo — a two-page classic from 2007 called 'How to Read a Paper', which is in your Resource Kit. His idea: read in up to three deliberate passes. Each pass has a goal, a time budget, and an exit door. Pass 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00:15–00:17 | RÉGIE : Slide central de la méthode. Insistez physiquement sur "ONLY".</a:t>
            </a:r>
          </a:p>
          <a:p>
            <a:r>
              <a:t>SAY: "Pass 1, the quick scan: five to ten minutes, and you read ONLY six things — title, abstract, introduction, section headings, figures, conclusions. You are FORBIDDEN from reading the method section. Yes, forbidden — it feels wrong, do it anyway."</a:t>
            </a:r>
          </a:p>
          <a:p>
            <a:r>
              <a:t>SAY: "Then you answer Keshav's five C's. Category: what type of paper — method, benchmark, survey? Context: what does it build on? Correctness: do the assumptions look sane? Contributions: what's claimed as new? Clarity: is it well written?"</a:t>
            </a:r>
          </a:p>
          <a:p>
            <a:r>
              <a:t>SAY (pointez le bandeau doré): "And here is the exit door: after Pass 1, you DECIDE — discard, keep for reference, or go deeper. Most papers legitimately stop here, and that is a victory, not a failure. Now flip it: this is also how reviewers will read YOUR paper. Your title, figures and headings must carry the story alone."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00:17–00:19 | RÉGIE : Rythme soutenu ; la carte de droite "Success test" est le point d'ancrage.</a:t>
            </a:r>
          </a:p>
          <a:p>
            <a:r>
              <a:t>SAY: "Pass 2 — you decided the paper deserves an hour. Read with care but SKIP the proofs — note the theorems, ignore the heavy derivations for now. Interrogate every figure and table: axes, units, error bars — is this evidence actually convincing? Trace the experimental setup: which datasets, which baselines, which metrics. Take structured notes in the margin — your future self is your first reader. And mark the references you must read next: that's how a literature map grows."</a:t>
            </a:r>
          </a:p>
          <a:p>
            <a:r>
              <a:t>SAY (carte de droite): "The success test is simple: you pass Pass 2 when you can summarize the paper's main idea, evidence and limits to a colleague — without opening it. And listen: it is NORMAL not to understand everything. Write your questions down. Some resolve in Pass 3. Some become your next paper."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00:19–00:21 | RÉGIE : Dernier étage de la fusée. Vendez l'angle "carrière" (peer review).</a:t>
            </a:r>
          </a:p>
          <a:p>
            <a:r>
              <a:t>SAY: "Pass 3 — critical reconstruction. One to five hours, reserved for maybe one paper in twenty. The exercise: virtually RE-IMPLEMENT the paper. Rebuild: re-derive the method step by step and challenge every choice — why a transformer here and not a CNN? Expose: find the hidden assumptions, the missing baselines, the failure cases the authors did not test. Project: ask 'what would I have done differently? what experiment is missing?' — that question is where new papers are born."</a:t>
            </a:r>
          </a:p>
          <a:p>
            <a:r>
              <a:t>SAY: "Career note: Pass-3 reading IS the skill of a peer reviewer. Workshops like AfricaNLP welcome young reviewers — it's the single fastest way to enter the community and to learn what acceptance looks like from the other side."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00:21–00:22 (puis démo 22:00–25:00) | RÉGIE : Slide de lancement. Vérifiez que chacun a l'extrait imprimé. Lancez un minuteur VISIBLE (téléphone sur la caméra ou minuteur à l'écran).</a:t>
            </a:r>
          </a:p>
          <a:p>
            <a:r>
              <a:t>SAY: "Enough theory. I will now do Pass 1 in front of you, on a real paper, in four minutes, thinking ALOUD — you follow on your printed excerpt. Watch where my eyes go: sixty seconds on title and abstract. Ninety seconds on headings and Figure 1 — notice I skip every equation. Sixty seconds on the conclusions. Then sixty seconds for the verdict: the five C's, out loud."</a:t>
            </a:r>
          </a:p>
          <a:p>
            <a:r>
              <a:t>RÉGIE PENDANT LA DÉMO : verbalisez TOUT ("my eyes jump to Figure 1... I see the word 'offline', that's the gap... I skip this proof entirely..."). Le but est de rendre visible le processus invisible de l'expert. Tenez STRICTEMENT les 4 minutes — le respect du minuteur fait partie du message.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00:25–00:26 | RÉGIE : Débriefing énergique post-démo. La carte de droite (routine hebdo) est le cadeau pratique.</a:t>
            </a:r>
          </a:p>
          <a:p>
            <a:r>
              <a:t>SAY: "What just happened? In four minutes we answered the five C's from about ten percent of the text. We made a DECISION — reading time is a budget you allocate, not a debt you owe. And notice: we never read the method — yet we can already discuss this paper intelligently in a lab meeting."</a:t>
            </a:r>
          </a:p>
          <a:p>
            <a:r>
              <a:t>SAY (carte de droite): "Your sustainable routine, starting this week: three papers per week in Pass 1, one per week in Pass 2, one per MONTH in Pass 3. Total: about ninety minutes a week. That's one football match. In six months you will have triaged over seventy papers and deeply own a dozen — that is a literature review."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00:26–00:27 | RÉGIE : Slide de synthèse — lisez le tableau ligne par ligne, c'est le take-home de la Partie 2. Prenez 1-2 questions éclair MAX.</a:t>
            </a:r>
          </a:p>
          <a:p>
            <a:r>
              <a:t>SAY: "The whole method on one slide — also in your kit. Pass 1, scan: five to ten minutes, output a decision. Pass 2, grasp: up to an hour, output a summary you can tell a colleague. Pass 3, reconstruct: one to five hours, output strengths, weaknesses, and your own new ideas."</a:t>
            </a:r>
          </a:p>
          <a:p>
            <a:r>
              <a:t>SAY: "Tools that multiply this: Zotero or Mendeley to manage references — non-negotiable, set it up this week. Notion or Obsidian for structured notes. Elicit and Scite for AI-assisted discovery — useful servants, terrible masters: they help you FIND papers, but Pass-2 and Pass-3 judgement cannot be delegated, especially not to a language model."</a:t>
            </a:r>
          </a:p>
          <a:p>
            <a:r>
              <a:t>TRANSITION (pivot de la session) — SAY: "You now read like a reviewer. Time to write FOR 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00:27–00:28 | RÉGIE : 30-40 secondes chrono. Annoncez l'architecture, ne développez rien ici.</a:t>
            </a:r>
          </a:p>
          <a:p>
            <a:r>
              <a:t>SAY: "Part 3 — the Writing Blueprint, four steps, eighteen minutes. Hold this mindset: a paper is NOT a diary of what you did. It is a story engineered for a busy, skeptical reader. Step 1, Frame: a title and introduction that demand attention. Step 2, the Core: methodology, notation, FAIR data. Step 3, Impact: results and figures of publication quality. Step 4, Honesty: discussion, limitations, conclusion. Each step maps to one section of the checklist you take home. Step one — titles."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00:28–00:30 | RÉGIE : Lisez un bon titre et un piège à voix haute. Les exemples sont volontairement africains — les participants doivent s'y projeter.</a:t>
            </a:r>
          </a:p>
          <a:p>
            <a:r>
              <a:t>SAY: "Your title is a fifteen-word promise, and it's also your SEO. Three formulas that work. Formula one — Method colon what-it-does for problem: 'AgroNet: Lightweight Crop-Disease Detection for Offline Mobile Use'. Formula two — the question hook: 'Do Multilingual Models Understand West African Languages?'. Formula three — resource plus scale: 'NaijaVoices: a 500-Hour Speech Corpus for Nigerian Languages'."</a:t>
            </a:r>
          </a:p>
          <a:p>
            <a:r>
              <a:t>SAY: "Three traps. Vague and grand: 'A Novel Approach to Artificial Intelligence in Africa' — approach to WHAT? Keyword-free titles that search engines cannot classify. And overclaiming: 'Solving Healthcare with Deep Learning' — no, you are not."</a:t>
            </a:r>
          </a:p>
          <a:p>
            <a:r>
              <a:t>SAY: "The test: could a stranger guess your method, your problem AND your context from the title alone?"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00:30–00:32 | RÉGIE : Descendez l'entonnoir avec la main (large → étroit). L'exemple AgroNet revient — continuité voulue.</a:t>
            </a:r>
          </a:p>
          <a:p>
            <a:r>
              <a:t>SAY: "The introduction is a funnel: general, then specific, then YOU. Level one, CONTEXT: crop diseases threaten food security across West Africa — the world's problem. Level two, the GAP: existing vision models need cloud compute unavailable to rural farmers — the wall. Level three, CONTRIBUTION: we introduce AgroNet, offline, quantized, for low-end phones — your answer. And you end with the contributions list from earlier."</a:t>
            </a:r>
          </a:p>
          <a:p>
            <a:r>
              <a:t>SAY (carte de droite): "If you're stuck, use the Heilmeier Catechism — the questions DARPA uses to vet millions of dollars: What are you trying to do, with zero jargon? How is it done today and what are the limits? What is new in YOUR approach? And who cares — locally and globally? Answer these four honestly, and your introduction writes itself."</a:t>
            </a:r>
          </a:p>
          <a:p>
            <a:r>
              <a:t>POINT SOUVERAINETÉ — SAY: "Note 'who cares locally AND globally': your African context is not a limitation to hide, it's a relevance argument to claim."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00:32–00:33 | RÉGIE : Lisez les deux versions avec des tons opposés (plat vs engagé). Demandez à main levée laquelle ils citeraient.</a:t>
            </a:r>
          </a:p>
          <a:p>
            <a:r>
              <a:t>SAY: "Same research project, two stories. Before — the activity report: 'we used a CNN to classify cassava leaves, we collected data, we trained with Keras, deep learning is powerful, results below.' No stakes, no gap, no claim. The reader has zero reason to continue."</a:t>
            </a:r>
          </a:p>
          <a:p>
            <a:r>
              <a:t>SAY: "After — the scientific story: 'Cassava feeds 500 million Africans, yet mosaic disease destroys up to 40% of yields — context. Existing detectors require cloud connectivity absent in rural areas — gap. We introduce an offline detector reaching 91% accuracy on-device — contribution.' Stakes, gap, measurable claim."</a:t>
            </a:r>
          </a:p>
          <a:p>
            <a:r>
              <a:t>SAY: "Which paper would you cite? [mains] Exactly. And notice: the 'after' version is secretly a perfect abstract skeleton. Keep it — you will need it in twelve minutes."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00:33–00:35 | RÉGIE : Étape 2 (Core). Les 3 cartes = la checklist méthodo. Mentionnez que tout est dans le kit.</a:t>
            </a:r>
          </a:p>
          <a:p>
            <a:r>
              <a:t>SAY: "Step 2, the core. The gold standard for a Methodology is brutal: a competent reader could REBUILD your system from your text alone. Three pillars. One — consistent notation: scalars lowercase, vectors bold, matrices bold capitals; define EVERY symbol at first use; one notation table saves your reviewers' sanity. Two — architecture and training: layers, losses, optimizer, schedule, hardware, and all hyperparameters in a table with the search space stated. Three — the evaluation protocol: metrics with formulas, exact splits, number of seeds, and FAIRLY chosen baselines."</a:t>
            </a:r>
          </a:p>
          <a:p>
            <a:r>
              <a:t>SAY (bandeau): "The reviewer heuristic is simple: a methodology I cannot re-implement is a methodology I cannot trust — and cannot accept."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00:35–00:36 | RÉGIE : Passez vite sur les 6 cartes mais RALENTISSEZ sur "Known biases" et l'éthique.</a:t>
            </a:r>
          </a:p>
          <a:p>
            <a:r>
              <a:t>SAY: "Your dataset deserves a full biography — six chapters. Provenance: where, when, by whom, and with what consent and ethics approval — critical when collecting health data, voices, or community photos in our contexts. Size and composition. Preprocessing: every transformation stated. Splits and leakage control — split by FARM or by SPEAKER, not by image, or you leak. Known biases: urban versus rural coverage, device quality, seasons — and hear this: DECLARING bias is scientific strength, not weakness. Finally, access and license."</a:t>
            </a:r>
          </a:p>
          <a:p>
            <a:r>
              <a:t>SAY: "Best practice: publish a dataset card — a datasheet — alongside the paper. Template in your kit. Which brings us to the international standard for valuable data..."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00:36–00:38 | RÉGIE : Slide-thème. Le bandeau sombre final est LE message souveraineté — dites-le lentement.</a:t>
            </a:r>
          </a:p>
          <a:p>
            <a:r>
              <a:t>SAY: "FAIR: Findable, Accessible, Interoperable, Reusable — Wilkinson and colleagues, 2016, reference in your kit. Findable: get a DOI — Zenodo gives them for free — plus rich metadata, indexed on HuggingFace Hub or an institutional repository. Accessible: a clear retrieval protocol — open where possible, controlled where ethics requires, like health data. Interoperable: standard formats, documented schemas. Reusable: an explicit license — CC-BY for example — a dataset card, provenance."</a:t>
            </a:r>
          </a:p>
          <a:p>
            <a:r>
              <a:t>SAY (lentement, bandeau sombre): "Here is sovereignty in practice: a FAIR African dataset gets cited, benchmarked, and becomes infrastructure the global community DEPENDS on — with African authors on every citation. That is what owning the narrative looks like in data."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00:38–00:39 | RÉGIE : Pointez l'arbre du repo à l'écran ; annoncez le squelette dans le kit.</a:t>
            </a:r>
          </a:p>
          <a:p>
            <a:r>
              <a:t>SAY: "Your repository is part of the paper. The tree on screen is in your kit: a README that says how to start, requirements with EXACT versions, data or a download script, clean source, all hyperparameters in configs, and the magic file: scripts slash run dot sh — ONE command that reproduces your main result. If a reviewer can run run.sh, you have won their trust."</a:t>
            </a:r>
          </a:p>
          <a:p>
            <a:r>
              <a:t>SAY: "Pin everything — versions, random seeds, hardware. Link an anonymized repo during review; make it public and archive it with a Zenodo DOI at camera-ready. NeurIPS and ICLR now attach reproducibility checklists to every submission."</a:t>
            </a:r>
          </a:p>
          <a:p>
            <a:r>
              <a:t>SAY: "And a strategic note for our labs: reproducibility neutralizes skepticism and showcases African engineering quality. It's armor."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00:39–00:40 | RÉGIE : Survolez la grille (30 sec) puis atterrissez sur "Box plots".</a:t>
            </a:r>
          </a:p>
          <a:p>
            <a:r>
              <a:t>SAY: "Step 3 — impact. Evidence must be SEEN. Choose the chart that carries your claim: line curves for convergence; bar charts to compare methods; a confusion matrix to show WHERE you fail — vital in health; scatter or Pareto plots for trade-offs like accuracy versus latency; box plots for variance across seeds; and qualitative panels — show real predictions, including failures."</a:t>
            </a:r>
          </a:p>
          <a:p>
            <a:r>
              <a:t>SAY (sur box plots): "Circle this one mentally: reporting mean plus-minus standard deviation over at least three seeds is a maturity marker reviewers notice instantly. One run is an anecdote; ten seeds is evidence."</a:t>
            </a:r>
          </a:p>
          <a:p>
            <a:r>
              <a:t>SAY: "Golden rule: one figure, one message. If you need two minutes to explain a figure, it is the wrong figure."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00:40–00:41 | RÉGIE : Nouveau slide "galerie" — quatre vraies figures du papier AgroNet. Balayez-les dans l'ordre ①→④.</a:t>
            </a:r>
          </a:p>
          <a:p>
            <a:r>
              <a:t>SAY: "Here they are in real life — the four figures of a strong Results section, from our AgroNet paper. One: the convergence curves — 'we train stably and we beat the baseline'. Two: the trade-off plot — best accuracy at LOWEST latency; for low-resource deployment, this is your sovereignty argument in a single image. Three: the confusion matrix — 'here is exactly where we fail': healthy versus CMD versus CBSD; honesty made visible. Four: the box plot over ten seeds — 'our gain is not luck'."</a:t>
            </a:r>
          </a:p>
          <a:p>
            <a:r>
              <a:t>SAY: "Every figure here has labeled axes, units, and a self-contained message. Your paper needs its version of these four."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00:41–00:43 | RÉGIE : Slide quiz — VOTE avant de laisser lire les légendes rouges/vertes. Cachez-les avec le corps si besoin.</a:t>
            </a:r>
          </a:p>
          <a:p>
            <a:r>
              <a:t>SAY: "Quiz time. Same numbers, two figures. Which one belongs in a NeurIPS paper — A or B? Vote! [vote] Now, tell me what's wrong with A. [laissez répondre]"</a:t>
            </a:r>
          </a:p>
          <a:p>
            <a:r>
              <a:t>CORRIGÉ — SAY: "Figure A's y-axis starts at 70 — the truncated axis makes a 7-point gap look like a 3x difference; that's how you lie with charts. Labels m1, m2, m3 are cryptic. 'Results' as a title says nothing. No units, no error bars, and that magenta... Figure B: full axis from zero, named baselines, units and protocol in the caption, values on bars. Same numbers — different credibility."</a:t>
            </a:r>
          </a:p>
          <a:p>
            <a:r>
              <a:t>SAY: "Reviewers see hundreds of Figure A's. Be a Figure B. And export vector graphics from matplotlib or TikZ — never a blurry Excel screenshot."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00:43 (30 sec) | RÉGIE : Slide-référence, à survoler — tout est dans le kit. Ne lisez pas les 6 items.</a:t>
            </a:r>
          </a:p>
          <a:p>
            <a:r>
              <a:t>SAY: "The full polish checklist is in your kit — six rules, from self-contained captions to colorblind-safe palettes and comparing against baselines. One habit to start today: zoom your figure to its final printed size; if you squint, your reviewer squints. Same rules for tables: booktabs style, bold your best result, mean plus-minus std."</a:t>
            </a:r>
          </a:p>
          <a:p>
            <a:r>
              <a:t>TRANSITION : "Last writing step — the one that builds trust: honesty."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00:43–00:45 | RÉGIE : Ralentissez sur la carte "Limitations" (dorée). L'exemple bas-débit rural est le pont contexte-africain → science rigoureuse.</a:t>
            </a:r>
          </a:p>
          <a:p>
            <a:r>
              <a:t>SAY: "Step 4. Discussion: interpret, don't repeat — WHY does your method win, when does it lose, what does it mean for deployment? Limitations — listen carefully, this is the trust section: honest, specific, self-critical. Example: 'AgroNet was validated on three cassava varieties; performance under extreme low-light and on 2G-only devices remains untested.' Reviewers RESPECT this. Hiding limits is how papers die in review — someone always finds them."</a:t>
            </a:r>
          </a:p>
          <a:p>
            <a:r>
              <a:t>SAY: "And notice something beautiful: African-context limitations — connectivity, device constraints, data coverage — are scientifically VALUABLE observations. Own them; they are future work, which feeds your conclusion: contribution, strongest number, and the future work your limitations just wrote for you."</a:t>
            </a:r>
          </a:p>
          <a:p>
            <a:r>
              <a:t>SAY: "Frame. Core. Impact. Honesty. Now — YOU write."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00:45–00:46 | RÉGIE : Warm-up de l'exercice (60 sec). Lisez le AVANT d'une voix plate, le APRÈS avec conviction.</a:t>
            </a:r>
          </a:p>
          <a:p>
            <a:r>
              <a:t>SAY: "Sixty seconds before you write — one last makeover, in the health scenario this time. Before: 'Malaria is a big problem in Africa. We used machine learning to detect malaria. Results were very good and promising.' This could describe ten thousand projects. 'Very good' is not evidence."</a:t>
            </a:r>
          </a:p>
          <a:p>
            <a:r>
              <a:t>SAY: "After, three sentences: 'Rural clinics diagnose malaria by manual microscopy — 30 minutes per slide, scarce experts. We introduce PaluNet, a compact detector running on a 50-dollar smartphone attached to any microscope. On 8,500 field slides from six clinics: 94% sensitivity in under 20 seconds, matching expert microscopists.' Context-gap, method, numbers. Three sentences — fundable."</a:t>
            </a:r>
          </a:p>
          <a:p>
            <a:r>
              <a:t>SAY: "Your turn. Same transformation, your scenario."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00:46–00:54 | RÉGIE : GARDEZ CE SLIDE AFFICHÉ pendant tout l'exercice. Chrono : 1 min consignes, 4 min rédaction, 3 min partage. CIRCULEZ dans la salle.</a:t>
            </a:r>
          </a:p>
          <a:p>
            <a:r>
              <a:t>SAY (consignes, 1 min): "Here is your template — three sentences. Sentence one, context and problem. Sentence two, your method — 'We introduce...'. Sentence three, impact with NUMBERS — invent plausible ones, that's allowed today. Pick ONE scenario card: climate and flood forecasting, agriculture and pest detection, health and malaria diagnosis, or NLP for local languages. Solo or in pairs. Paper or phone. Four minutes — go!"</a:t>
            </a:r>
          </a:p>
          <a:p>
            <a:r>
              <a:t>RÉGIE (pendant les 4 min) : penchez-vous vers 4-5 groupes ; questions de coaching : "Where is your number in sentence 3?" / "What exactly is the gap?" / "Can you name the region?"</a:t>
            </a:r>
          </a:p>
          <a:p>
            <a:r>
              <a:t>PARTAGE (3 min) — SAY: "Two or three volunteers — read yours aloud!" Feedback : commencez TOUJOURS par un point fort précis, puis UNE amélioration ("I love the named region; now give me a number in sentence 3"). Valorisez explicitement l'ancrage africain.</a:t>
            </a:r>
          </a:p>
          <a:p>
            <a:r>
              <a:t>CRITÈRE — SAY: "Judge yourselves with one question: could a stranger fund this project after three sentences?"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00:54–00:58 | RÉGIE : Q&amp;A d'abord (~2-3 min), puis le kit. Faites scanner le QR AVANT de parler (les téléphones sortent, c'est le moment).</a:t>
            </a:r>
          </a:p>
          <a:p>
            <a:r>
              <a:t>SAY (Q&amp;A): "Questions — anything: choosing venues, submission process, handling reviewer rebuttals, finding co-authors or mentors." [Si silence, amorcez : "A question I always get: 'is a workshop paper worth it?' — YES: workshops like AfricaNLP or Indaba are the ideal first submission: real reviews, real deadline, kinder stakes."]</a:t>
            </a:r>
          </a:p>
          <a:p>
            <a:r>
              <a:t>SAY (kit): "Scan now. Your Resource Kit, on GitHub: one — the Scientific Writing Checklist, the four blueprint steps as a pre-submission tick-list. Two — LaTeX Overleaf templates pre-configured for NeurIPS, ICLR and major venues: start writing TODAY. Three — a curated annotated reading list: Keshav's 3-Pass paper, the FAIR principles, the best writing guides, African AI venues and their deadlines. Four — tools: Zotero guides, the dataset-card template, the reproducible-repo skeleton."</a:t>
            </a:r>
          </a:p>
          <a:p>
            <a:r>
              <a:t>SAY: "Share it with the colleagues who are not in this room — multiplication is the strategy."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00:58–01:00 | RÉGIE : Message final debout, lentement, en regardant la salle. Terminez À L'HEURE — c'est une démonstration de professionnalisme.</a:t>
            </a:r>
          </a:p>
          <a:p>
            <a:r>
              <a:t>SAY: "Let's close the loop. You leave with two skills. Read: the 3-Pass method — triage, grasp, reconstruct; ninety minutes a week. Write: Frame, Core, Impact, Honesty — and a three-sentence abstract already in your pocket."</a:t>
            </a:r>
          </a:p>
          <a:p>
            <a:r>
              <a:t>SAY (le défi): "And a challenge, with a smile but seriously: your first submitted paper within six months. A workshop counts. AfricaNLP counts. Indaba counts. Email me your abstract draft — the address is on screen — and I will answer."</a:t>
            </a:r>
          </a:p>
          <a:p>
            <a:r>
              <a:t>SAY (final, lentement): "Master the scientific narrative — so Africa tells its own research stories. The models we build become sovereign the day the papers that describe them carry our names. Thank you."</a:t>
            </a:r>
          </a:p>
          <a:p>
            <a:r>
              <a:t>RÉGIE : restez disponible 10 min après pour les questions individuelles ; notez les emails des volontaires pour le suivi mentoring.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00:01–00:02 | RÉGIE : slide de crédibilité. Ne le lisez PAS ligne par ligne — 45 secondes max.</a:t>
            </a:r>
          </a:p>
          <a:p>
            <a:r>
              <a:t>SAY: "Thirty seconds on why you should listen to me. I am an Assistant Professor of AI at the University of Labé and a post-doctoral researcher at CERFIG. My PhD is in Statistics and Probability — machine learning and data mining. Over fifty indexed publications, and fifteen years running data-collection projects across West Africa."</a:t>
            </a:r>
          </a:p>
          <a:p>
            <a:r>
              <a:t>POINT CLÉ — SAY: "But here is the part that matters for you today: I am also a reviewer. I have read hundreds of submissions. So everything I show you in the next ninety minutes is what I actually look for when I read your paper."</a:t>
            </a:r>
          </a:p>
          <a:p>
            <a:r>
              <a:t>RÉGIE : montrez le QR en bas à droite — "the kit is already live, scan it now, you will need the template in forty minutes."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00:11–00:12 | RÉGIE : c'est LE slide qui rend la souveraineté narrative concrète. Ralentissez.</a:t>
            </a:r>
          </a:p>
          <a:p>
            <a:r>
              <a:t>SAY: "Let me show you a real paper. Not an American paper — a Beninese one. The question was local: climate change is cutting maize yields, and farmers cannot control the weather. Which climatic parameters actually drive a high yield?"</a:t>
            </a:r>
          </a:p>
          <a:p>
            <a:r>
              <a:t>SAY: "The dataset is African: twenty-six years of climate and yield data, five districts with synoptic stations, two agro-climatic zones. And look at step three — this is my favourite part. The decision tree fitted almost perfectly, R-squared 0.998. A weaker team would have stopped there and claimed victory. But nobody can READ a decision tree. So the team mined frequent patterns to produce rules a farmer can actually act on. That honesty IS the contribution."</a:t>
            </a:r>
          </a:p>
          <a:p>
            <a:r>
              <a:t>PUNCH — SAY: "And where did it go? A NeurIPS workshop, then a journal. Local question, African data, global venue. That is narrative sovereignty. That is what we are learning to do today."</a:t>
            </a:r>
          </a:p>
          <a:p>
            <a:r>
              <a:t>NOTE : Castro est co-auteur — dites-le simplement, sans vantardise : "I am one of the co-authors, so I can tell you exactly what the reviewers asked."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00:12–00:13 | RÉGIE : laissez 15 secondes de lecture silencieuse avant de parler.</a:t>
            </a:r>
          </a:p>
          <a:p>
            <a:r>
              <a:t>SAY: "Here is a published abstract from a paper I co-authored last year — chili pepper disease detection in Benin. Read it for fifteen seconds. [silence] Now watch the five moves on the right."</a:t>
            </a:r>
          </a:p>
          <a:p>
            <a:r>
              <a:t>SAY: "Context: the crop, the region, the stakes. Gap: visual inspection is slow and depends on individual expertise. Method: 534 images collected in Benin, thirteen models compared. Results: YOLOv8 at mAP 0.995, MobileNetV2 and DenseNet121 at 96.25%, 1.2 milliseconds per image, 3.1 million parameters. Impact: real-time detection for smallholder farmers."</a:t>
            </a:r>
          </a:p>
          <a:p>
            <a:r>
              <a:t>POINT CLÉ — SAY: "Now count the adjectives doing real work in that abstract. Zero. No 'revolutionary', no 'very accurate'. Every single claim is a number a reviewer can check, against a baseline we name. THAT is what gets accepted."</a:t>
            </a:r>
          </a:p>
          <a:p>
            <a:r>
              <a:t>TRANSITION : "Keep these five moves in your head — in forty minutes you will compress them into three sentences of your own."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00:43–00:45 | RÉGIE : slide sombre = moment d'autorité. C'est votre domaine d'expertise (biostatistique).</a:t>
            </a:r>
          </a:p>
          <a:p>
            <a:r>
              <a:t>SAY: "One more thing about results, and this is where I put my biostatistician hat on. Your model gets 96.2%. The baseline gets 94.8%. Is your model better? You do not know yet. You have a hypothesis, not a result."</a:t>
            </a:r>
          </a:p>
          <a:p>
            <a:r>
              <a:t>SAY: "Four rules. One: report a distribution, not a point — k-fold or at least three seeds, mean plus or minus standard deviation. Two: test before you claim. Check normality with Shapiro-Wilk; with small African field datasets it usually fails, so use Kruskal-Wallis, not ANOVA. Three: an omnibus test only says somebody differs — a post-hoc test like Nemenyi says WHO, and you report the critical difference. Four: report the trade-off. On a fifty-dollar phone, 1.2 milliseconds at 3.1 million parameters IS the contribution."</a:t>
            </a:r>
          </a:p>
          <a:p>
            <a:r>
              <a:t>PUNCH — SAY: "This is the single cheapest way to look like a serious lab. It costs you one afternoon of statistics and it removes the reviewer's easiest objection."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01:15–01:26 | RÉGIE : c'est le temps supplémentaire demandé par les organisateurs. Ne le remplissez PAS de contenu — laissez la salle parler.</a:t>
            </a:r>
          </a:p>
          <a:p>
            <a:r>
              <a:t>SAY: "We have half an hour more than a normal session, and I want to use it the way you need it. Two options: keep writing in your Overleaf copy — I will come round and read over your shoulder — or ask me anything."</a:t>
            </a:r>
          </a:p>
          <a:p>
            <a:r>
              <a:t>RÉGIE : si personne ne parle en premier, amorcez avec UNE question de la grille ("Let me start with the one I get most often: which venue for a first paper?"). Puis rendez la parole.</a:t>
            </a:r>
          </a:p>
          <a:p>
            <a:r>
              <a:t>RÉGIE : circulez. Les meilleures questions arrivent en tête-à-tête, pas au micro.</a:t>
            </a:r>
          </a:p>
          <a:p>
            <a:r>
              <a:t>PIÈGE À ÉVITER : ne laissez pas 2 personnes monopoliser. "Let me take three more, then I'll be here after the session for anyone individually."</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01:26–01:28 | RÉGIE : slide de référence — 30 secondes, tout est dans le kit.</a:t>
            </a:r>
          </a:p>
          <a:p>
            <a:r>
              <a:t>SAY: "Four papers. Keshav's 'How to Read a Paper' is two pages — read it tonight, it is the method we used this morning. Attention Is All You Need is the paper we scanned live. And the last two are African papers: the chili-pepper paper in Discover AI, open access, and the maize paper that went to a NeurIPS workshop."</a:t>
            </a:r>
          </a:p>
          <a:p>
            <a:r>
              <a:t>POINT CLÉ — SAY: "I put the African ones on this slide deliberately. When you write your related work, cite African research. If we do not cite each other, nobody else will."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photo.png"/><Relationship Id="rId5" Type="http://schemas.openxmlformats.org/officeDocument/2006/relationships/image" Target="../media/image-qr-big.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qr-badge.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qr-badge.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 Id="rId6" Type="http://schemas.openxmlformats.org/officeDocument/2006/relationships/image" Target="../media/image-qr-badge.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 Id="rId6" Type="http://schemas.openxmlformats.org/officeDocument/2006/relationships/image" Target="../media/image-qr-badge.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qr-badge.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 Id="rId5" Type="http://schemas.openxmlformats.org/officeDocument/2006/relationships/image" Target="../media/image-qr-badge.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image" Target="../media/image-qr-badge.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qr-badge.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 Id="rId13" Type="http://schemas.openxmlformats.org/officeDocument/2006/relationships/image" Target="../media/image-qr-badge.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qr-badge.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 Id="rId6" Type="http://schemas.openxmlformats.org/officeDocument/2006/relationships/image" Target="../media/image-qr-badge.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 Id="rId6" Type="http://schemas.openxmlformats.org/officeDocument/2006/relationships/image" Target="../media/image-qr-badge.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 Id="rId8" Type="http://schemas.openxmlformats.org/officeDocument/2006/relationships/image" Target="../media/image-qr-badge.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qr-badge.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 Id="rId7" Type="http://schemas.openxmlformats.org/officeDocument/2006/relationships/image" Target="../media/image-qr-badge.png"/></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qr-badge.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 Id="rId7" Type="http://schemas.openxmlformats.org/officeDocument/2006/relationships/image" Target="../media/image-qr-badge.png"/></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 Id="rId4" Type="http://schemas.openxmlformats.org/officeDocument/2006/relationships/image" Target="../media/image-qr-badge.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qr-badge.pn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 Id="rId6" Type="http://schemas.openxmlformats.org/officeDocument/2006/relationships/image" Target="../media/image-qr-badge.png"/></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 Id="rId5" Type="http://schemas.openxmlformats.org/officeDocument/2006/relationships/image" Target="../media/image-qr-badge.png"/></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 Id="rId4" Type="http://schemas.openxmlformats.org/officeDocument/2006/relationships/image" Target="../media/image-qr-badge.png"/></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 Id="rId8" Type="http://schemas.openxmlformats.org/officeDocument/2006/relationships/image" Target="../media/image-qr-badge.png"/></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 Id="rId4" Type="http://schemas.openxmlformats.org/officeDocument/2006/relationships/image" Target="../media/image-qr-badge.png"/></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 Id="rId4" Type="http://schemas.openxmlformats.org/officeDocument/2006/relationships/image" Target="../media/image-qr-badge.pn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 Id="rId8" Type="http://schemas.openxmlformats.org/officeDocument/2006/relationships/image" Target="../media/image-qr-badge.png"/></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slideLayout" Target="../slideLayouts/slideLayout1.xml"/><Relationship Id="rId5" Type="http://schemas.openxmlformats.org/officeDocument/2006/relationships/notesSlide" Target="../notesSlides/notesSlide28.xml"/><Relationship Id="rId6" Type="http://schemas.openxmlformats.org/officeDocument/2006/relationships/image" Target="../media/image-qr-badge.png"/></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 Id="rId10" Type="http://schemas.openxmlformats.org/officeDocument/2006/relationships/image" Target="../media/image-qr-badge.png"/></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 Id="rId4" Type="http://schemas.openxmlformats.org/officeDocument/2006/relationships/image" Target="../media/image-qr-badge.png"/></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 Id="rId6" Type="http://schemas.openxmlformats.org/officeDocument/2006/relationships/image" Target="../media/image-qr-badge.png"/></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 Id="rId7" Type="http://schemas.openxmlformats.org/officeDocument/2006/relationships/image" Target="../media/image-qr-badge.png"/></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 Id="rId5" Type="http://schemas.openxmlformats.org/officeDocument/2006/relationships/image" Target="../media/image-qr-badge.png"/><Relationship Id="rId6" Type="http://schemas.openxmlformats.org/officeDocument/2006/relationships/image" Target="../media/image-qr-big.png"/></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 Id="rId6" Type="http://schemas.openxmlformats.org/officeDocument/2006/relationships/image" Target="../media/image-qr-badge.png"/></Relationships>
</file>

<file path=ppt/slides/_rels/slide3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image" Target="../media/image-photo.png"/><Relationship Id="rId5" Type="http://schemas.openxmlformats.org/officeDocument/2006/relationships/image" Target="../media/image-qr-badge.pn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image" Target="../media/image-qr-badge.png"/><Relationship Id="rId5" Type="http://schemas.openxmlformats.org/officeDocument/2006/relationships/notesSlide" Target="../notesSlides/notesSlide38.xml"/></Relationships>
</file>

<file path=ppt/slides/_rels/slide37.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image" Target="../media/image-qr-badge.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image" Target="../media/image-qr-badge.png"/><Relationship Id="rId6" Type="http://schemas.openxmlformats.org/officeDocument/2006/relationships/notesSlide" Target="../notesSlides/notesSlide40.xml"/></Relationships>
</file>

<file path=ppt/slides/_rels/slide39.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image" Target="../media/image-qr-badge.png"/><Relationship Id="rId5"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image" Target="../media/image-qr-badge.png"/><Relationship Id="rId6"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62A"/>
        </a:solidFill>
      </p:bgPr>
    </p:bg>
    <p:spTree>
      <p:nvGrpSpPr>
        <p:cNvPr id="1" name=""/>
        <p:cNvGrpSpPr/>
        <p:nvPr/>
      </p:nvGrpSpPr>
      <p:grpSpPr>
        <a:xfrm>
          <a:off x="0" y="0"/>
          <a:ext cx="0" cy="0"/>
          <a:chOff x="0" y="0"/>
          <a:chExt cx="0" cy="0"/>
        </a:xfrm>
      </p:grpSpPr>
      <p:sp>
        <p:nvSpPr>
          <p:cNvPr id="2" name="Shape 0"/>
          <p:cNvSpPr/>
          <p:nvPr/>
        </p:nvSpPr>
        <p:spPr>
          <a:xfrm>
            <a:off x="8229600" y="457200"/>
            <a:ext cx="82296" cy="82296"/>
          </a:xfrm>
          <a:prstGeom prst="ellipse">
            <a:avLst/>
          </a:prstGeom>
          <a:solidFill>
            <a:srgbClr val="E9B44C">
              <a:alpha val="75000"/>
            </a:srgbClr>
          </a:solidFill>
          <a:ln/>
        </p:spPr>
      </p:sp>
      <p:sp>
        <p:nvSpPr>
          <p:cNvPr id="3" name="Shape 1"/>
          <p:cNvSpPr/>
          <p:nvPr/>
        </p:nvSpPr>
        <p:spPr>
          <a:xfrm>
            <a:off x="8595360" y="777240"/>
            <a:ext cx="118872" cy="118872"/>
          </a:xfrm>
          <a:prstGeom prst="ellipse">
            <a:avLst/>
          </a:prstGeom>
          <a:solidFill>
            <a:srgbClr val="E9B44C">
              <a:alpha val="75000"/>
            </a:srgbClr>
          </a:solidFill>
          <a:ln/>
        </p:spPr>
      </p:sp>
      <p:sp>
        <p:nvSpPr>
          <p:cNvPr id="4" name="Shape 2"/>
          <p:cNvSpPr/>
          <p:nvPr/>
        </p:nvSpPr>
        <p:spPr>
          <a:xfrm>
            <a:off x="8001000" y="914400"/>
            <a:ext cx="82296" cy="82296"/>
          </a:xfrm>
          <a:prstGeom prst="ellipse">
            <a:avLst/>
          </a:prstGeom>
          <a:solidFill>
            <a:srgbClr val="E9B44C">
              <a:alpha val="75000"/>
            </a:srgbClr>
          </a:solidFill>
          <a:ln/>
        </p:spPr>
      </p:sp>
      <p:sp>
        <p:nvSpPr>
          <p:cNvPr id="5" name="Shape 3"/>
          <p:cNvSpPr/>
          <p:nvPr/>
        </p:nvSpPr>
        <p:spPr>
          <a:xfrm>
            <a:off x="8549640" y="1234440"/>
            <a:ext cx="118872" cy="118872"/>
          </a:xfrm>
          <a:prstGeom prst="ellipse">
            <a:avLst/>
          </a:prstGeom>
          <a:solidFill>
            <a:srgbClr val="E9B44C">
              <a:alpha val="75000"/>
            </a:srgbClr>
          </a:solidFill>
          <a:ln/>
        </p:spPr>
      </p:sp>
      <p:sp>
        <p:nvSpPr>
          <p:cNvPr id="6" name="Shape 4"/>
          <p:cNvSpPr/>
          <p:nvPr/>
        </p:nvSpPr>
        <p:spPr>
          <a:xfrm>
            <a:off x="502920" y="502920"/>
            <a:ext cx="2377440" cy="384048"/>
          </a:xfrm>
          <a:prstGeom prst="roundRect">
            <a:avLst>
              <a:gd name="adj" fmla="val 50000"/>
            </a:avLst>
          </a:prstGeom>
          <a:solidFill>
            <a:srgbClr val="1E5A3F"/>
          </a:solidFill>
          <a:ln/>
        </p:spPr>
      </p:sp>
      <p:sp>
        <p:nvSpPr>
          <p:cNvPr id="7" name="Text 5"/>
          <p:cNvSpPr/>
          <p:nvPr/>
        </p:nvSpPr>
        <p:spPr>
          <a:xfrm>
            <a:off x="502920" y="502920"/>
            <a:ext cx="2377440" cy="384048"/>
          </a:xfrm>
          <a:prstGeom prst="rect">
            <a:avLst/>
          </a:prstGeom>
          <a:noFill/>
          <a:ln/>
        </p:spPr>
        <p:txBody>
          <a:bodyPr wrap="square" lIns="0" tIns="0" rIns="0" bIns="0" rtlCol="0" anchor="ctr"/>
          <a:lstStyle/>
          <a:p>
            <a:pPr algn="ctr" indent="0" marL="0">
              <a:buNone/>
            </a:pPr>
            <a:r>
              <a:rPr lang="en-US" sz="1050" b="1" spc="150" kern="0" dirty="0">
                <a:solidFill>
                  <a:srgbClr val="E9B44C"/>
                </a:solidFill>
                <a:latin typeface="Calibri" pitchFamily="34" charset="0"/>
                <a:ea typeface="Calibri" pitchFamily="34" charset="-122"/>
                <a:cs typeface="Calibri" pitchFamily="34" charset="-120"/>
              </a:rPr>
              <a:t>SKILL SESSION  ·  90 MIN  ·  HANDS-ON</a:t>
            </a:r>
            <a:endParaRPr lang="en-US" sz="1050" dirty="0"/>
          </a:p>
        </p:txBody>
      </p:sp>
      <p:sp>
        <p:nvSpPr>
          <p:cNvPr id="8" name="Text 6"/>
          <p:cNvSpPr/>
          <p:nvPr/>
        </p:nvSpPr>
        <p:spPr>
          <a:xfrm>
            <a:off x="502920" y="1234440"/>
            <a:ext cx="557784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Mastering the Scientific Narrative</a:t>
            </a:r>
            <a:endParaRPr lang="en-US" sz="4400" dirty="0"/>
          </a:p>
        </p:txBody>
      </p:sp>
      <p:sp>
        <p:nvSpPr>
          <p:cNvPr id="9" name="Text 7"/>
          <p:cNvSpPr/>
          <p:nvPr/>
        </p:nvSpPr>
        <p:spPr>
          <a:xfrm>
            <a:off x="502920" y="2697480"/>
            <a:ext cx="5577840" cy="685800"/>
          </a:xfrm>
          <a:prstGeom prst="rect">
            <a:avLst/>
          </a:prstGeom>
          <a:noFill/>
          <a:ln/>
        </p:spPr>
        <p:txBody>
          <a:bodyPr wrap="square" lIns="0" tIns="0" rIns="0" bIns="0" rtlCol="0" anchor="ctr"/>
          <a:lstStyle/>
          <a:p>
            <a:pPr indent="0" marL="0">
              <a:buNone/>
            </a:pPr>
            <a:r>
              <a:rPr lang="en-US" sz="1800" i="1" dirty="0">
                <a:solidFill>
                  <a:srgbClr val="9CBFA7"/>
                </a:solidFill>
                <a:latin typeface="Calibri" pitchFamily="34" charset="0"/>
                <a:ea typeface="Calibri" pitchFamily="34" charset="-122"/>
                <a:cs typeface="Calibri" pitchFamily="34" charset="-120"/>
              </a:rPr>
              <a:t>A Practical Guide to Reading and Writing High-Impact AI Research Papers</a:t>
            </a:r>
            <a:endParaRPr lang="en-US" sz="1800" dirty="0"/>
          </a:p>
        </p:txBody>
      </p:sp>
      <p:sp>
        <p:nvSpPr>
          <p:cNvPr id="10" name="Shape 8"/>
          <p:cNvSpPr/>
          <p:nvPr/>
        </p:nvSpPr>
        <p:spPr>
          <a:xfrm>
            <a:off x="530352" y="3383280"/>
            <a:ext cx="2926080" cy="0"/>
          </a:xfrm>
          <a:prstGeom prst="line">
            <a:avLst/>
          </a:prstGeom>
          <a:noFill/>
          <a:ln w="19050">
            <a:solidFill>
              <a:srgbClr val="E9B44C"/>
            </a:solidFill>
            <a:prstDash val="solid"/>
          </a:ln>
        </p:spPr>
      </p:sp>
      <p:sp>
        <p:nvSpPr>
          <p:cNvPr id="11" name="Text 9"/>
          <p:cNvSpPr/>
          <p:nvPr/>
        </p:nvSpPr>
        <p:spPr>
          <a:xfrm>
            <a:off x="502920" y="3547872"/>
            <a:ext cx="5486400" cy="10058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Castro Gbêmêmali Hounmenou</a:t>
            </a:r>
            <a:endParaRPr lang="en-US" sz="1500" dirty="0"/>
          </a:p>
          <a:p>
            <a:pPr indent="0" marL="0">
              <a:buNone/>
            </a:pPr>
            <a:r>
              <a:rPr lang="en-US" sz="1250" dirty="0">
                <a:solidFill>
                  <a:srgbClr val="9CBFA7"/>
                </a:solidFill>
                <a:latin typeface="Calibri" pitchFamily="34" charset="0"/>
                <a:ea typeface="Calibri" pitchFamily="34" charset="-122"/>
                <a:cs typeface="Calibri" pitchFamily="34" charset="-120"/>
              </a:rPr>
              <a:t>University of Labé (UL)  ·  CERFIG, Guinea</a:t>
            </a:r>
            <a:endParaRPr lang="en-US" sz="1500" dirty="0"/>
          </a:p>
          <a:p>
            <a:pPr indent="0" marL="0">
              <a:buNone/>
            </a:pPr>
            <a:r>
              <a:rPr lang="en-US" sz="1150" dirty="0">
                <a:solidFill>
                  <a:srgbClr val="E9B44C"/>
                </a:solidFill>
                <a:latin typeface="Calibri" pitchFamily="34" charset="0"/>
                <a:ea typeface="Calibri" pitchFamily="34" charset="-122"/>
                <a:cs typeface="Calibri" pitchFamily="34" charset="-120"/>
              </a:rPr>
              <a:t>castro.hounmenou@univ-labe.edu.gn</a:t>
            </a:r>
            <a:endParaRPr lang="en-US" sz="1500" dirty="0"/>
          </a:p>
        </p:txBody>
      </p:sp>
      <p:sp>
        <p:nvSpPr>
          <p:cNvPr id="14" name="Text 11"/>
          <p:cNvSpPr/>
          <p:nvPr/>
        </p:nvSpPr>
        <p:spPr>
          <a:xfrm>
            <a:off x="502920" y="4617720"/>
            <a:ext cx="2743200" cy="274320"/>
          </a:xfrm>
          <a:prstGeom prst="rect">
            <a:avLst/>
          </a:prstGeom>
          <a:noFill/>
          <a:ln/>
        </p:spPr>
        <p:txBody>
          <a:bodyPr wrap="square" lIns="0" tIns="0" rIns="0" bIns="0" rtlCol="0" anchor="ctr"/>
          <a:lstStyle/>
          <a:p>
            <a:pPr algn="ctr" indent="0" marL="0">
              <a:buNone/>
            </a:pPr>
            <a:r>
              <a:rPr lang="en-US" sz="1050" i="1" dirty="0">
                <a:solidFill>
                  <a:srgbClr val="9CBFA7"/>
                </a:solidFill>
                <a:latin typeface="Calibri" pitchFamily="34" charset="0"/>
                <a:ea typeface="Calibri" pitchFamily="34" charset="-122"/>
                <a:cs typeface="Calibri" pitchFamily="34" charset="-120"/>
              </a:rPr>
              <a:t>Theme: Sovereign Intelligence</a:t>
            </a:r>
            <a:endParaRPr lang="en-US" sz="1050" dirty="0"/>
          </a:p>
        </p:txBody>
      </p:sp>
      <p:pic>
        <p:nvPicPr>
          <p:cNvPr id="101" name="Facilitator photo" descr="img"/>
          <p:cNvPicPr>
            <a:picLocks noChangeAspect="1"/>
          </p:cNvPicPr>
          <p:nvPr/>
        </p:nvPicPr>
        <p:blipFill>
          <a:blip r:embed="rId4"/>
          <a:stretch>
            <a:fillRect/>
          </a:stretch>
        </p:blipFill>
        <p:spPr>
          <a:xfrm>
            <a:off x="6355080" y="1188720"/>
            <a:ext cx="1920240" cy="1920240"/>
          </a:xfrm>
          <a:prstGeom prst="rect">
            <a:avLst/>
          </a:prstGeom>
        </p:spPr>
      </p:pic>
      <p:sp>
        <p:nvSpPr>
          <p:cNvPr id="102" name="Text"/>
          <p:cNvSpPr/>
          <p:nvPr/>
        </p:nvSpPr>
        <p:spPr>
          <a:xfrm>
            <a:off x="6355080" y="3182112"/>
            <a:ext cx="1920240" cy="201168"/>
          </a:xfrm>
          <a:prstGeom prst="rect">
            <a:avLst/>
          </a:prstGeom>
          <a:noFill/>
          <a:ln/>
        </p:spPr>
        <p:txBody>
          <a:bodyPr wrap="square" lIns="0" tIns="0" rIns="0" bIns="0" rtlCol="0" anchor="t"/>
          <a:lstStyle/>
          <a:p>
            <a:pPr indent="0" marL="0" algn="ctr">
              <a:buNone/>
            </a:pPr>
            <a:r>
              <a:rPr lang="en-US" sz="850" dirty="0">
                <a:solidFill>
                  <a:srgbClr val="9CBFA7"/>
                </a:solidFill>
                <a:latin typeface="Calibri" pitchFamily="34" charset="0"/>
                <a:ea typeface="Calibri" pitchFamily="34" charset="-122"/>
                <a:cs typeface="Calibri" pitchFamily="34" charset="-120"/>
              </a:rPr>
              <a:t>Dr. Ing. Castro G. Hounmenou</a:t>
            </a:r>
          </a:p>
        </p:txBody>
      </p:sp>
      <p:sp>
        <p:nvSpPr>
          <p:cNvPr id="103" name="Shape"/>
          <p:cNvSpPr/>
          <p:nvPr/>
        </p:nvSpPr>
        <p:spPr>
          <a:xfrm>
            <a:off x="6172200" y="3520440"/>
            <a:ext cx="2468880" cy="1051560"/>
          </a:xfrm>
          <a:prstGeom prst="roundRect">
            <a:avLst>
              <a:gd name="adj" fmla="val 12000"/>
            </a:avLst>
          </a:prstGeom>
          <a:solidFill>
            <a:srgbClr val="1B4A38"/>
          </a:solidFill>
          <a:ln>
            <a:noFill/>
          </a:ln>
        </p:spPr>
        <p:txBody>
          <a:bodyPr/>
          <a:lstStyle/>
          <a:p/>
        </p:txBody>
      </p:sp>
      <p:pic>
        <p:nvPicPr>
          <p:cNvPr id="104" name="QR kit big" descr="img"/>
          <p:cNvPicPr>
            <a:picLocks noChangeAspect="1"/>
          </p:cNvPicPr>
          <p:nvPr/>
        </p:nvPicPr>
        <p:blipFill>
          <a:blip r:embed="rId5"/>
          <a:stretch>
            <a:fillRect/>
          </a:stretch>
        </p:blipFill>
        <p:spPr>
          <a:xfrm>
            <a:off x="6327648" y="3657600"/>
            <a:ext cx="777240" cy="777240"/>
          </a:xfrm>
          <a:prstGeom prst="rect">
            <a:avLst/>
          </a:prstGeom>
        </p:spPr>
      </p:pic>
      <p:sp>
        <p:nvSpPr>
          <p:cNvPr id="105" name="Text"/>
          <p:cNvSpPr/>
          <p:nvPr/>
        </p:nvSpPr>
        <p:spPr>
          <a:xfrm>
            <a:off x="7242048" y="3675888"/>
            <a:ext cx="1280160" cy="182880"/>
          </a:xfrm>
          <a:prstGeom prst="rect">
            <a:avLst/>
          </a:prstGeom>
          <a:noFill/>
          <a:ln/>
        </p:spPr>
        <p:txBody>
          <a:bodyPr wrap="square" lIns="0" tIns="0" rIns="0" bIns="0" rtlCol="0" anchor="t"/>
          <a:lstStyle/>
          <a:p>
            <a:pPr indent="0" marL="0">
              <a:buNone/>
            </a:pPr>
            <a:r>
              <a:rPr lang="en-US" sz="800" b="1" spc="100" dirty="0">
                <a:solidFill>
                  <a:srgbClr val="E9B44C"/>
                </a:solidFill>
                <a:latin typeface="Calibri" pitchFamily="34" charset="0"/>
                <a:ea typeface="Calibri" pitchFamily="34" charset="-122"/>
                <a:cs typeface="Calibri" pitchFamily="34" charset="-120"/>
              </a:rPr>
              <a:t>RESOURCE KIT</a:t>
            </a:r>
          </a:p>
        </p:txBody>
      </p:sp>
      <p:sp>
        <p:nvSpPr>
          <p:cNvPr id="106" name="Text"/>
          <p:cNvSpPr/>
          <p:nvPr/>
        </p:nvSpPr>
        <p:spPr>
          <a:xfrm>
            <a:off x="7242048" y="3877056"/>
            <a:ext cx="1298448" cy="548640"/>
          </a:xfrm>
          <a:prstGeom prst="rect">
            <a:avLst/>
          </a:prstGeom>
          <a:noFill/>
          <a:ln/>
        </p:spPr>
        <p:txBody>
          <a:bodyPr wrap="square" lIns="0" tIns="0" rIns="0" bIns="0" rtlCol="0" anchor="t"/>
          <a:lstStyle/>
          <a:p>
            <a:pPr indent="0" marL="0">
              <a:buNone/>
            </a:pPr>
            <a:r>
              <a:rPr lang="en-US" sz="700" dirty="0">
                <a:solidFill>
                  <a:srgbClr val="CFE0D5"/>
                </a:solidFill>
                <a:latin typeface="Calibri" pitchFamily="34" charset="0"/>
                <a:ea typeface="Calibri" pitchFamily="34" charset="-122"/>
                <a:cs typeface="Calibri" pitchFamily="34" charset="-120"/>
              </a:rPr>
              <a:t>Scan now — templates, checklist &amp; reading list are live from this first slide.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9184"/>
            <a:ext cx="758952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OPENING · BLOCK 1</a:t>
            </a:r>
            <a:endParaRPr lang="en-US" sz="1100" dirty="0"/>
          </a:p>
        </p:txBody>
      </p:sp>
      <p:sp>
        <p:nvSpPr>
          <p:cNvPr id="3" name="Text 1"/>
          <p:cNvSpPr/>
          <p:nvPr/>
        </p:nvSpPr>
        <p:spPr>
          <a:xfrm>
            <a:off x="457200" y="548640"/>
            <a:ext cx="758952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Let's be honest for a second…</a:t>
            </a:r>
            <a:endParaRPr lang="en-US" sz="2600" dirty="0"/>
          </a:p>
        </p:txBody>
      </p:sp>
      <p:sp>
        <p:nvSpPr>
          <p:cNvPr id="4" name="Shape 2"/>
          <p:cNvSpPr/>
          <p:nvPr/>
        </p:nvSpPr>
        <p:spPr>
          <a:xfrm>
            <a:off x="457200" y="384048"/>
            <a:ext cx="475488" cy="475488"/>
          </a:xfrm>
          <a:prstGeom prst="ellipse">
            <a:avLst/>
          </a:prstGeom>
          <a:solidFill>
            <a:srgbClr val="1E5A3F"/>
          </a:solidFill>
          <a:ln/>
        </p:spPr>
      </p:sp>
      <p:pic>
        <p:nvPicPr>
          <p:cNvPr id="5"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6" name="Text 3"/>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OPENING · ICEBREAKER</a:t>
            </a:r>
            <a:endParaRPr lang="en-US" sz="1100" dirty="0"/>
          </a:p>
        </p:txBody>
      </p:sp>
      <p:sp>
        <p:nvSpPr>
          <p:cNvPr id="7" name="Text 4"/>
          <p:cNvSpPr/>
          <p:nvPr/>
        </p:nvSpPr>
        <p:spPr>
          <a:xfrm>
            <a:off x="1051560" y="548640"/>
            <a:ext cx="658368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Let's be honest for a second…</a:t>
            </a:r>
            <a:endParaRPr lang="en-US" sz="2600" dirty="0"/>
          </a:p>
        </p:txBody>
      </p:sp>
      <p:sp>
        <p:nvSpPr>
          <p:cNvPr id="8" name="Shape 5"/>
          <p:cNvSpPr/>
          <p:nvPr/>
        </p:nvSpPr>
        <p:spPr>
          <a:xfrm>
            <a:off x="7818120" y="384048"/>
            <a:ext cx="868680" cy="329184"/>
          </a:xfrm>
          <a:prstGeom prst="roundRect">
            <a:avLst>
              <a:gd name="adj" fmla="val 50000"/>
            </a:avLst>
          </a:prstGeom>
          <a:solidFill>
            <a:srgbClr val="EFF5F0"/>
          </a:solidFill>
          <a:ln/>
        </p:spPr>
      </p:sp>
      <p:pic>
        <p:nvPicPr>
          <p:cNvPr id="9" name="Image 1" descr="preencoded.png">    </p:cNvPr>
          <p:cNvPicPr>
            <a:picLocks noChangeAspect="1"/>
          </p:cNvPicPr>
          <p:nvPr/>
        </p:nvPicPr>
        <p:blipFill>
          <a:blip r:embed="rId2"/>
          <a:stretch>
            <a:fillRect/>
          </a:stretch>
        </p:blipFill>
        <p:spPr>
          <a:xfrm>
            <a:off x="7891272" y="448056"/>
            <a:ext cx="201168" cy="201168"/>
          </a:xfrm>
          <a:prstGeom prst="rect">
            <a:avLst/>
          </a:prstGeom>
        </p:spPr>
      </p:pic>
      <p:sp>
        <p:nvSpPr>
          <p:cNvPr id="10" name="Text 6"/>
          <p:cNvSpPr/>
          <p:nvPr/>
        </p:nvSpPr>
        <p:spPr>
          <a:xfrm>
            <a:off x="8101584" y="384048"/>
            <a:ext cx="566928" cy="329184"/>
          </a:xfrm>
          <a:prstGeom prst="rect">
            <a:avLst/>
          </a:prstGeom>
          <a:noFill/>
          <a:ln/>
        </p:spPr>
        <p:txBody>
          <a:bodyPr wrap="square" lIns="0" tIns="0" rIns="0" bIns="0" rtlCol="0" anchor="ctr"/>
          <a:lstStyle/>
          <a:p>
            <a:pPr indent="0" marL="0">
              <a:buNone/>
            </a:pPr>
            <a:r>
              <a:rPr lang="en-US" sz="1050" b="1" dirty="0">
                <a:solidFill>
                  <a:srgbClr val="1E5A3F"/>
                </a:solidFill>
                <a:latin typeface="Calibri" pitchFamily="34" charset="0"/>
                <a:ea typeface="Calibri" pitchFamily="34" charset="-122"/>
                <a:cs typeface="Calibri" pitchFamily="34" charset="-120"/>
              </a:rPr>
              <a:t>2 min</a:t>
            </a:r>
            <a:endParaRPr lang="en-US" sz="1050" dirty="0"/>
          </a:p>
        </p:txBody>
      </p:sp>
      <p:sp>
        <p:nvSpPr>
          <p:cNvPr id="11" name="Shape 7"/>
          <p:cNvSpPr/>
          <p:nvPr/>
        </p:nvSpPr>
        <p:spPr>
          <a:xfrm>
            <a:off x="502920" y="1417320"/>
            <a:ext cx="3931920" cy="2377440"/>
          </a:xfrm>
          <a:prstGeom prst="roundRect">
            <a:avLst>
              <a:gd name="adj" fmla="val 3462"/>
            </a:avLst>
          </a:prstGeom>
          <a:solidFill>
            <a:srgbClr val="EFF5F0"/>
          </a:solidFill>
          <a:ln/>
          <a:effectLst>
            <a:outerShdw sx="100000" sy="100000" kx="0" ky="0" algn="bl" rotWithShape="0" blurRad="88900" dist="25400" dir="2700000">
              <a:srgbClr val="000000">
                <a:alpha val="14000"/>
              </a:srgbClr>
            </a:outerShdw>
          </a:effectLst>
        </p:spPr>
      </p:sp>
      <p:sp>
        <p:nvSpPr>
          <p:cNvPr id="12" name="Shape 8"/>
          <p:cNvSpPr/>
          <p:nvPr/>
        </p:nvSpPr>
        <p:spPr>
          <a:xfrm>
            <a:off x="731520" y="1645920"/>
            <a:ext cx="914400" cy="310896"/>
          </a:xfrm>
          <a:prstGeom prst="roundRect">
            <a:avLst>
              <a:gd name="adj" fmla="val 50000"/>
            </a:avLst>
          </a:prstGeom>
          <a:solidFill>
            <a:srgbClr val="1E5A3F"/>
          </a:solidFill>
          <a:ln/>
        </p:spPr>
      </p:sp>
      <p:sp>
        <p:nvSpPr>
          <p:cNvPr id="13" name="Text 9"/>
          <p:cNvSpPr/>
          <p:nvPr/>
        </p:nvSpPr>
        <p:spPr>
          <a:xfrm>
            <a:off x="731520" y="1645920"/>
            <a:ext cx="9144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Poll 1</a:t>
            </a:r>
            <a:endParaRPr lang="en-US" sz="1100" dirty="0"/>
          </a:p>
        </p:txBody>
      </p:sp>
      <p:sp>
        <p:nvSpPr>
          <p:cNvPr id="14" name="Text 10"/>
          <p:cNvSpPr/>
          <p:nvPr/>
        </p:nvSpPr>
        <p:spPr>
          <a:xfrm>
            <a:off x="731520" y="2103120"/>
            <a:ext cx="3520440" cy="1005840"/>
          </a:xfrm>
          <a:prstGeom prst="rect">
            <a:avLst/>
          </a:prstGeom>
          <a:noFill/>
          <a:ln/>
        </p:spPr>
        <p:txBody>
          <a:bodyPr wrap="square" lIns="0" tIns="0" rIns="0" bIns="0" rtlCol="0" anchor="ctr"/>
          <a:lstStyle/>
          <a:p>
            <a:pPr indent="0" marL="0">
              <a:buNone/>
            </a:pPr>
            <a:r>
              <a:rPr lang="en-US" sz="1650" b="1" dirty="0">
                <a:solidFill>
                  <a:srgbClr val="23312B"/>
                </a:solidFill>
                <a:latin typeface="Cambria" pitchFamily="34" charset="0"/>
                <a:ea typeface="Cambria" pitchFamily="34" charset="-122"/>
                <a:cs typeface="Cambria" pitchFamily="34" charset="-120"/>
              </a:rPr>
              <a:t>Who has ever opened a research paper…</a:t>
            </a:r>
            <a:endParaRPr lang="en-US" sz="1650" dirty="0"/>
          </a:p>
          <a:p>
            <a:pPr indent="0" marL="0">
              <a:buNone/>
            </a:pPr>
            <a:r>
              <a:rPr lang="en-US" sz="1650" b="1" dirty="0">
                <a:solidFill>
                  <a:srgbClr val="23312B"/>
                </a:solidFill>
                <a:latin typeface="Cambria" pitchFamily="34" charset="0"/>
                <a:ea typeface="Cambria" pitchFamily="34" charset="-122"/>
                <a:cs typeface="Cambria" pitchFamily="34" charset="-120"/>
              </a:rPr>
              <a:t>and closed it after two minutes?</a:t>
            </a:r>
            <a:endParaRPr lang="en-US" sz="1650" dirty="0"/>
          </a:p>
        </p:txBody>
      </p:sp>
      <p:sp>
        <p:nvSpPr>
          <p:cNvPr id="15" name="Text 11"/>
          <p:cNvSpPr/>
          <p:nvPr/>
        </p:nvSpPr>
        <p:spPr>
          <a:xfrm>
            <a:off x="731520" y="3200400"/>
            <a:ext cx="3520440" cy="457200"/>
          </a:xfrm>
          <a:prstGeom prst="rect">
            <a:avLst/>
          </a:prstGeom>
          <a:noFill/>
          <a:ln/>
        </p:spPr>
        <p:txBody>
          <a:bodyPr wrap="square" lIns="0" tIns="0" rIns="0" bIns="0" rtlCol="0" anchor="ctr"/>
          <a:lstStyle/>
          <a:p>
            <a:pPr indent="0" marL="0">
              <a:buNone/>
            </a:pPr>
            <a:r>
              <a:rPr lang="en-US" sz="1200" i="1" dirty="0">
                <a:solidFill>
                  <a:srgbClr val="5E6E66"/>
                </a:solidFill>
                <a:latin typeface="Calibri" pitchFamily="34" charset="0"/>
                <a:ea typeface="Calibri" pitchFamily="34" charset="-122"/>
                <a:cs typeface="Calibri" pitchFamily="34" charset="-120"/>
              </a:rPr>
              <a:t>Raise your hand — no judgement!</a:t>
            </a:r>
            <a:endParaRPr lang="en-US" sz="1200" dirty="0"/>
          </a:p>
        </p:txBody>
      </p:sp>
      <p:sp>
        <p:nvSpPr>
          <p:cNvPr id="16" name="Shape 12"/>
          <p:cNvSpPr/>
          <p:nvPr/>
        </p:nvSpPr>
        <p:spPr>
          <a:xfrm>
            <a:off x="4709160" y="1417320"/>
            <a:ext cx="3931920" cy="2377440"/>
          </a:xfrm>
          <a:prstGeom prst="roundRect">
            <a:avLst>
              <a:gd name="adj" fmla="val 3462"/>
            </a:avLst>
          </a:prstGeom>
          <a:solidFill>
            <a:srgbClr val="EFF5F0"/>
          </a:solidFill>
          <a:ln/>
          <a:effectLst>
            <a:outerShdw sx="100000" sy="100000" kx="0" ky="0" algn="bl" rotWithShape="0" blurRad="88900" dist="25400" dir="2700000">
              <a:srgbClr val="000000">
                <a:alpha val="14000"/>
              </a:srgbClr>
            </a:outerShdw>
          </a:effectLst>
        </p:spPr>
      </p:sp>
      <p:sp>
        <p:nvSpPr>
          <p:cNvPr id="17" name="Shape 13"/>
          <p:cNvSpPr/>
          <p:nvPr/>
        </p:nvSpPr>
        <p:spPr>
          <a:xfrm>
            <a:off x="4937760" y="1645920"/>
            <a:ext cx="914400" cy="310896"/>
          </a:xfrm>
          <a:prstGeom prst="roundRect">
            <a:avLst>
              <a:gd name="adj" fmla="val 50000"/>
            </a:avLst>
          </a:prstGeom>
          <a:solidFill>
            <a:srgbClr val="1E5A3F"/>
          </a:solidFill>
          <a:ln/>
        </p:spPr>
      </p:sp>
      <p:sp>
        <p:nvSpPr>
          <p:cNvPr id="18" name="Text 14"/>
          <p:cNvSpPr/>
          <p:nvPr/>
        </p:nvSpPr>
        <p:spPr>
          <a:xfrm>
            <a:off x="4937760" y="1645920"/>
            <a:ext cx="9144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Poll 2</a:t>
            </a:r>
            <a:endParaRPr lang="en-US" sz="1100" dirty="0"/>
          </a:p>
        </p:txBody>
      </p:sp>
      <p:sp>
        <p:nvSpPr>
          <p:cNvPr id="19" name="Text 15"/>
          <p:cNvSpPr/>
          <p:nvPr/>
        </p:nvSpPr>
        <p:spPr>
          <a:xfrm>
            <a:off x="4937760" y="2103120"/>
            <a:ext cx="3520440" cy="1005840"/>
          </a:xfrm>
          <a:prstGeom prst="rect">
            <a:avLst/>
          </a:prstGeom>
          <a:noFill/>
          <a:ln/>
        </p:spPr>
        <p:txBody>
          <a:bodyPr wrap="square" lIns="0" tIns="0" rIns="0" bIns="0" rtlCol="0" anchor="ctr"/>
          <a:lstStyle/>
          <a:p>
            <a:pPr indent="0" marL="0">
              <a:buNone/>
            </a:pPr>
            <a:r>
              <a:rPr lang="en-US" sz="1650" b="1" dirty="0">
                <a:solidFill>
                  <a:srgbClr val="23312B"/>
                </a:solidFill>
                <a:latin typeface="Cambria" pitchFamily="34" charset="0"/>
                <a:ea typeface="Cambria" pitchFamily="34" charset="-122"/>
                <a:cs typeface="Cambria" pitchFamily="34" charset="-120"/>
              </a:rPr>
              <a:t>Who has already submitted to a</a:t>
            </a:r>
            <a:endParaRPr lang="en-US" sz="1650" dirty="0"/>
          </a:p>
          <a:p>
            <a:pPr indent="0" marL="0">
              <a:buNone/>
            </a:pPr>
            <a:r>
              <a:rPr lang="en-US" sz="1650" b="1" dirty="0">
                <a:solidFill>
                  <a:srgbClr val="23312B"/>
                </a:solidFill>
                <a:latin typeface="Cambria" pitchFamily="34" charset="0"/>
                <a:ea typeface="Cambria" pitchFamily="34" charset="-122"/>
                <a:cs typeface="Cambria" pitchFamily="34" charset="-120"/>
              </a:rPr>
              <a:t>conference or a journal?</a:t>
            </a:r>
            <a:endParaRPr lang="en-US" sz="1650" dirty="0"/>
          </a:p>
        </p:txBody>
      </p:sp>
      <p:sp>
        <p:nvSpPr>
          <p:cNvPr id="20" name="Text 16"/>
          <p:cNvSpPr/>
          <p:nvPr/>
        </p:nvSpPr>
        <p:spPr>
          <a:xfrm>
            <a:off x="4937760" y="3200400"/>
            <a:ext cx="3520440" cy="457200"/>
          </a:xfrm>
          <a:prstGeom prst="rect">
            <a:avLst/>
          </a:prstGeom>
          <a:noFill/>
          <a:ln/>
        </p:spPr>
        <p:txBody>
          <a:bodyPr wrap="square" lIns="0" tIns="0" rIns="0" bIns="0" rtlCol="0" anchor="ctr"/>
          <a:lstStyle/>
          <a:p>
            <a:pPr indent="0" marL="0">
              <a:buNone/>
            </a:pPr>
            <a:r>
              <a:rPr lang="en-US" sz="1200" i="1" dirty="0">
                <a:solidFill>
                  <a:srgbClr val="5E6E66"/>
                </a:solidFill>
                <a:latin typeface="Calibri" pitchFamily="34" charset="0"/>
                <a:ea typeface="Calibri" pitchFamily="34" charset="-122"/>
                <a:cs typeface="Calibri" pitchFamily="34" charset="-120"/>
              </a:rPr>
              <a:t>Keep it up — you are our witnesses today.</a:t>
            </a:r>
            <a:endParaRPr lang="en-US" sz="1200" dirty="0"/>
          </a:p>
        </p:txBody>
      </p:sp>
      <p:sp>
        <p:nvSpPr>
          <p:cNvPr id="21" name="Text 17"/>
          <p:cNvSpPr/>
          <p:nvPr/>
        </p:nvSpPr>
        <p:spPr>
          <a:xfrm>
            <a:off x="502920" y="4069080"/>
            <a:ext cx="8138160" cy="59436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Why this matters:  </a:t>
            </a:r>
            <a:pPr indent="0" marL="0">
              <a:buNone/>
            </a:pPr>
            <a:r>
              <a:rPr lang="en-US" sz="1300" dirty="0">
                <a:solidFill>
                  <a:srgbClr val="23312B"/>
                </a:solidFill>
                <a:latin typeface="Calibri" pitchFamily="34" charset="0"/>
                <a:ea typeface="Calibri" pitchFamily="34" charset="-122"/>
                <a:cs typeface="Calibri" pitchFamily="34" charset="-120"/>
              </a:rPr>
              <a:t>both hands tell the same story — reading and writing papers are learnable skills, not talents. Today you leave with a method for each.</a:t>
            </a:r>
            <a:endParaRPr lang="en-US" sz="1300" dirty="0"/>
          </a:p>
        </p:txBody>
      </p:sp>
      <p:sp>
        <p:nvSpPr>
          <p:cNvPr id="22" name="Text 18"/>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3" name="Text 19"/>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3</a:t>
            </a:r>
            <a:endParaRPr lang="en-US" sz="850" dirty="0"/>
          </a:p>
        </p:txBody>
      </p:sp>
      <p:pic>
        <p:nvPicPr>
          <p:cNvPr id="121" name="QR kit" descr="img"/>
          <p:cNvPicPr>
            <a:picLocks noChangeAspect="1"/>
          </p:cNvPicPr>
          <p:nvPr/>
        </p:nvPicPr>
        <p:blipFill>
          <a:blip r:embed="rId5"/>
          <a:stretch>
            <a:fillRect/>
          </a:stretch>
        </p:blipFill>
        <p:spPr>
          <a:xfrm>
            <a:off x="7699248" y="4672584"/>
            <a:ext cx="402336" cy="402336"/>
          </a:xfrm>
          <a:prstGeom prst="rect">
            <a:avLst/>
          </a:prstGeom>
        </p:spPr>
      </p:pic>
      <p:sp>
        <p:nvSpPr>
          <p:cNvPr id="12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6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502920"/>
            <a:ext cx="502920" cy="502920"/>
          </a:xfrm>
          <a:prstGeom prst="rect">
            <a:avLst/>
          </a:prstGeom>
        </p:spPr>
      </p:pic>
      <p:sp>
        <p:nvSpPr>
          <p:cNvPr id="3" name="Text 0"/>
          <p:cNvSpPr/>
          <p:nvPr/>
        </p:nvSpPr>
        <p:spPr>
          <a:xfrm>
            <a:off x="502920" y="1143000"/>
            <a:ext cx="8138160" cy="123444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Research that is not written does not exist.</a:t>
            </a:r>
            <a:endParaRPr lang="en-US" sz="2700" dirty="0"/>
          </a:p>
          <a:p>
            <a:pPr indent="0" marL="0">
              <a:buNone/>
            </a:pPr>
            <a:r>
              <a:rPr lang="en-US" sz="2700" b="1" dirty="0">
                <a:solidFill>
                  <a:srgbClr val="FFFFFF"/>
                </a:solidFill>
                <a:latin typeface="Cambria" pitchFamily="34" charset="0"/>
                <a:ea typeface="Cambria" pitchFamily="34" charset="-122"/>
                <a:cs typeface="Cambria" pitchFamily="34" charset="-120"/>
              </a:rPr>
              <a:t>Research that is not published does not travel.</a:t>
            </a:r>
            <a:endParaRPr lang="en-US" sz="2700" dirty="0"/>
          </a:p>
        </p:txBody>
      </p:sp>
      <p:sp>
        <p:nvSpPr>
          <p:cNvPr id="4" name="Text 1"/>
          <p:cNvSpPr/>
          <p:nvPr/>
        </p:nvSpPr>
        <p:spPr>
          <a:xfrm>
            <a:off x="502920" y="2468880"/>
            <a:ext cx="7680960" cy="685800"/>
          </a:xfrm>
          <a:prstGeom prst="rect">
            <a:avLst/>
          </a:prstGeom>
          <a:noFill/>
          <a:ln/>
        </p:spPr>
        <p:txBody>
          <a:bodyPr wrap="square" lIns="0" tIns="0" rIns="0" bIns="0" rtlCol="0" anchor="ctr"/>
          <a:lstStyle/>
          <a:p>
            <a:pPr indent="0" marL="0">
              <a:buNone/>
            </a:pPr>
            <a:r>
              <a:rPr lang="en-US" sz="1450" dirty="0">
                <a:solidFill>
                  <a:srgbClr val="9CBFA7"/>
                </a:solidFill>
                <a:latin typeface="Calibri" pitchFamily="34" charset="0"/>
                <a:ea typeface="Calibri" pitchFamily="34" charset="-122"/>
                <a:cs typeface="Calibri" pitchFamily="34" charset="-120"/>
              </a:rPr>
              <a:t>AI research is not only about writing code. It is about establishing African scientific agency — documenting and publishing local innovations where the global community reads them.</a:t>
            </a:r>
            <a:endParaRPr lang="en-US" sz="1450" dirty="0"/>
          </a:p>
        </p:txBody>
      </p:sp>
      <p:sp>
        <p:nvSpPr>
          <p:cNvPr id="5" name="Shape 2"/>
          <p:cNvSpPr/>
          <p:nvPr/>
        </p:nvSpPr>
        <p:spPr>
          <a:xfrm>
            <a:off x="502920" y="3383280"/>
            <a:ext cx="1261872" cy="402336"/>
          </a:xfrm>
          <a:prstGeom prst="roundRect">
            <a:avLst>
              <a:gd name="adj" fmla="val 50000"/>
            </a:avLst>
          </a:prstGeom>
          <a:solidFill>
            <a:srgbClr val="1E5A3F"/>
          </a:solidFill>
          <a:ln/>
        </p:spPr>
      </p:sp>
      <p:sp>
        <p:nvSpPr>
          <p:cNvPr id="6" name="Text 3"/>
          <p:cNvSpPr/>
          <p:nvPr/>
        </p:nvSpPr>
        <p:spPr>
          <a:xfrm>
            <a:off x="502920" y="3383280"/>
            <a:ext cx="1261872"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NeurIPS</a:t>
            </a:r>
            <a:endParaRPr lang="en-US" sz="1150" dirty="0"/>
          </a:p>
        </p:txBody>
      </p:sp>
      <p:sp>
        <p:nvSpPr>
          <p:cNvPr id="7" name="Shape 4"/>
          <p:cNvSpPr/>
          <p:nvPr/>
        </p:nvSpPr>
        <p:spPr>
          <a:xfrm>
            <a:off x="1892808" y="3383280"/>
            <a:ext cx="1261872" cy="402336"/>
          </a:xfrm>
          <a:prstGeom prst="roundRect">
            <a:avLst>
              <a:gd name="adj" fmla="val 50000"/>
            </a:avLst>
          </a:prstGeom>
          <a:solidFill>
            <a:srgbClr val="1E5A3F"/>
          </a:solidFill>
          <a:ln/>
        </p:spPr>
      </p:sp>
      <p:sp>
        <p:nvSpPr>
          <p:cNvPr id="8" name="Text 5"/>
          <p:cNvSpPr/>
          <p:nvPr/>
        </p:nvSpPr>
        <p:spPr>
          <a:xfrm>
            <a:off x="1892808" y="3383280"/>
            <a:ext cx="1261872"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ICLR</a:t>
            </a:r>
            <a:endParaRPr lang="en-US" sz="1150" dirty="0"/>
          </a:p>
        </p:txBody>
      </p:sp>
      <p:sp>
        <p:nvSpPr>
          <p:cNvPr id="9" name="Shape 6"/>
          <p:cNvSpPr/>
          <p:nvPr/>
        </p:nvSpPr>
        <p:spPr>
          <a:xfrm>
            <a:off x="3282696" y="3383280"/>
            <a:ext cx="1261872" cy="402336"/>
          </a:xfrm>
          <a:prstGeom prst="roundRect">
            <a:avLst>
              <a:gd name="adj" fmla="val 50000"/>
            </a:avLst>
          </a:prstGeom>
          <a:solidFill>
            <a:srgbClr val="1E5A3F"/>
          </a:solidFill>
          <a:ln/>
        </p:spPr>
      </p:sp>
      <p:sp>
        <p:nvSpPr>
          <p:cNvPr id="10" name="Text 7"/>
          <p:cNvSpPr/>
          <p:nvPr/>
        </p:nvSpPr>
        <p:spPr>
          <a:xfrm>
            <a:off x="3282696" y="3383280"/>
            <a:ext cx="1261872"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CVPR</a:t>
            </a:r>
            <a:endParaRPr lang="en-US" sz="1150" dirty="0"/>
          </a:p>
        </p:txBody>
      </p:sp>
      <p:sp>
        <p:nvSpPr>
          <p:cNvPr id="11" name="Shape 8"/>
          <p:cNvSpPr/>
          <p:nvPr/>
        </p:nvSpPr>
        <p:spPr>
          <a:xfrm>
            <a:off x="4672584" y="3383280"/>
            <a:ext cx="1261872" cy="402336"/>
          </a:xfrm>
          <a:prstGeom prst="roundRect">
            <a:avLst>
              <a:gd name="adj" fmla="val 50000"/>
            </a:avLst>
          </a:prstGeom>
          <a:solidFill>
            <a:srgbClr val="1E5A3F"/>
          </a:solidFill>
          <a:ln/>
        </p:spPr>
      </p:sp>
      <p:sp>
        <p:nvSpPr>
          <p:cNvPr id="12" name="Text 9"/>
          <p:cNvSpPr/>
          <p:nvPr/>
        </p:nvSpPr>
        <p:spPr>
          <a:xfrm>
            <a:off x="4672584" y="3383280"/>
            <a:ext cx="1261872"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Nature MI</a:t>
            </a:r>
            <a:endParaRPr lang="en-US" sz="1150" dirty="0"/>
          </a:p>
        </p:txBody>
      </p:sp>
      <p:sp>
        <p:nvSpPr>
          <p:cNvPr id="13" name="Shape 10"/>
          <p:cNvSpPr/>
          <p:nvPr/>
        </p:nvSpPr>
        <p:spPr>
          <a:xfrm>
            <a:off x="6062472" y="3383280"/>
            <a:ext cx="1261872" cy="402336"/>
          </a:xfrm>
          <a:prstGeom prst="roundRect">
            <a:avLst>
              <a:gd name="adj" fmla="val 50000"/>
            </a:avLst>
          </a:prstGeom>
          <a:solidFill>
            <a:srgbClr val="1E5A3F"/>
          </a:solidFill>
          <a:ln/>
        </p:spPr>
      </p:sp>
      <p:sp>
        <p:nvSpPr>
          <p:cNvPr id="14" name="Text 11"/>
          <p:cNvSpPr/>
          <p:nvPr/>
        </p:nvSpPr>
        <p:spPr>
          <a:xfrm>
            <a:off x="6062472" y="3383280"/>
            <a:ext cx="1261872"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AfricaNLP</a:t>
            </a:r>
            <a:endParaRPr lang="en-US" sz="1150" dirty="0"/>
          </a:p>
        </p:txBody>
      </p:sp>
      <p:sp>
        <p:nvSpPr>
          <p:cNvPr id="15" name="Shape 12"/>
          <p:cNvSpPr/>
          <p:nvPr/>
        </p:nvSpPr>
        <p:spPr>
          <a:xfrm>
            <a:off x="7452360" y="3383280"/>
            <a:ext cx="1261872" cy="402336"/>
          </a:xfrm>
          <a:prstGeom prst="roundRect">
            <a:avLst>
              <a:gd name="adj" fmla="val 50000"/>
            </a:avLst>
          </a:prstGeom>
          <a:solidFill>
            <a:srgbClr val="1E5A3F"/>
          </a:solidFill>
          <a:ln/>
        </p:spPr>
      </p:sp>
      <p:sp>
        <p:nvSpPr>
          <p:cNvPr id="16" name="Text 13"/>
          <p:cNvSpPr/>
          <p:nvPr/>
        </p:nvSpPr>
        <p:spPr>
          <a:xfrm>
            <a:off x="7452360" y="3383280"/>
            <a:ext cx="1261872"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Indaba</a:t>
            </a:r>
            <a:endParaRPr lang="en-US" sz="1150" dirty="0"/>
          </a:p>
        </p:txBody>
      </p:sp>
      <p:sp>
        <p:nvSpPr>
          <p:cNvPr id="17" name="Text 14"/>
          <p:cNvSpPr/>
          <p:nvPr/>
        </p:nvSpPr>
        <p:spPr>
          <a:xfrm>
            <a:off x="502920" y="4114800"/>
            <a:ext cx="8138160" cy="640080"/>
          </a:xfrm>
          <a:prstGeom prst="rect">
            <a:avLst/>
          </a:prstGeom>
          <a:noFill/>
          <a:ln/>
        </p:spPr>
        <p:txBody>
          <a:bodyPr wrap="square" lIns="0" tIns="0" rIns="0" bIns="0" rtlCol="0" anchor="ctr"/>
          <a:lstStyle/>
          <a:p>
            <a:pPr indent="0" marL="0">
              <a:buNone/>
            </a:pPr>
            <a:r>
              <a:rPr lang="en-US" sz="1400" b="1" dirty="0">
                <a:solidFill>
                  <a:srgbClr val="E9B44C"/>
                </a:solidFill>
                <a:latin typeface="Calibri" pitchFamily="34" charset="0"/>
                <a:ea typeface="Calibri" pitchFamily="34" charset="-122"/>
                <a:cs typeface="Calibri" pitchFamily="34" charset="-120"/>
              </a:rPr>
              <a:t>Sovereign Intelligence  →  Sovereign Narrative.  </a:t>
            </a:r>
            <a:pPr indent="0" marL="0">
              <a:buNone/>
            </a:pPr>
            <a:r>
              <a:rPr lang="en-US" sz="1400" dirty="0">
                <a:solidFill>
                  <a:srgbClr val="FFFFFF"/>
                </a:solidFill>
                <a:latin typeface="Calibri" pitchFamily="34" charset="0"/>
                <a:ea typeface="Calibri" pitchFamily="34" charset="-122"/>
                <a:cs typeface="Calibri" pitchFamily="34" charset="-120"/>
              </a:rPr>
              <a:t>Owning our stories is how African-led solutions get peer-reviewed, cited, and built upon.</a:t>
            </a:r>
            <a:endParaRPr lang="en-US" sz="1400" dirty="0"/>
          </a:p>
        </p:txBody>
      </p:sp>
      <p:pic>
        <p:nvPicPr>
          <p:cNvPr id="143"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44"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E9B44C"/>
                </a:solidFill>
                <a:latin typeface="Calibri" pitchFamily="34" charset="0"/>
                <a:ea typeface="Calibri" pitchFamily="34" charset="-122"/>
                <a:cs typeface="Calibri" pitchFamily="34" charset="-120"/>
              </a:rPr>
              <a:t>Resource Kit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OPENING · ROADMAP</a:t>
            </a:r>
            <a:endParaRPr lang="en-US" sz="1100" dirty="0"/>
          </a:p>
        </p:txBody>
      </p:sp>
      <p:sp>
        <p:nvSpPr>
          <p:cNvPr id="5" name="Text 2"/>
          <p:cNvSpPr/>
          <p:nvPr/>
        </p:nvSpPr>
        <p:spPr>
          <a:xfrm>
            <a:off x="1051560" y="548640"/>
            <a:ext cx="658368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Our 90 minutes together</a:t>
            </a:r>
            <a:endParaRPr lang="en-US" sz="2600" dirty="0"/>
          </a:p>
        </p:txBody>
      </p:sp>
      <p:sp>
        <p:nvSpPr>
          <p:cNvPr id="6" name="Shape 3"/>
          <p:cNvSpPr/>
          <p:nvPr/>
        </p:nvSpPr>
        <p:spPr>
          <a:xfrm>
            <a:off x="457200" y="1371600"/>
            <a:ext cx="1298448" cy="1417320"/>
          </a:xfrm>
          <a:prstGeom prst="roundRect">
            <a:avLst>
              <a:gd name="adj" fmla="val 5634"/>
            </a:avLst>
          </a:prstGeom>
          <a:solidFill>
            <a:srgbClr val="EFF5F0"/>
          </a:solidFill>
          <a:ln/>
          <a:effectLst>
            <a:outerShdw sx="100000" sy="100000" kx="0" ky="0" algn="bl" rotWithShape="0" blurRad="88900" dist="25400" dir="2700000">
              <a:srgbClr val="000000">
                <a:alpha val="14000"/>
              </a:srgbClr>
            </a:outerShdw>
          </a:effectLst>
        </p:spPr>
      </p:sp>
      <p:sp>
        <p:nvSpPr>
          <p:cNvPr id="7" name="Shape 4"/>
          <p:cNvSpPr/>
          <p:nvPr/>
        </p:nvSpPr>
        <p:spPr>
          <a:xfrm>
            <a:off x="859536" y="1536192"/>
            <a:ext cx="493776" cy="493776"/>
          </a:xfrm>
          <a:prstGeom prst="ellipse">
            <a:avLst/>
          </a:prstGeom>
          <a:solidFill>
            <a:srgbClr val="1E5A3F"/>
          </a:solidFill>
          <a:ln/>
        </p:spPr>
      </p:sp>
      <p:sp>
        <p:nvSpPr>
          <p:cNvPr id="8" name="Text 5"/>
          <p:cNvSpPr/>
          <p:nvPr/>
        </p:nvSpPr>
        <p:spPr>
          <a:xfrm>
            <a:off x="859536"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p:nvPr/>
        </p:nvSpPr>
        <p:spPr>
          <a:xfrm>
            <a:off x="530352" y="2103120"/>
            <a:ext cx="1152144" cy="530352"/>
          </a:xfrm>
          <a:prstGeom prst="rect">
            <a:avLst/>
          </a:prstGeom>
          <a:noFill/>
          <a:ln/>
        </p:spPr>
        <p:txBody>
          <a:bodyPr wrap="square" lIns="0" tIns="0" rIns="0" bIns="0" rtlCol="0" anchor="ctr"/>
          <a:lstStyle/>
          <a:p>
            <a:pPr algn="ctr" indent="0" marL="0">
              <a:buNone/>
            </a:pPr>
            <a:r>
              <a:rPr lang="en-US" sz="1000" b="1" dirty="0">
                <a:solidFill>
                  <a:srgbClr val="23312B"/>
                </a:solidFill>
                <a:latin typeface="Calibri" pitchFamily="34" charset="0"/>
                <a:ea typeface="Calibri" pitchFamily="34" charset="-122"/>
                <a:cs typeface="Calibri" pitchFamily="34" charset="-120"/>
              </a:rPr>
              <a:t>Opening &amp; context</a:t>
            </a:r>
            <a:endParaRPr lang="en-US" sz="1000" dirty="0"/>
          </a:p>
        </p:txBody>
      </p:sp>
      <p:sp>
        <p:nvSpPr>
          <p:cNvPr id="10" name="Text 7"/>
          <p:cNvSpPr/>
          <p:nvPr/>
        </p:nvSpPr>
        <p:spPr>
          <a:xfrm>
            <a:off x="530352" y="2578608"/>
            <a:ext cx="1152144" cy="201168"/>
          </a:xfrm>
          <a:prstGeom prst="rect">
            <a:avLst/>
          </a:prstGeom>
          <a:noFill/>
          <a:ln/>
        </p:spPr>
        <p:txBody>
          <a:bodyPr wrap="square" lIns="0" tIns="0" rIns="0" bIns="0" rtlCol="0" anchor="ctr"/>
          <a:lstStyle/>
          <a:p>
            <a:pPr algn="ctr" indent="0" marL="0">
              <a:buNone/>
            </a:pPr>
            <a:r>
              <a:rPr lang="en-US" sz="950" dirty="0">
                <a:solidFill>
                  <a:srgbClr val="5E6E66"/>
                </a:solidFill>
                <a:latin typeface="Calibri" pitchFamily="34" charset="0"/>
                <a:ea typeface="Calibri" pitchFamily="34" charset="-122"/>
                <a:cs typeface="Calibri" pitchFamily="34" charset="-120"/>
              </a:rPr>
              <a:t>5'</a:t>
            </a:r>
            <a:endParaRPr lang="en-US" sz="950" dirty="0"/>
          </a:p>
        </p:txBody>
      </p:sp>
      <p:sp>
        <p:nvSpPr>
          <p:cNvPr id="11" name="Shape 8"/>
          <p:cNvSpPr/>
          <p:nvPr/>
        </p:nvSpPr>
        <p:spPr>
          <a:xfrm>
            <a:off x="1874520" y="1371600"/>
            <a:ext cx="1298448" cy="1417320"/>
          </a:xfrm>
          <a:prstGeom prst="roundRect">
            <a:avLst>
              <a:gd name="adj" fmla="val 5634"/>
            </a:avLst>
          </a:prstGeom>
          <a:solidFill>
            <a:srgbClr val="EFF5F0"/>
          </a:solidFill>
          <a:ln/>
          <a:effectLst>
            <a:outerShdw sx="100000" sy="100000" kx="0" ky="0" algn="bl" rotWithShape="0" blurRad="88900" dist="25400" dir="2700000">
              <a:srgbClr val="000000">
                <a:alpha val="14000"/>
              </a:srgbClr>
            </a:outerShdw>
          </a:effectLst>
        </p:spPr>
      </p:sp>
      <p:sp>
        <p:nvSpPr>
          <p:cNvPr id="12" name="Shape 9"/>
          <p:cNvSpPr/>
          <p:nvPr/>
        </p:nvSpPr>
        <p:spPr>
          <a:xfrm>
            <a:off x="2276856" y="1536192"/>
            <a:ext cx="493776" cy="493776"/>
          </a:xfrm>
          <a:prstGeom prst="ellipse">
            <a:avLst/>
          </a:prstGeom>
          <a:solidFill>
            <a:srgbClr val="1E5A3F"/>
          </a:solidFill>
          <a:ln/>
        </p:spPr>
      </p:sp>
      <p:sp>
        <p:nvSpPr>
          <p:cNvPr id="13" name="Text 10"/>
          <p:cNvSpPr/>
          <p:nvPr/>
        </p:nvSpPr>
        <p:spPr>
          <a:xfrm>
            <a:off x="2276856"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p:nvPr/>
        </p:nvSpPr>
        <p:spPr>
          <a:xfrm>
            <a:off x="1947672" y="2103120"/>
            <a:ext cx="1152144" cy="530352"/>
          </a:xfrm>
          <a:prstGeom prst="rect">
            <a:avLst/>
          </a:prstGeom>
          <a:noFill/>
          <a:ln/>
        </p:spPr>
        <p:txBody>
          <a:bodyPr wrap="square" lIns="0" tIns="0" rIns="0" bIns="0" rtlCol="0" anchor="ctr"/>
          <a:lstStyle/>
          <a:p>
            <a:pPr algn="ctr" indent="0" marL="0">
              <a:buNone/>
            </a:pPr>
            <a:r>
              <a:rPr lang="en-US" sz="1000" b="1" dirty="0">
                <a:solidFill>
                  <a:srgbClr val="23312B"/>
                </a:solidFill>
                <a:latin typeface="Calibri" pitchFamily="34" charset="0"/>
                <a:ea typeface="Calibri" pitchFamily="34" charset="-122"/>
                <a:cs typeface="Calibri" pitchFamily="34" charset="-120"/>
              </a:rPr>
              <a:t>Anatomy of an AI paper</a:t>
            </a:r>
            <a:endParaRPr lang="en-US" sz="1000" dirty="0"/>
          </a:p>
        </p:txBody>
      </p:sp>
      <p:sp>
        <p:nvSpPr>
          <p:cNvPr id="15" name="Text 12"/>
          <p:cNvSpPr/>
          <p:nvPr/>
        </p:nvSpPr>
        <p:spPr>
          <a:xfrm>
            <a:off x="1947672" y="2578608"/>
            <a:ext cx="1152144" cy="201168"/>
          </a:xfrm>
          <a:prstGeom prst="rect">
            <a:avLst/>
          </a:prstGeom>
          <a:noFill/>
          <a:ln/>
        </p:spPr>
        <p:txBody>
          <a:bodyPr wrap="square" lIns="0" tIns="0" rIns="0" bIns="0" rtlCol="0" anchor="ctr"/>
          <a:lstStyle/>
          <a:p>
            <a:pPr algn="ctr" indent="0" marL="0">
              <a:buNone/>
            </a:pPr>
            <a:r>
              <a:rPr lang="en-US" sz="950" dirty="0">
                <a:solidFill>
                  <a:srgbClr val="5E6E66"/>
                </a:solidFill>
                <a:latin typeface="Calibri" pitchFamily="34" charset="0"/>
                <a:ea typeface="Calibri" pitchFamily="34" charset="-122"/>
                <a:cs typeface="Calibri" pitchFamily="34" charset="-120"/>
              </a:rPr>
              <a:t>8'</a:t>
            </a:r>
            <a:endParaRPr lang="en-US" sz="950" dirty="0"/>
          </a:p>
        </p:txBody>
      </p:sp>
      <p:sp>
        <p:nvSpPr>
          <p:cNvPr id="16" name="Shape 13"/>
          <p:cNvSpPr/>
          <p:nvPr/>
        </p:nvSpPr>
        <p:spPr>
          <a:xfrm>
            <a:off x="3291840" y="1371600"/>
            <a:ext cx="1298448" cy="1417320"/>
          </a:xfrm>
          <a:prstGeom prst="roundRect">
            <a:avLst>
              <a:gd name="adj" fmla="val 5634"/>
            </a:avLst>
          </a:prstGeom>
          <a:solidFill>
            <a:srgbClr val="EFF5F0"/>
          </a:solidFill>
          <a:ln/>
          <a:effectLst>
            <a:outerShdw sx="100000" sy="100000" kx="0" ky="0" algn="bl" rotWithShape="0" blurRad="88900" dist="25400" dir="2700000">
              <a:srgbClr val="000000">
                <a:alpha val="14000"/>
              </a:srgbClr>
            </a:outerShdw>
          </a:effectLst>
        </p:spPr>
      </p:sp>
      <p:sp>
        <p:nvSpPr>
          <p:cNvPr id="17" name="Shape 14"/>
          <p:cNvSpPr/>
          <p:nvPr/>
        </p:nvSpPr>
        <p:spPr>
          <a:xfrm>
            <a:off x="3694176" y="1536192"/>
            <a:ext cx="493776" cy="493776"/>
          </a:xfrm>
          <a:prstGeom prst="ellipse">
            <a:avLst/>
          </a:prstGeom>
          <a:solidFill>
            <a:srgbClr val="1E5A3F"/>
          </a:solidFill>
          <a:ln/>
        </p:spPr>
      </p:sp>
      <p:sp>
        <p:nvSpPr>
          <p:cNvPr id="18" name="Text 15"/>
          <p:cNvSpPr/>
          <p:nvPr/>
        </p:nvSpPr>
        <p:spPr>
          <a:xfrm>
            <a:off x="3694176"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6"/>
          <p:cNvSpPr/>
          <p:nvPr/>
        </p:nvSpPr>
        <p:spPr>
          <a:xfrm>
            <a:off x="3364992" y="2103120"/>
            <a:ext cx="1152144" cy="530352"/>
          </a:xfrm>
          <a:prstGeom prst="rect">
            <a:avLst/>
          </a:prstGeom>
          <a:noFill/>
          <a:ln/>
        </p:spPr>
        <p:txBody>
          <a:bodyPr wrap="square" lIns="0" tIns="0" rIns="0" bIns="0" rtlCol="0" anchor="ctr"/>
          <a:lstStyle/>
          <a:p>
            <a:pPr algn="ctr" indent="0" marL="0">
              <a:buNone/>
            </a:pPr>
            <a:r>
              <a:rPr lang="en-US" sz="1000" b="1" dirty="0">
                <a:solidFill>
                  <a:srgbClr val="23312B"/>
                </a:solidFill>
                <a:latin typeface="Calibri" pitchFamily="34" charset="0"/>
                <a:ea typeface="Calibri" pitchFamily="34" charset="-122"/>
                <a:cs typeface="Calibri" pitchFamily="34" charset="-120"/>
              </a:rPr>
              <a:t>3-Pass reading method</a:t>
            </a:r>
            <a:endParaRPr lang="en-US" sz="1000" dirty="0"/>
          </a:p>
        </p:txBody>
      </p:sp>
      <p:sp>
        <p:nvSpPr>
          <p:cNvPr id="20" name="Text 17"/>
          <p:cNvSpPr/>
          <p:nvPr/>
        </p:nvSpPr>
        <p:spPr>
          <a:xfrm>
            <a:off x="3364992" y="2578608"/>
            <a:ext cx="1152144" cy="201168"/>
          </a:xfrm>
          <a:prstGeom prst="rect">
            <a:avLst/>
          </a:prstGeom>
          <a:noFill/>
          <a:ln/>
        </p:spPr>
        <p:txBody>
          <a:bodyPr wrap="square" lIns="0" tIns="0" rIns="0" bIns="0" rtlCol="0" anchor="ctr"/>
          <a:lstStyle/>
          <a:p>
            <a:pPr algn="ctr" indent="0" marL="0">
              <a:buNone/>
            </a:pPr>
            <a:r>
              <a:rPr lang="en-US" sz="950" dirty="0">
                <a:solidFill>
                  <a:srgbClr val="5E6E66"/>
                </a:solidFill>
                <a:latin typeface="Calibri" pitchFamily="34" charset="0"/>
                <a:ea typeface="Calibri" pitchFamily="34" charset="-122"/>
                <a:cs typeface="Calibri" pitchFamily="34" charset="-120"/>
              </a:rPr>
              <a:t>14'</a:t>
            </a:r>
            <a:endParaRPr lang="en-US" sz="950" dirty="0"/>
          </a:p>
        </p:txBody>
      </p:sp>
      <p:sp>
        <p:nvSpPr>
          <p:cNvPr id="21" name="Shape 18"/>
          <p:cNvSpPr/>
          <p:nvPr/>
        </p:nvSpPr>
        <p:spPr>
          <a:xfrm>
            <a:off x="4709160" y="1371600"/>
            <a:ext cx="1298448" cy="1417320"/>
          </a:xfrm>
          <a:prstGeom prst="roundRect">
            <a:avLst>
              <a:gd name="adj" fmla="val 5634"/>
            </a:avLst>
          </a:prstGeom>
          <a:solidFill>
            <a:srgbClr val="EFF5F0"/>
          </a:solidFill>
          <a:ln/>
          <a:effectLst>
            <a:outerShdw sx="100000" sy="100000" kx="0" ky="0" algn="bl" rotWithShape="0" blurRad="88900" dist="25400" dir="2700000">
              <a:srgbClr val="000000">
                <a:alpha val="14000"/>
              </a:srgbClr>
            </a:outerShdw>
          </a:effectLst>
        </p:spPr>
      </p:sp>
      <p:sp>
        <p:nvSpPr>
          <p:cNvPr id="22" name="Shape 19"/>
          <p:cNvSpPr/>
          <p:nvPr/>
        </p:nvSpPr>
        <p:spPr>
          <a:xfrm>
            <a:off x="5111496" y="1536192"/>
            <a:ext cx="493776" cy="493776"/>
          </a:xfrm>
          <a:prstGeom prst="ellipse">
            <a:avLst/>
          </a:prstGeom>
          <a:solidFill>
            <a:srgbClr val="1E5A3F"/>
          </a:solidFill>
          <a:ln/>
        </p:spPr>
      </p:sp>
      <p:sp>
        <p:nvSpPr>
          <p:cNvPr id="23" name="Text 20"/>
          <p:cNvSpPr/>
          <p:nvPr/>
        </p:nvSpPr>
        <p:spPr>
          <a:xfrm>
            <a:off x="5111496"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1"/>
          <p:cNvSpPr/>
          <p:nvPr/>
        </p:nvSpPr>
        <p:spPr>
          <a:xfrm>
            <a:off x="4782312" y="2103120"/>
            <a:ext cx="1152144" cy="530352"/>
          </a:xfrm>
          <a:prstGeom prst="rect">
            <a:avLst/>
          </a:prstGeom>
          <a:noFill/>
          <a:ln/>
        </p:spPr>
        <p:txBody>
          <a:bodyPr wrap="square" lIns="0" tIns="0" rIns="0" bIns="0" rtlCol="0" anchor="ctr"/>
          <a:lstStyle/>
          <a:p>
            <a:pPr algn="ctr" indent="0" marL="0">
              <a:buNone/>
            </a:pPr>
            <a:r>
              <a:rPr lang="en-US" sz="1000" b="1" dirty="0">
                <a:solidFill>
                  <a:srgbClr val="23312B"/>
                </a:solidFill>
                <a:latin typeface="Calibri" pitchFamily="34" charset="0"/>
                <a:ea typeface="Calibri" pitchFamily="34" charset="-122"/>
                <a:cs typeface="Calibri" pitchFamily="34" charset="-120"/>
              </a:rPr>
              <a:t>The Writing Blueprint</a:t>
            </a:r>
            <a:endParaRPr lang="en-US" sz="1000" dirty="0"/>
          </a:p>
        </p:txBody>
      </p:sp>
      <p:sp>
        <p:nvSpPr>
          <p:cNvPr id="25" name="Text 22"/>
          <p:cNvSpPr/>
          <p:nvPr/>
        </p:nvSpPr>
        <p:spPr>
          <a:xfrm>
            <a:off x="4782312" y="2578608"/>
            <a:ext cx="1152144" cy="201168"/>
          </a:xfrm>
          <a:prstGeom prst="rect">
            <a:avLst/>
          </a:prstGeom>
          <a:noFill/>
          <a:ln/>
        </p:spPr>
        <p:txBody>
          <a:bodyPr wrap="square" lIns="0" tIns="0" rIns="0" bIns="0" rtlCol="0" anchor="ctr"/>
          <a:lstStyle/>
          <a:p>
            <a:pPr algn="ctr" indent="0" marL="0">
              <a:buNone/>
            </a:pPr>
            <a:r>
              <a:rPr lang="en-US" sz="950" dirty="0">
                <a:solidFill>
                  <a:srgbClr val="5E6E66"/>
                </a:solidFill>
                <a:latin typeface="Calibri" pitchFamily="34" charset="0"/>
                <a:ea typeface="Calibri" pitchFamily="34" charset="-122"/>
                <a:cs typeface="Calibri" pitchFamily="34" charset="-120"/>
              </a:rPr>
              <a:t>18'</a:t>
            </a:r>
            <a:endParaRPr lang="en-US" sz="950" dirty="0"/>
          </a:p>
        </p:txBody>
      </p:sp>
      <p:sp>
        <p:nvSpPr>
          <p:cNvPr id="26" name="Shape 23"/>
          <p:cNvSpPr/>
          <p:nvPr/>
        </p:nvSpPr>
        <p:spPr>
          <a:xfrm>
            <a:off x="6126480" y="1371600"/>
            <a:ext cx="1298448" cy="1417320"/>
          </a:xfrm>
          <a:prstGeom prst="roundRect">
            <a:avLst>
              <a:gd name="adj" fmla="val 5634"/>
            </a:avLst>
          </a:prstGeom>
          <a:solidFill>
            <a:srgbClr val="F7F4EC"/>
          </a:solidFill>
          <a:ln/>
          <a:effectLst>
            <a:outerShdw sx="100000" sy="100000" kx="0" ky="0" algn="bl" rotWithShape="0" blurRad="88900" dist="25400" dir="2700000">
              <a:srgbClr val="000000">
                <a:alpha val="14000"/>
              </a:srgbClr>
            </a:outerShdw>
          </a:effectLst>
        </p:spPr>
      </p:sp>
      <p:sp>
        <p:nvSpPr>
          <p:cNvPr id="27" name="Shape 24"/>
          <p:cNvSpPr/>
          <p:nvPr/>
        </p:nvSpPr>
        <p:spPr>
          <a:xfrm>
            <a:off x="6528816" y="1536192"/>
            <a:ext cx="493776" cy="493776"/>
          </a:xfrm>
          <a:prstGeom prst="ellipse">
            <a:avLst/>
          </a:prstGeom>
          <a:solidFill>
            <a:srgbClr val="C9922F"/>
          </a:solidFill>
          <a:ln/>
        </p:spPr>
      </p:sp>
      <p:sp>
        <p:nvSpPr>
          <p:cNvPr id="28" name="Text 25"/>
          <p:cNvSpPr/>
          <p:nvPr/>
        </p:nvSpPr>
        <p:spPr>
          <a:xfrm>
            <a:off x="6528816"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6"/>
          <p:cNvSpPr/>
          <p:nvPr/>
        </p:nvSpPr>
        <p:spPr>
          <a:xfrm>
            <a:off x="6199632" y="2103120"/>
            <a:ext cx="1152144" cy="530352"/>
          </a:xfrm>
          <a:prstGeom prst="rect">
            <a:avLst/>
          </a:prstGeom>
          <a:noFill/>
          <a:ln/>
        </p:spPr>
        <p:txBody>
          <a:bodyPr wrap="square" lIns="0" tIns="0" rIns="0" bIns="0" rtlCol="0" anchor="ctr"/>
          <a:lstStyle/>
          <a:p>
            <a:pPr algn="ctr" indent="0" marL="0">
              <a:buNone/>
            </a:pPr>
            <a:r>
              <a:rPr lang="en-US" sz="1000" b="1" dirty="0">
                <a:solidFill>
                  <a:srgbClr val="23312B"/>
                </a:solidFill>
                <a:latin typeface="Calibri" pitchFamily="34" charset="0"/>
                <a:ea typeface="Calibri" pitchFamily="34" charset="-122"/>
                <a:cs typeface="Calibri" pitchFamily="34" charset="-120"/>
              </a:rPr>
              <a:t>Resource Kit + Q&amp;A</a:t>
            </a:r>
            <a:endParaRPr lang="en-US" sz="1000" dirty="0"/>
          </a:p>
        </p:txBody>
      </p:sp>
      <p:sp>
        <p:nvSpPr>
          <p:cNvPr id="30" name="Text 27"/>
          <p:cNvSpPr/>
          <p:nvPr/>
        </p:nvSpPr>
        <p:spPr>
          <a:xfrm>
            <a:off x="6199632" y="2578608"/>
            <a:ext cx="1152144" cy="201168"/>
          </a:xfrm>
          <a:prstGeom prst="rect">
            <a:avLst/>
          </a:prstGeom>
          <a:noFill/>
          <a:ln/>
        </p:spPr>
        <p:txBody>
          <a:bodyPr wrap="square" lIns="0" tIns="0" rIns="0" bIns="0" rtlCol="0" anchor="ctr"/>
          <a:lstStyle/>
          <a:p>
            <a:pPr algn="ctr" indent="0" marL="0">
              <a:buNone/>
            </a:pPr>
            <a:r>
              <a:rPr lang="en-US" sz="950" dirty="0">
                <a:solidFill>
                  <a:srgbClr val="5E6E66"/>
                </a:solidFill>
                <a:latin typeface="Calibri" pitchFamily="34" charset="0"/>
                <a:ea typeface="Calibri" pitchFamily="34" charset="-122"/>
                <a:cs typeface="Calibri" pitchFamily="34" charset="-120"/>
              </a:rPr>
              <a:t>7'</a:t>
            </a:r>
            <a:endParaRPr lang="en-US" sz="950" dirty="0"/>
          </a:p>
        </p:txBody>
      </p:sp>
      <p:sp>
        <p:nvSpPr>
          <p:cNvPr id="31" name="Shape 28"/>
          <p:cNvSpPr/>
          <p:nvPr/>
        </p:nvSpPr>
        <p:spPr>
          <a:xfrm>
            <a:off x="7543800" y="1371600"/>
            <a:ext cx="1298448" cy="1417320"/>
          </a:xfrm>
          <a:prstGeom prst="roundRect">
            <a:avLst>
              <a:gd name="adj" fmla="val 5634"/>
            </a:avLst>
          </a:prstGeom>
          <a:solidFill>
            <a:srgbClr val="EFF5F0"/>
          </a:solidFill>
          <a:ln/>
          <a:effectLst>
            <a:outerShdw sx="100000" sy="100000" kx="0" ky="0" algn="bl" rotWithShape="0" blurRad="88900" dist="25400" dir="2700000">
              <a:srgbClr val="000000">
                <a:alpha val="14000"/>
              </a:srgbClr>
            </a:outerShdw>
          </a:effectLst>
        </p:spPr>
      </p:sp>
      <p:sp>
        <p:nvSpPr>
          <p:cNvPr id="32" name="Shape 29"/>
          <p:cNvSpPr/>
          <p:nvPr/>
        </p:nvSpPr>
        <p:spPr>
          <a:xfrm>
            <a:off x="7946136" y="1536192"/>
            <a:ext cx="493776" cy="493776"/>
          </a:xfrm>
          <a:prstGeom prst="ellipse">
            <a:avLst/>
          </a:prstGeom>
          <a:solidFill>
            <a:srgbClr val="1E5A3F"/>
          </a:solidFill>
          <a:ln/>
        </p:spPr>
      </p:sp>
      <p:sp>
        <p:nvSpPr>
          <p:cNvPr id="33" name="Text 30"/>
          <p:cNvSpPr/>
          <p:nvPr/>
        </p:nvSpPr>
        <p:spPr>
          <a:xfrm>
            <a:off x="7946136" y="1536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4" name="Text 31"/>
          <p:cNvSpPr/>
          <p:nvPr/>
        </p:nvSpPr>
        <p:spPr>
          <a:xfrm>
            <a:off x="7616952" y="2103120"/>
            <a:ext cx="1152144" cy="530352"/>
          </a:xfrm>
          <a:prstGeom prst="rect">
            <a:avLst/>
          </a:prstGeom>
          <a:noFill/>
          <a:ln/>
        </p:spPr>
        <p:txBody>
          <a:bodyPr wrap="square" lIns="0" tIns="0" rIns="0" bIns="0" rtlCol="0" anchor="ctr"/>
          <a:lstStyle/>
          <a:p>
            <a:pPr algn="ctr" indent="0" marL="0">
              <a:buNone/>
            </a:pPr>
            <a:r>
              <a:rPr lang="en-US" sz="1000" b="1" dirty="0">
                <a:solidFill>
                  <a:srgbClr val="23312B"/>
                </a:solidFill>
                <a:latin typeface="Calibri" pitchFamily="34" charset="0"/>
                <a:ea typeface="Calibri" pitchFamily="34" charset="-122"/>
                <a:cs typeface="Calibri" pitchFamily="34" charset="-120"/>
              </a:rPr>
              <a:t>Write your abstract in Overleaf</a:t>
            </a:r>
            <a:endParaRPr lang="en-US" sz="1000" dirty="0"/>
          </a:p>
        </p:txBody>
      </p:sp>
      <p:sp>
        <p:nvSpPr>
          <p:cNvPr id="35" name="Text 32"/>
          <p:cNvSpPr/>
          <p:nvPr/>
        </p:nvSpPr>
        <p:spPr>
          <a:xfrm>
            <a:off x="7616952" y="2578608"/>
            <a:ext cx="1152144" cy="201168"/>
          </a:xfrm>
          <a:prstGeom prst="rect">
            <a:avLst/>
          </a:prstGeom>
          <a:noFill/>
          <a:ln/>
        </p:spPr>
        <p:txBody>
          <a:bodyPr wrap="square" lIns="0" tIns="0" rIns="0" bIns="0" rtlCol="0" anchor="ctr"/>
          <a:lstStyle/>
          <a:p>
            <a:pPr algn="ctr" indent="0" marL="0">
              <a:buNone/>
            </a:pPr>
            <a:r>
              <a:rPr lang="en-US" sz="950" dirty="0">
                <a:solidFill>
                  <a:srgbClr val="5E6E66"/>
                </a:solidFill>
                <a:latin typeface="Calibri" pitchFamily="34" charset="0"/>
                <a:ea typeface="Calibri" pitchFamily="34" charset="-122"/>
                <a:cs typeface="Calibri" pitchFamily="34" charset="-120"/>
              </a:rPr>
              <a:t>23'</a:t>
            </a:r>
            <a:endParaRPr lang="en-US" sz="950" dirty="0"/>
          </a:p>
        </p:txBody>
      </p:sp>
      <p:sp>
        <p:nvSpPr>
          <p:cNvPr id="36" name="Shape 33"/>
          <p:cNvSpPr/>
          <p:nvPr/>
        </p:nvSpPr>
        <p:spPr>
          <a:xfrm>
            <a:off x="457200" y="3108960"/>
            <a:ext cx="3977640" cy="1143000"/>
          </a:xfrm>
          <a:prstGeom prst="roundRect">
            <a:avLst>
              <a:gd name="adj" fmla="val 7200"/>
            </a:avLst>
          </a:prstGeom>
          <a:solidFill>
            <a:srgbClr val="FFFFFF"/>
          </a:solidFill>
          <a:ln w="12700">
            <a:solidFill>
              <a:srgbClr val="9CBFA7"/>
            </a:solidFill>
            <a:prstDash val="solid"/>
          </a:ln>
          <a:effectLst>
            <a:outerShdw sx="100000" sy="100000" kx="0" ky="0" algn="bl" rotWithShape="0" blurRad="88900" dist="25400" dir="2700000">
              <a:srgbClr val="000000">
                <a:alpha val="14000"/>
              </a:srgbClr>
            </a:outerShdw>
          </a:effectLst>
        </p:spPr>
      </p:sp>
      <p:sp>
        <p:nvSpPr>
          <p:cNvPr id="37" name="Shape 34"/>
          <p:cNvSpPr/>
          <p:nvPr/>
        </p:nvSpPr>
        <p:spPr>
          <a:xfrm>
            <a:off x="640080" y="3310128"/>
            <a:ext cx="658368" cy="658368"/>
          </a:xfrm>
          <a:prstGeom prst="ellipse">
            <a:avLst/>
          </a:prstGeom>
          <a:solidFill>
            <a:srgbClr val="1E5A3F"/>
          </a:solidFill>
          <a:ln/>
        </p:spPr>
      </p:sp>
      <p:pic>
        <p:nvPicPr>
          <p:cNvPr id="38" name="Image 1" descr="preencoded.png">    </p:cNvPr>
          <p:cNvPicPr>
            <a:picLocks noChangeAspect="1"/>
          </p:cNvPicPr>
          <p:nvPr/>
        </p:nvPicPr>
        <p:blipFill>
          <a:blip r:embed="rId2"/>
          <a:stretch>
            <a:fillRect/>
          </a:stretch>
        </p:blipFill>
        <p:spPr>
          <a:xfrm>
            <a:off x="811256" y="3481304"/>
            <a:ext cx="316017" cy="316017"/>
          </a:xfrm>
          <a:prstGeom prst="rect">
            <a:avLst/>
          </a:prstGeom>
        </p:spPr>
      </p:pic>
      <p:sp>
        <p:nvSpPr>
          <p:cNvPr id="39" name="Text 35"/>
          <p:cNvSpPr/>
          <p:nvPr/>
        </p:nvSpPr>
        <p:spPr>
          <a:xfrm>
            <a:off x="1417320" y="3246120"/>
            <a:ext cx="2926080" cy="320040"/>
          </a:xfrm>
          <a:prstGeom prst="rect">
            <a:avLst/>
          </a:prstGeom>
          <a:noFill/>
          <a:ln/>
        </p:spPr>
        <p:txBody>
          <a:bodyPr wrap="square" lIns="0" tIns="0" rIns="0" bIns="0" rtlCol="0" anchor="ctr"/>
          <a:lstStyle/>
          <a:p>
            <a:pPr indent="0" marL="0">
              <a:buNone/>
            </a:pPr>
            <a:r>
              <a:rPr lang="en-US" sz="1350" b="1" dirty="0">
                <a:solidFill>
                  <a:srgbClr val="12362A"/>
                </a:solidFill>
                <a:latin typeface="Calibri" pitchFamily="34" charset="0"/>
                <a:ea typeface="Calibri" pitchFamily="34" charset="-122"/>
                <a:cs typeface="Calibri" pitchFamily="34" charset="-120"/>
              </a:rPr>
              <a:t>Superpower 1 — Read efficiently</a:t>
            </a:r>
            <a:endParaRPr lang="en-US" sz="1350" dirty="0"/>
          </a:p>
        </p:txBody>
      </p:sp>
      <p:sp>
        <p:nvSpPr>
          <p:cNvPr id="40" name="Text 36"/>
          <p:cNvSpPr/>
          <p:nvPr/>
        </p:nvSpPr>
        <p:spPr>
          <a:xfrm>
            <a:off x="1417320" y="3566160"/>
            <a:ext cx="2880360" cy="59436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Deconstruct any dense AI paper with the systematic 3-Pass method.</a:t>
            </a:r>
            <a:endParaRPr lang="en-US" sz="1150" dirty="0"/>
          </a:p>
        </p:txBody>
      </p:sp>
      <p:sp>
        <p:nvSpPr>
          <p:cNvPr id="41" name="Shape 37"/>
          <p:cNvSpPr/>
          <p:nvPr/>
        </p:nvSpPr>
        <p:spPr>
          <a:xfrm>
            <a:off x="4709160" y="3108960"/>
            <a:ext cx="3977640" cy="1143000"/>
          </a:xfrm>
          <a:prstGeom prst="roundRect">
            <a:avLst>
              <a:gd name="adj" fmla="val 7200"/>
            </a:avLst>
          </a:prstGeom>
          <a:solidFill>
            <a:srgbClr val="FFFFFF"/>
          </a:solidFill>
          <a:ln w="12700">
            <a:solidFill>
              <a:srgbClr val="9CBFA7"/>
            </a:solidFill>
            <a:prstDash val="solid"/>
          </a:ln>
          <a:effectLst>
            <a:outerShdw sx="100000" sy="100000" kx="0" ky="0" algn="bl" rotWithShape="0" blurRad="88900" dist="25400" dir="2700000">
              <a:srgbClr val="000000">
                <a:alpha val="14000"/>
              </a:srgbClr>
            </a:outerShdw>
          </a:effectLst>
        </p:spPr>
      </p:sp>
      <p:sp>
        <p:nvSpPr>
          <p:cNvPr id="42" name="Shape 38"/>
          <p:cNvSpPr/>
          <p:nvPr/>
        </p:nvSpPr>
        <p:spPr>
          <a:xfrm>
            <a:off x="4892040" y="3310128"/>
            <a:ext cx="658368" cy="658368"/>
          </a:xfrm>
          <a:prstGeom prst="ellipse">
            <a:avLst/>
          </a:prstGeom>
          <a:solidFill>
            <a:srgbClr val="1E5A3F"/>
          </a:solidFill>
          <a:ln/>
        </p:spPr>
      </p:sp>
      <p:pic>
        <p:nvPicPr>
          <p:cNvPr id="43" name="Image 2" descr="preencoded.png">    </p:cNvPr>
          <p:cNvPicPr>
            <a:picLocks noChangeAspect="1"/>
          </p:cNvPicPr>
          <p:nvPr/>
        </p:nvPicPr>
        <p:blipFill>
          <a:blip r:embed="rId3"/>
          <a:stretch>
            <a:fillRect/>
          </a:stretch>
        </p:blipFill>
        <p:spPr>
          <a:xfrm>
            <a:off x="5063216" y="3481304"/>
            <a:ext cx="316017" cy="316017"/>
          </a:xfrm>
          <a:prstGeom prst="rect">
            <a:avLst/>
          </a:prstGeom>
        </p:spPr>
      </p:pic>
      <p:sp>
        <p:nvSpPr>
          <p:cNvPr id="44" name="Text 39"/>
          <p:cNvSpPr/>
          <p:nvPr/>
        </p:nvSpPr>
        <p:spPr>
          <a:xfrm>
            <a:off x="5669280" y="3246120"/>
            <a:ext cx="2926080" cy="320040"/>
          </a:xfrm>
          <a:prstGeom prst="rect">
            <a:avLst/>
          </a:prstGeom>
          <a:noFill/>
          <a:ln/>
        </p:spPr>
        <p:txBody>
          <a:bodyPr wrap="square" lIns="0" tIns="0" rIns="0" bIns="0" rtlCol="0" anchor="ctr"/>
          <a:lstStyle/>
          <a:p>
            <a:pPr indent="0" marL="0">
              <a:buNone/>
            </a:pPr>
            <a:r>
              <a:rPr lang="en-US" sz="1350" b="1" dirty="0">
                <a:solidFill>
                  <a:srgbClr val="12362A"/>
                </a:solidFill>
                <a:latin typeface="Calibri" pitchFamily="34" charset="0"/>
                <a:ea typeface="Calibri" pitchFamily="34" charset="-122"/>
                <a:cs typeface="Calibri" pitchFamily="34" charset="-120"/>
              </a:rPr>
              <a:t>Superpower 2 — Write with impact</a:t>
            </a:r>
            <a:endParaRPr lang="en-US" sz="1350" dirty="0"/>
          </a:p>
        </p:txBody>
      </p:sp>
      <p:sp>
        <p:nvSpPr>
          <p:cNvPr id="45" name="Text 40"/>
          <p:cNvSpPr/>
          <p:nvPr/>
        </p:nvSpPr>
        <p:spPr>
          <a:xfrm>
            <a:off x="5669280" y="3566160"/>
            <a:ext cx="2880360" cy="59436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Build a scientific story that meets NeurIPS / ICLR reviewer standards.</a:t>
            </a:r>
            <a:endParaRPr lang="en-US" sz="1150" dirty="0"/>
          </a:p>
        </p:txBody>
      </p:sp>
      <p:sp>
        <p:nvSpPr>
          <p:cNvPr id="46" name="Text 41"/>
          <p:cNvSpPr/>
          <p:nvPr/>
        </p:nvSpPr>
        <p:spPr>
          <a:xfrm>
            <a:off x="457200" y="4389120"/>
            <a:ext cx="8229600" cy="457200"/>
          </a:xfrm>
          <a:prstGeom prst="rect">
            <a:avLst/>
          </a:prstGeom>
          <a:noFill/>
          <a:ln/>
        </p:spPr>
        <p:txBody>
          <a:bodyPr wrap="square" lIns="0" tIns="0" rIns="0" bIns="0" rtlCol="0" anchor="ctr"/>
          <a:lstStyle/>
          <a:p>
            <a:pPr algn="ctr" indent="0" marL="0">
              <a:buNone/>
            </a:pPr>
            <a:r>
              <a:rPr lang="en-US" sz="1250" i="1" dirty="0">
                <a:solidFill>
                  <a:srgbClr val="1E5A3F"/>
                </a:solidFill>
                <a:latin typeface="Calibri" pitchFamily="34" charset="0"/>
                <a:ea typeface="Calibri" pitchFamily="34" charset="-122"/>
                <a:cs typeface="Calibri" pitchFamily="34" charset="-120"/>
              </a:rPr>
              <a:t>+ 15 extra minutes of open discussion at the end — and the Resource Kit is already live on the QR code, from slide 1.</a:t>
            </a:r>
            <a:endParaRPr lang="en-US" sz="1250" dirty="0"/>
          </a:p>
        </p:txBody>
      </p:sp>
      <p:sp>
        <p:nvSpPr>
          <p:cNvPr id="47" name="Text 42"/>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48" name="Text 43"/>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5</a:t>
            </a:r>
            <a:endParaRPr lang="en-US" sz="850" dirty="0"/>
          </a:p>
        </p:txBody>
      </p:sp>
      <p:pic>
        <p:nvPicPr>
          <p:cNvPr id="165"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66"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1 · THE ANATOMY OF AN AI PAPER</a:t>
            </a:r>
            <a:endParaRPr lang="en-US" sz="1100" dirty="0"/>
          </a:p>
        </p:txBody>
      </p:sp>
      <p:sp>
        <p:nvSpPr>
          <p:cNvPr id="5" name="Text 2"/>
          <p:cNvSpPr/>
          <p:nvPr/>
        </p:nvSpPr>
        <p:spPr>
          <a:xfrm>
            <a:off x="1051560" y="548640"/>
            <a:ext cx="6675120" cy="502920"/>
          </a:xfrm>
          <a:prstGeom prst="rect">
            <a:avLst/>
          </a:prstGeom>
          <a:noFill/>
          <a:ln/>
        </p:spPr>
        <p:txBody>
          <a:bodyPr wrap="square" lIns="0" tIns="0" rIns="0" bIns="0" rtlCol="0" anchor="ctr"/>
          <a:lstStyle/>
          <a:p>
            <a:pPr indent="0" marL="0">
              <a:buNone/>
            </a:pPr>
            <a:r>
              <a:rPr lang="en-US" sz="2500" b="1" dirty="0">
                <a:solidFill>
                  <a:srgbClr val="12362A"/>
                </a:solidFill>
                <a:latin typeface="Cambria" pitchFamily="34" charset="0"/>
                <a:ea typeface="Cambria" pitchFamily="34" charset="-122"/>
                <a:cs typeface="Cambria" pitchFamily="34" charset="-120"/>
              </a:rPr>
              <a:t>The structural DNA of a modern AI paper</a:t>
            </a:r>
            <a:endParaRPr lang="en-US" sz="2500" dirty="0"/>
          </a:p>
        </p:txBody>
      </p:sp>
      <p:sp>
        <p:nvSpPr>
          <p:cNvPr id="6" name="Shape 3"/>
          <p:cNvSpPr/>
          <p:nvPr/>
        </p:nvSpPr>
        <p:spPr>
          <a:xfrm>
            <a:off x="7818120" y="384048"/>
            <a:ext cx="868680" cy="329184"/>
          </a:xfrm>
          <a:prstGeom prst="roundRect">
            <a:avLst>
              <a:gd name="adj" fmla="val 50000"/>
            </a:avLst>
          </a:prstGeom>
          <a:solidFill>
            <a:srgbClr val="EFF5F0"/>
          </a:solidFill>
          <a:ln/>
        </p:spPr>
      </p:sp>
      <p:pic>
        <p:nvPicPr>
          <p:cNvPr id="7" name="Image 1" descr="preencoded.png">    </p:cNvPr>
          <p:cNvPicPr>
            <a:picLocks noChangeAspect="1"/>
          </p:cNvPicPr>
          <p:nvPr/>
        </p:nvPicPr>
        <p:blipFill>
          <a:blip r:embed="rId2"/>
          <a:stretch>
            <a:fillRect/>
          </a:stretch>
        </p:blipFill>
        <p:spPr>
          <a:xfrm>
            <a:off x="7891272" y="448056"/>
            <a:ext cx="201168" cy="201168"/>
          </a:xfrm>
          <a:prstGeom prst="rect">
            <a:avLst/>
          </a:prstGeom>
        </p:spPr>
      </p:pic>
      <p:sp>
        <p:nvSpPr>
          <p:cNvPr id="8" name="Text 4"/>
          <p:cNvSpPr/>
          <p:nvPr/>
        </p:nvSpPr>
        <p:spPr>
          <a:xfrm>
            <a:off x="8101584" y="384048"/>
            <a:ext cx="566928" cy="329184"/>
          </a:xfrm>
          <a:prstGeom prst="rect">
            <a:avLst/>
          </a:prstGeom>
          <a:noFill/>
          <a:ln/>
        </p:spPr>
        <p:txBody>
          <a:bodyPr wrap="square" lIns="0" tIns="0" rIns="0" bIns="0" rtlCol="0" anchor="ctr"/>
          <a:lstStyle/>
          <a:p>
            <a:pPr indent="0" marL="0">
              <a:buNone/>
            </a:pPr>
            <a:r>
              <a:rPr lang="en-US" sz="1050" b="1" dirty="0">
                <a:solidFill>
                  <a:srgbClr val="1E5A3F"/>
                </a:solidFill>
                <a:latin typeface="Calibri" pitchFamily="34" charset="0"/>
                <a:ea typeface="Calibri" pitchFamily="34" charset="-122"/>
                <a:cs typeface="Calibri" pitchFamily="34" charset="-120"/>
              </a:rPr>
              <a:t>8 min</a:t>
            </a:r>
            <a:endParaRPr lang="en-US" sz="1050" dirty="0"/>
          </a:p>
        </p:txBody>
      </p:sp>
      <p:sp>
        <p:nvSpPr>
          <p:cNvPr id="9" name="Text 5"/>
          <p:cNvSpPr/>
          <p:nvPr/>
        </p:nvSpPr>
        <p:spPr>
          <a:xfrm>
            <a:off x="502920" y="1325880"/>
            <a:ext cx="2377440" cy="274320"/>
          </a:xfrm>
          <a:prstGeom prst="rect">
            <a:avLst/>
          </a:prstGeom>
          <a:noFill/>
          <a:ln/>
        </p:spPr>
        <p:txBody>
          <a:bodyPr wrap="square" lIns="0" tIns="0" rIns="0" bIns="0" rtlCol="0" anchor="ctr"/>
          <a:lstStyle/>
          <a:p>
            <a:pPr indent="0" marL="0">
              <a:buNone/>
            </a:pPr>
            <a:r>
              <a:rPr lang="en-US" sz="1250" b="1" dirty="0">
                <a:solidFill>
                  <a:srgbClr val="5E6E66"/>
                </a:solidFill>
                <a:latin typeface="Calibri" pitchFamily="34" charset="0"/>
                <a:ea typeface="Calibri" pitchFamily="34" charset="-122"/>
                <a:cs typeface="Calibri" pitchFamily="34" charset="-120"/>
              </a:rPr>
              <a:t>Classic science (IMRAD)</a:t>
            </a:r>
            <a:endParaRPr lang="en-US" sz="1250" dirty="0"/>
          </a:p>
        </p:txBody>
      </p:sp>
      <p:sp>
        <p:nvSpPr>
          <p:cNvPr id="10" name="Shape 6"/>
          <p:cNvSpPr/>
          <p:nvPr/>
        </p:nvSpPr>
        <p:spPr>
          <a:xfrm>
            <a:off x="502920" y="1645920"/>
            <a:ext cx="2148840" cy="457200"/>
          </a:xfrm>
          <a:prstGeom prst="roundRect">
            <a:avLst>
              <a:gd name="adj" fmla="val 14000"/>
            </a:avLst>
          </a:prstGeom>
          <a:solidFill>
            <a:srgbClr val="EFF5F0"/>
          </a:solidFill>
          <a:ln/>
        </p:spPr>
      </p:sp>
      <p:sp>
        <p:nvSpPr>
          <p:cNvPr id="11" name="Text 7"/>
          <p:cNvSpPr/>
          <p:nvPr/>
        </p:nvSpPr>
        <p:spPr>
          <a:xfrm>
            <a:off x="640080" y="1645920"/>
            <a:ext cx="1920240" cy="457200"/>
          </a:xfrm>
          <a:prstGeom prst="rect">
            <a:avLst/>
          </a:prstGeom>
          <a:noFill/>
          <a:ln/>
        </p:spPr>
        <p:txBody>
          <a:bodyPr wrap="square" lIns="0" tIns="0" rIns="0" bIns="0" rtlCol="0" anchor="ctr"/>
          <a:lstStyle/>
          <a:p>
            <a:pPr indent="0" marL="0">
              <a:buNone/>
            </a:pPr>
            <a:r>
              <a:rPr lang="en-US" sz="1250" b="1" dirty="0">
                <a:solidFill>
                  <a:srgbClr val="23312B"/>
                </a:solidFill>
                <a:latin typeface="Calibri" pitchFamily="34" charset="0"/>
                <a:ea typeface="Calibri" pitchFamily="34" charset="-122"/>
                <a:cs typeface="Calibri" pitchFamily="34" charset="-120"/>
              </a:rPr>
              <a:t>Introduction</a:t>
            </a:r>
            <a:endParaRPr lang="en-US" sz="1250" dirty="0"/>
          </a:p>
        </p:txBody>
      </p:sp>
      <p:sp>
        <p:nvSpPr>
          <p:cNvPr id="12" name="Shape 8"/>
          <p:cNvSpPr/>
          <p:nvPr/>
        </p:nvSpPr>
        <p:spPr>
          <a:xfrm>
            <a:off x="502920" y="2212848"/>
            <a:ext cx="2148840" cy="457200"/>
          </a:xfrm>
          <a:prstGeom prst="roundRect">
            <a:avLst>
              <a:gd name="adj" fmla="val 14000"/>
            </a:avLst>
          </a:prstGeom>
          <a:solidFill>
            <a:srgbClr val="EFF5F0"/>
          </a:solidFill>
          <a:ln/>
        </p:spPr>
      </p:sp>
      <p:sp>
        <p:nvSpPr>
          <p:cNvPr id="13" name="Text 9"/>
          <p:cNvSpPr/>
          <p:nvPr/>
        </p:nvSpPr>
        <p:spPr>
          <a:xfrm>
            <a:off x="640080" y="2212848"/>
            <a:ext cx="1920240" cy="457200"/>
          </a:xfrm>
          <a:prstGeom prst="rect">
            <a:avLst/>
          </a:prstGeom>
          <a:noFill/>
          <a:ln/>
        </p:spPr>
        <p:txBody>
          <a:bodyPr wrap="square" lIns="0" tIns="0" rIns="0" bIns="0" rtlCol="0" anchor="ctr"/>
          <a:lstStyle/>
          <a:p>
            <a:pPr indent="0" marL="0">
              <a:buNone/>
            </a:pPr>
            <a:r>
              <a:rPr lang="en-US" sz="1250" b="1" dirty="0">
                <a:solidFill>
                  <a:srgbClr val="23312B"/>
                </a:solidFill>
                <a:latin typeface="Calibri" pitchFamily="34" charset="0"/>
                <a:ea typeface="Calibri" pitchFamily="34" charset="-122"/>
                <a:cs typeface="Calibri" pitchFamily="34" charset="-120"/>
              </a:rPr>
              <a:t>Methods</a:t>
            </a:r>
            <a:endParaRPr lang="en-US" sz="1250" dirty="0"/>
          </a:p>
        </p:txBody>
      </p:sp>
      <p:sp>
        <p:nvSpPr>
          <p:cNvPr id="14" name="Shape 10"/>
          <p:cNvSpPr/>
          <p:nvPr/>
        </p:nvSpPr>
        <p:spPr>
          <a:xfrm>
            <a:off x="502920" y="2779776"/>
            <a:ext cx="2148840" cy="457200"/>
          </a:xfrm>
          <a:prstGeom prst="roundRect">
            <a:avLst>
              <a:gd name="adj" fmla="val 14000"/>
            </a:avLst>
          </a:prstGeom>
          <a:solidFill>
            <a:srgbClr val="EFF5F0"/>
          </a:solidFill>
          <a:ln/>
        </p:spPr>
      </p:sp>
      <p:sp>
        <p:nvSpPr>
          <p:cNvPr id="15" name="Text 11"/>
          <p:cNvSpPr/>
          <p:nvPr/>
        </p:nvSpPr>
        <p:spPr>
          <a:xfrm>
            <a:off x="640080" y="2779776"/>
            <a:ext cx="1920240" cy="457200"/>
          </a:xfrm>
          <a:prstGeom prst="rect">
            <a:avLst/>
          </a:prstGeom>
          <a:noFill/>
          <a:ln/>
        </p:spPr>
        <p:txBody>
          <a:bodyPr wrap="square" lIns="0" tIns="0" rIns="0" bIns="0" rtlCol="0" anchor="ctr"/>
          <a:lstStyle/>
          <a:p>
            <a:pPr indent="0" marL="0">
              <a:buNone/>
            </a:pPr>
            <a:r>
              <a:rPr lang="en-US" sz="1250" b="1" dirty="0">
                <a:solidFill>
                  <a:srgbClr val="23312B"/>
                </a:solidFill>
                <a:latin typeface="Calibri" pitchFamily="34" charset="0"/>
                <a:ea typeface="Calibri" pitchFamily="34" charset="-122"/>
                <a:cs typeface="Calibri" pitchFamily="34" charset="-120"/>
              </a:rPr>
              <a:t>Results</a:t>
            </a:r>
            <a:endParaRPr lang="en-US" sz="1250" dirty="0"/>
          </a:p>
        </p:txBody>
      </p:sp>
      <p:sp>
        <p:nvSpPr>
          <p:cNvPr id="16" name="Shape 12"/>
          <p:cNvSpPr/>
          <p:nvPr/>
        </p:nvSpPr>
        <p:spPr>
          <a:xfrm>
            <a:off x="502920" y="3346704"/>
            <a:ext cx="2148840" cy="457200"/>
          </a:xfrm>
          <a:prstGeom prst="roundRect">
            <a:avLst>
              <a:gd name="adj" fmla="val 14000"/>
            </a:avLst>
          </a:prstGeom>
          <a:solidFill>
            <a:srgbClr val="EFF5F0"/>
          </a:solidFill>
          <a:ln/>
        </p:spPr>
      </p:sp>
      <p:sp>
        <p:nvSpPr>
          <p:cNvPr id="17" name="Text 13"/>
          <p:cNvSpPr/>
          <p:nvPr/>
        </p:nvSpPr>
        <p:spPr>
          <a:xfrm>
            <a:off x="640080" y="3346704"/>
            <a:ext cx="1920240" cy="457200"/>
          </a:xfrm>
          <a:prstGeom prst="rect">
            <a:avLst/>
          </a:prstGeom>
          <a:noFill/>
          <a:ln/>
        </p:spPr>
        <p:txBody>
          <a:bodyPr wrap="square" lIns="0" tIns="0" rIns="0" bIns="0" rtlCol="0" anchor="ctr"/>
          <a:lstStyle/>
          <a:p>
            <a:pPr indent="0" marL="0">
              <a:buNone/>
            </a:pPr>
            <a:r>
              <a:rPr lang="en-US" sz="1250" i="1" dirty="0">
                <a:solidFill>
                  <a:srgbClr val="5E6E66"/>
                </a:solidFill>
                <a:latin typeface="Calibri" pitchFamily="34" charset="0"/>
                <a:ea typeface="Calibri" pitchFamily="34" charset="-122"/>
                <a:cs typeface="Calibri" pitchFamily="34" charset="-120"/>
              </a:rPr>
              <a:t>And</a:t>
            </a:r>
            <a:endParaRPr lang="en-US" sz="1250" dirty="0"/>
          </a:p>
        </p:txBody>
      </p:sp>
      <p:sp>
        <p:nvSpPr>
          <p:cNvPr id="18" name="Shape 14"/>
          <p:cNvSpPr/>
          <p:nvPr/>
        </p:nvSpPr>
        <p:spPr>
          <a:xfrm>
            <a:off x="502920" y="3913632"/>
            <a:ext cx="2148840" cy="457200"/>
          </a:xfrm>
          <a:prstGeom prst="roundRect">
            <a:avLst>
              <a:gd name="adj" fmla="val 14000"/>
            </a:avLst>
          </a:prstGeom>
          <a:solidFill>
            <a:srgbClr val="EFF5F0"/>
          </a:solidFill>
          <a:ln/>
        </p:spPr>
      </p:sp>
      <p:sp>
        <p:nvSpPr>
          <p:cNvPr id="19" name="Text 15"/>
          <p:cNvSpPr/>
          <p:nvPr/>
        </p:nvSpPr>
        <p:spPr>
          <a:xfrm>
            <a:off x="640080" y="3913632"/>
            <a:ext cx="1920240" cy="457200"/>
          </a:xfrm>
          <a:prstGeom prst="rect">
            <a:avLst/>
          </a:prstGeom>
          <a:noFill/>
          <a:ln/>
        </p:spPr>
        <p:txBody>
          <a:bodyPr wrap="square" lIns="0" tIns="0" rIns="0" bIns="0" rtlCol="0" anchor="ctr"/>
          <a:lstStyle/>
          <a:p>
            <a:pPr indent="0" marL="0">
              <a:buNone/>
            </a:pPr>
            <a:r>
              <a:rPr lang="en-US" sz="1250" b="1" dirty="0">
                <a:solidFill>
                  <a:srgbClr val="23312B"/>
                </a:solidFill>
                <a:latin typeface="Calibri" pitchFamily="34" charset="0"/>
                <a:ea typeface="Calibri" pitchFamily="34" charset="-122"/>
                <a:cs typeface="Calibri" pitchFamily="34" charset="-120"/>
              </a:rPr>
              <a:t>Discussion</a:t>
            </a:r>
            <a:endParaRPr lang="en-US" sz="1250" dirty="0"/>
          </a:p>
        </p:txBody>
      </p:sp>
      <p:pic>
        <p:nvPicPr>
          <p:cNvPr id="20" name="Image 2" descr="preencoded.png">    </p:cNvPr>
          <p:cNvPicPr>
            <a:picLocks noChangeAspect="1"/>
          </p:cNvPicPr>
          <p:nvPr/>
        </p:nvPicPr>
        <p:blipFill>
          <a:blip r:embed="rId3"/>
          <a:stretch>
            <a:fillRect/>
          </a:stretch>
        </p:blipFill>
        <p:spPr>
          <a:xfrm>
            <a:off x="2880360" y="2743200"/>
            <a:ext cx="411480" cy="411480"/>
          </a:xfrm>
          <a:prstGeom prst="rect">
            <a:avLst/>
          </a:prstGeom>
        </p:spPr>
      </p:pic>
      <p:sp>
        <p:nvSpPr>
          <p:cNvPr id="21" name="Text 16"/>
          <p:cNvSpPr/>
          <p:nvPr/>
        </p:nvSpPr>
        <p:spPr>
          <a:xfrm>
            <a:off x="3520440" y="1325880"/>
            <a:ext cx="5120640" cy="274320"/>
          </a:xfrm>
          <a:prstGeom prst="rect">
            <a:avLst/>
          </a:prstGeom>
          <a:noFill/>
          <a:ln/>
        </p:spPr>
        <p:txBody>
          <a:bodyPr wrap="square" lIns="0" tIns="0" rIns="0" bIns="0" rtlCol="0" anchor="ctr"/>
          <a:lstStyle/>
          <a:p>
            <a:pPr indent="0" marL="0">
              <a:buNone/>
            </a:pPr>
            <a:r>
              <a:rPr lang="en-US" sz="1250" b="1" dirty="0">
                <a:solidFill>
                  <a:srgbClr val="5E6E66"/>
                </a:solidFill>
                <a:latin typeface="Calibri" pitchFamily="34" charset="0"/>
                <a:ea typeface="Calibri" pitchFamily="34" charset="-122"/>
                <a:cs typeface="Calibri" pitchFamily="34" charset="-120"/>
              </a:rPr>
              <a:t>Modern ML style (NeurIPS / ICLR / CVPR)</a:t>
            </a:r>
            <a:endParaRPr lang="en-US" sz="1250" dirty="0"/>
          </a:p>
        </p:txBody>
      </p:sp>
      <p:sp>
        <p:nvSpPr>
          <p:cNvPr id="22" name="Shape 17"/>
          <p:cNvSpPr/>
          <p:nvPr/>
        </p:nvSpPr>
        <p:spPr>
          <a:xfrm>
            <a:off x="3520440" y="1645920"/>
            <a:ext cx="5120640" cy="402336"/>
          </a:xfrm>
          <a:prstGeom prst="roundRect">
            <a:avLst>
              <a:gd name="adj" fmla="val 13636"/>
            </a:avLst>
          </a:prstGeom>
          <a:solidFill>
            <a:srgbClr val="F7F4EC"/>
          </a:solidFill>
          <a:ln w="9525">
            <a:solidFill>
              <a:srgbClr val="9CBFA7"/>
            </a:solidFill>
            <a:prstDash val="solid"/>
          </a:ln>
        </p:spPr>
      </p:sp>
      <p:sp>
        <p:nvSpPr>
          <p:cNvPr id="23" name="Text 18"/>
          <p:cNvSpPr/>
          <p:nvPr/>
        </p:nvSpPr>
        <p:spPr>
          <a:xfrm>
            <a:off x="3657600" y="1645920"/>
            <a:ext cx="4892040" cy="402336"/>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Title + Abstract   </a:t>
            </a:r>
            <a:pPr indent="0" marL="0">
              <a:buNone/>
            </a:pPr>
            <a:r>
              <a:rPr lang="en-US" sz="1050" i="1" dirty="0">
                <a:solidFill>
                  <a:srgbClr val="5E6E66"/>
                </a:solidFill>
                <a:latin typeface="Calibri" pitchFamily="34" charset="0"/>
                <a:ea typeface="Calibri" pitchFamily="34" charset="-122"/>
                <a:cs typeface="Calibri" pitchFamily="34" charset="-120"/>
              </a:rPr>
              <a:t>the paper in 200 words — 80% of readers stop here</a:t>
            </a:r>
            <a:endParaRPr lang="en-US" sz="1150" dirty="0"/>
          </a:p>
        </p:txBody>
      </p:sp>
      <p:sp>
        <p:nvSpPr>
          <p:cNvPr id="24" name="Shape 19"/>
          <p:cNvSpPr/>
          <p:nvPr/>
        </p:nvSpPr>
        <p:spPr>
          <a:xfrm>
            <a:off x="3520440" y="2121408"/>
            <a:ext cx="5120640" cy="402336"/>
          </a:xfrm>
          <a:prstGeom prst="roundRect">
            <a:avLst>
              <a:gd name="adj" fmla="val 13636"/>
            </a:avLst>
          </a:prstGeom>
          <a:solidFill>
            <a:srgbClr val="FFFFFF"/>
          </a:solidFill>
          <a:ln w="9525">
            <a:solidFill>
              <a:srgbClr val="9CBFA7"/>
            </a:solidFill>
            <a:prstDash val="solid"/>
          </a:ln>
        </p:spPr>
      </p:sp>
      <p:sp>
        <p:nvSpPr>
          <p:cNvPr id="25" name="Text 20"/>
          <p:cNvSpPr/>
          <p:nvPr/>
        </p:nvSpPr>
        <p:spPr>
          <a:xfrm>
            <a:off x="3657600" y="2121408"/>
            <a:ext cx="4892040" cy="402336"/>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Introduction   </a:t>
            </a:r>
            <a:pPr indent="0" marL="0">
              <a:buNone/>
            </a:pPr>
            <a:r>
              <a:rPr lang="en-US" sz="1050" i="1" dirty="0">
                <a:solidFill>
                  <a:srgbClr val="5E6E66"/>
                </a:solidFill>
                <a:latin typeface="Calibri" pitchFamily="34" charset="0"/>
                <a:ea typeface="Calibri" pitchFamily="34" charset="-122"/>
                <a:cs typeface="Calibri" pitchFamily="34" charset="-120"/>
              </a:rPr>
              <a:t>problem, gap, contributions (often as a bullet list)</a:t>
            </a:r>
            <a:endParaRPr lang="en-US" sz="1150" dirty="0"/>
          </a:p>
        </p:txBody>
      </p:sp>
      <p:sp>
        <p:nvSpPr>
          <p:cNvPr id="26" name="Shape 21"/>
          <p:cNvSpPr/>
          <p:nvPr/>
        </p:nvSpPr>
        <p:spPr>
          <a:xfrm>
            <a:off x="3520440" y="2596896"/>
            <a:ext cx="5120640" cy="402336"/>
          </a:xfrm>
          <a:prstGeom prst="roundRect">
            <a:avLst>
              <a:gd name="adj" fmla="val 13636"/>
            </a:avLst>
          </a:prstGeom>
          <a:solidFill>
            <a:srgbClr val="FFFFFF"/>
          </a:solidFill>
          <a:ln w="9525">
            <a:solidFill>
              <a:srgbClr val="9CBFA7"/>
            </a:solidFill>
            <a:prstDash val="solid"/>
          </a:ln>
        </p:spPr>
      </p:sp>
      <p:sp>
        <p:nvSpPr>
          <p:cNvPr id="27" name="Text 22"/>
          <p:cNvSpPr/>
          <p:nvPr/>
        </p:nvSpPr>
        <p:spPr>
          <a:xfrm>
            <a:off x="3657600" y="2596896"/>
            <a:ext cx="4892040" cy="402336"/>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Related Work   </a:t>
            </a:r>
            <a:pPr indent="0" marL="0">
              <a:buNone/>
            </a:pPr>
            <a:r>
              <a:rPr lang="en-US" sz="1050" i="1" dirty="0">
                <a:solidFill>
                  <a:srgbClr val="5E6E66"/>
                </a:solidFill>
                <a:latin typeface="Calibri" pitchFamily="34" charset="0"/>
                <a:ea typeface="Calibri" pitchFamily="34" charset="-122"/>
                <a:cs typeface="Calibri" pitchFamily="34" charset="-120"/>
              </a:rPr>
              <a:t>position yourself in the conversation</a:t>
            </a:r>
            <a:endParaRPr lang="en-US" sz="1150" dirty="0"/>
          </a:p>
        </p:txBody>
      </p:sp>
      <p:sp>
        <p:nvSpPr>
          <p:cNvPr id="28" name="Shape 23"/>
          <p:cNvSpPr/>
          <p:nvPr/>
        </p:nvSpPr>
        <p:spPr>
          <a:xfrm>
            <a:off x="3520440" y="3072384"/>
            <a:ext cx="5120640" cy="402336"/>
          </a:xfrm>
          <a:prstGeom prst="roundRect">
            <a:avLst>
              <a:gd name="adj" fmla="val 13636"/>
            </a:avLst>
          </a:prstGeom>
          <a:solidFill>
            <a:srgbClr val="FFFFFF"/>
          </a:solidFill>
          <a:ln w="9525">
            <a:solidFill>
              <a:srgbClr val="9CBFA7"/>
            </a:solidFill>
            <a:prstDash val="solid"/>
          </a:ln>
        </p:spPr>
      </p:sp>
      <p:sp>
        <p:nvSpPr>
          <p:cNvPr id="29" name="Text 24"/>
          <p:cNvSpPr/>
          <p:nvPr/>
        </p:nvSpPr>
        <p:spPr>
          <a:xfrm>
            <a:off x="3657600" y="3072384"/>
            <a:ext cx="4892040" cy="402336"/>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Methodology   </a:t>
            </a:r>
            <a:pPr indent="0" marL="0">
              <a:buNone/>
            </a:pPr>
            <a:r>
              <a:rPr lang="en-US" sz="1050" i="1" dirty="0">
                <a:solidFill>
                  <a:srgbClr val="5E6E66"/>
                </a:solidFill>
                <a:latin typeface="Calibri" pitchFamily="34" charset="0"/>
                <a:ea typeface="Calibri" pitchFamily="34" charset="-122"/>
                <a:cs typeface="Calibri" pitchFamily="34" charset="-120"/>
              </a:rPr>
              <a:t>your model / approach, with clear notation</a:t>
            </a:r>
            <a:endParaRPr lang="en-US" sz="1150" dirty="0"/>
          </a:p>
        </p:txBody>
      </p:sp>
      <p:sp>
        <p:nvSpPr>
          <p:cNvPr id="30" name="Shape 25"/>
          <p:cNvSpPr/>
          <p:nvPr/>
        </p:nvSpPr>
        <p:spPr>
          <a:xfrm>
            <a:off x="3520440" y="3547872"/>
            <a:ext cx="5120640" cy="402336"/>
          </a:xfrm>
          <a:prstGeom prst="roundRect">
            <a:avLst>
              <a:gd name="adj" fmla="val 13636"/>
            </a:avLst>
          </a:prstGeom>
          <a:solidFill>
            <a:srgbClr val="FFFFFF"/>
          </a:solidFill>
          <a:ln w="9525">
            <a:solidFill>
              <a:srgbClr val="9CBFA7"/>
            </a:solidFill>
            <a:prstDash val="solid"/>
          </a:ln>
        </p:spPr>
      </p:sp>
      <p:sp>
        <p:nvSpPr>
          <p:cNvPr id="31" name="Text 26"/>
          <p:cNvSpPr/>
          <p:nvPr/>
        </p:nvSpPr>
        <p:spPr>
          <a:xfrm>
            <a:off x="3657600" y="3547872"/>
            <a:ext cx="4892040" cy="402336"/>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Experiments &amp; Results   </a:t>
            </a:r>
            <a:pPr indent="0" marL="0">
              <a:buNone/>
            </a:pPr>
            <a:r>
              <a:rPr lang="en-US" sz="1050" i="1" dirty="0">
                <a:solidFill>
                  <a:srgbClr val="5E6E66"/>
                </a:solidFill>
                <a:latin typeface="Calibri" pitchFamily="34" charset="0"/>
                <a:ea typeface="Calibri" pitchFamily="34" charset="-122"/>
                <a:cs typeface="Calibri" pitchFamily="34" charset="-120"/>
              </a:rPr>
              <a:t>datasets, baselines, metrics, ablations</a:t>
            </a:r>
            <a:endParaRPr lang="en-US" sz="1150" dirty="0"/>
          </a:p>
        </p:txBody>
      </p:sp>
      <p:sp>
        <p:nvSpPr>
          <p:cNvPr id="32" name="Shape 27"/>
          <p:cNvSpPr/>
          <p:nvPr/>
        </p:nvSpPr>
        <p:spPr>
          <a:xfrm>
            <a:off x="3520440" y="4023360"/>
            <a:ext cx="5120640" cy="402336"/>
          </a:xfrm>
          <a:prstGeom prst="roundRect">
            <a:avLst>
              <a:gd name="adj" fmla="val 13636"/>
            </a:avLst>
          </a:prstGeom>
          <a:solidFill>
            <a:srgbClr val="FFFFFF"/>
          </a:solidFill>
          <a:ln w="9525">
            <a:solidFill>
              <a:srgbClr val="9CBFA7"/>
            </a:solidFill>
            <a:prstDash val="solid"/>
          </a:ln>
        </p:spPr>
      </p:sp>
      <p:sp>
        <p:nvSpPr>
          <p:cNvPr id="33" name="Text 28"/>
          <p:cNvSpPr/>
          <p:nvPr/>
        </p:nvSpPr>
        <p:spPr>
          <a:xfrm>
            <a:off x="3657600" y="4023360"/>
            <a:ext cx="4892040" cy="402336"/>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Discussion · Limitations · Broader Impact   </a:t>
            </a:r>
            <a:pPr indent="0" marL="0">
              <a:buNone/>
            </a:pPr>
            <a:r>
              <a:rPr lang="en-US" sz="1050" i="1" dirty="0">
                <a:solidFill>
                  <a:srgbClr val="5E6E66"/>
                </a:solidFill>
                <a:latin typeface="Calibri" pitchFamily="34" charset="0"/>
                <a:ea typeface="Calibri" pitchFamily="34" charset="-122"/>
                <a:cs typeface="Calibri" pitchFamily="34" charset="-120"/>
              </a:rPr>
              <a:t>honesty builds trust</a:t>
            </a:r>
            <a:endParaRPr lang="en-US" sz="1150" dirty="0"/>
          </a:p>
        </p:txBody>
      </p:sp>
      <p:sp>
        <p:nvSpPr>
          <p:cNvPr id="34" name="Text 29"/>
          <p:cNvSpPr/>
          <p:nvPr/>
        </p:nvSpPr>
        <p:spPr>
          <a:xfrm>
            <a:off x="502920" y="4572000"/>
            <a:ext cx="8138160" cy="27432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Same skeleton, new muscles: ML papers add Related Work, ablations and Broader Impact.</a:t>
            </a:r>
            <a:endParaRPr lang="en-US" sz="1150" dirty="0"/>
          </a:p>
        </p:txBody>
      </p:sp>
      <p:sp>
        <p:nvSpPr>
          <p:cNvPr id="35" name="Text 30"/>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36" name="Text 31"/>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6</a:t>
            </a:r>
            <a:endParaRPr lang="en-US" sz="850" dirty="0"/>
          </a:p>
        </p:txBody>
      </p:sp>
      <p:pic>
        <p:nvPicPr>
          <p:cNvPr id="169"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70"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EFF5F0"/>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1 · THE ANATOMY OF AN AI PAPER</a:t>
            </a:r>
            <a:endParaRPr lang="en-US" sz="1100" dirty="0"/>
          </a:p>
        </p:txBody>
      </p:sp>
      <p:sp>
        <p:nvSpPr>
          <p:cNvPr id="5" name="Text 2"/>
          <p:cNvSpPr/>
          <p:nvPr/>
        </p:nvSpPr>
        <p:spPr>
          <a:xfrm>
            <a:off x="1051560" y="548640"/>
            <a:ext cx="7498080" cy="502920"/>
          </a:xfrm>
          <a:prstGeom prst="rect">
            <a:avLst/>
          </a:prstGeom>
          <a:noFill/>
          <a:ln/>
        </p:spPr>
        <p:txBody>
          <a:bodyPr wrap="square" lIns="0" tIns="0" rIns="0" bIns="0" rtlCol="0" anchor="ctr"/>
          <a:lstStyle/>
          <a:p>
            <a:pPr indent="0" marL="0">
              <a:buNone/>
            </a:pPr>
            <a:r>
              <a:rPr lang="en-US" sz="2300" b="1" dirty="0">
                <a:solidFill>
                  <a:srgbClr val="12362A"/>
                </a:solidFill>
                <a:latin typeface="Cambria" pitchFamily="34" charset="0"/>
                <a:ea typeface="Cambria" pitchFamily="34" charset="-122"/>
                <a:cs typeface="Cambria" pitchFamily="34" charset="-120"/>
              </a:rPr>
              <a:t>The hidden logic — every section answers one question</a:t>
            </a:r>
            <a:endParaRPr lang="en-US" sz="2300" dirty="0"/>
          </a:p>
        </p:txBody>
      </p:sp>
      <p:sp>
        <p:nvSpPr>
          <p:cNvPr id="6" name="Shape 3"/>
          <p:cNvSpPr/>
          <p:nvPr/>
        </p:nvSpPr>
        <p:spPr>
          <a:xfrm>
            <a:off x="502920" y="1371600"/>
            <a:ext cx="3931920" cy="914400"/>
          </a:xfrm>
          <a:prstGeom prst="roundRect">
            <a:avLst>
              <a:gd name="adj" fmla="val 8000"/>
            </a:avLst>
          </a:prstGeom>
          <a:solidFill>
            <a:srgbClr val="EFF5F0"/>
          </a:solidFill>
          <a:ln/>
          <a:effectLst>
            <a:outerShdw sx="100000" sy="100000" kx="0" ky="0" algn="bl" rotWithShape="0" blurRad="88900" dist="25400" dir="2700000">
              <a:srgbClr val="000000">
                <a:alpha val="14000"/>
              </a:srgbClr>
            </a:outerShdw>
          </a:effectLst>
        </p:spPr>
      </p:sp>
      <p:sp>
        <p:nvSpPr>
          <p:cNvPr id="7" name="Text 4"/>
          <p:cNvSpPr/>
          <p:nvPr/>
        </p:nvSpPr>
        <p:spPr>
          <a:xfrm>
            <a:off x="685800" y="1481328"/>
            <a:ext cx="356616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Abstract</a:t>
            </a:r>
            <a:endParaRPr lang="en-US" sz="1300" dirty="0"/>
          </a:p>
        </p:txBody>
      </p:sp>
      <p:sp>
        <p:nvSpPr>
          <p:cNvPr id="8" name="Text 5"/>
          <p:cNvSpPr/>
          <p:nvPr/>
        </p:nvSpPr>
        <p:spPr>
          <a:xfrm>
            <a:off x="685800" y="1773936"/>
            <a:ext cx="3611880" cy="457200"/>
          </a:xfrm>
          <a:prstGeom prst="rect">
            <a:avLst/>
          </a:prstGeom>
          <a:noFill/>
          <a:ln/>
        </p:spPr>
        <p:txBody>
          <a:bodyPr wrap="square" lIns="0" tIns="0" rIns="0" bIns="0" rtlCol="0" anchor="ctr"/>
          <a:lstStyle/>
          <a:p>
            <a:pPr indent="0" marL="0">
              <a:buNone/>
            </a:pPr>
            <a:r>
              <a:rPr lang="en-US" sz="1200" i="1" dirty="0">
                <a:solidFill>
                  <a:srgbClr val="23312B"/>
                </a:solidFill>
                <a:latin typeface="Calibri" pitchFamily="34" charset="0"/>
                <a:ea typeface="Calibri" pitchFamily="34" charset="-122"/>
                <a:cs typeface="Calibri" pitchFamily="34" charset="-120"/>
              </a:rPr>
              <a:t>“Why should I spend 10 minutes on this paper?”</a:t>
            </a:r>
            <a:endParaRPr lang="en-US" sz="1200" dirty="0"/>
          </a:p>
        </p:txBody>
      </p:sp>
      <p:sp>
        <p:nvSpPr>
          <p:cNvPr id="9" name="Shape 6"/>
          <p:cNvSpPr/>
          <p:nvPr/>
        </p:nvSpPr>
        <p:spPr>
          <a:xfrm>
            <a:off x="4709160" y="1371600"/>
            <a:ext cx="3931920" cy="914400"/>
          </a:xfrm>
          <a:prstGeom prst="roundRect">
            <a:avLst>
              <a:gd name="adj" fmla="val 8000"/>
            </a:avLst>
          </a:prstGeom>
          <a:solidFill>
            <a:srgbClr val="EFF5F0"/>
          </a:solidFill>
          <a:ln/>
          <a:effectLst>
            <a:outerShdw sx="100000" sy="100000" kx="0" ky="0" algn="bl" rotWithShape="0" blurRad="88900" dist="25400" dir="2700000">
              <a:srgbClr val="000000">
                <a:alpha val="14000"/>
              </a:srgbClr>
            </a:outerShdw>
          </a:effectLst>
        </p:spPr>
      </p:sp>
      <p:sp>
        <p:nvSpPr>
          <p:cNvPr id="10" name="Text 7"/>
          <p:cNvSpPr/>
          <p:nvPr/>
        </p:nvSpPr>
        <p:spPr>
          <a:xfrm>
            <a:off x="4892040" y="1481328"/>
            <a:ext cx="356616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Introduction</a:t>
            </a:r>
            <a:endParaRPr lang="en-US" sz="1300" dirty="0"/>
          </a:p>
        </p:txBody>
      </p:sp>
      <p:sp>
        <p:nvSpPr>
          <p:cNvPr id="11" name="Text 8"/>
          <p:cNvSpPr/>
          <p:nvPr/>
        </p:nvSpPr>
        <p:spPr>
          <a:xfrm>
            <a:off x="4892040" y="1773936"/>
            <a:ext cx="3611880" cy="457200"/>
          </a:xfrm>
          <a:prstGeom prst="rect">
            <a:avLst/>
          </a:prstGeom>
          <a:noFill/>
          <a:ln/>
        </p:spPr>
        <p:txBody>
          <a:bodyPr wrap="square" lIns="0" tIns="0" rIns="0" bIns="0" rtlCol="0" anchor="ctr"/>
          <a:lstStyle/>
          <a:p>
            <a:pPr indent="0" marL="0">
              <a:buNone/>
            </a:pPr>
            <a:r>
              <a:rPr lang="en-US" sz="1200" i="1" dirty="0">
                <a:solidFill>
                  <a:srgbClr val="23312B"/>
                </a:solidFill>
                <a:latin typeface="Calibri" pitchFamily="34" charset="0"/>
                <a:ea typeface="Calibri" pitchFamily="34" charset="-122"/>
                <a:cs typeface="Calibri" pitchFamily="34" charset="-120"/>
              </a:rPr>
              <a:t>“What problem, what gap, what is new here?”</a:t>
            </a:r>
            <a:endParaRPr lang="en-US" sz="1200" dirty="0"/>
          </a:p>
        </p:txBody>
      </p:sp>
      <p:sp>
        <p:nvSpPr>
          <p:cNvPr id="12" name="Shape 9"/>
          <p:cNvSpPr/>
          <p:nvPr/>
        </p:nvSpPr>
        <p:spPr>
          <a:xfrm>
            <a:off x="502920" y="2423160"/>
            <a:ext cx="3931920" cy="914400"/>
          </a:xfrm>
          <a:prstGeom prst="roundRect">
            <a:avLst>
              <a:gd name="adj" fmla="val 8000"/>
            </a:avLst>
          </a:prstGeom>
          <a:solidFill>
            <a:srgbClr val="EFF5F0"/>
          </a:solidFill>
          <a:ln/>
          <a:effectLst>
            <a:outerShdw sx="100000" sy="100000" kx="0" ky="0" algn="bl" rotWithShape="0" blurRad="88900" dist="25400" dir="2700000">
              <a:srgbClr val="000000">
                <a:alpha val="14000"/>
              </a:srgbClr>
            </a:outerShdw>
          </a:effectLst>
        </p:spPr>
      </p:sp>
      <p:sp>
        <p:nvSpPr>
          <p:cNvPr id="13" name="Text 10"/>
          <p:cNvSpPr/>
          <p:nvPr/>
        </p:nvSpPr>
        <p:spPr>
          <a:xfrm>
            <a:off x="685800" y="2532888"/>
            <a:ext cx="356616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Related Work</a:t>
            </a:r>
            <a:endParaRPr lang="en-US" sz="1300" dirty="0"/>
          </a:p>
        </p:txBody>
      </p:sp>
      <p:sp>
        <p:nvSpPr>
          <p:cNvPr id="14" name="Text 11"/>
          <p:cNvSpPr/>
          <p:nvPr/>
        </p:nvSpPr>
        <p:spPr>
          <a:xfrm>
            <a:off x="685800" y="2825496"/>
            <a:ext cx="3611880" cy="457200"/>
          </a:xfrm>
          <a:prstGeom prst="rect">
            <a:avLst/>
          </a:prstGeom>
          <a:noFill/>
          <a:ln/>
        </p:spPr>
        <p:txBody>
          <a:bodyPr wrap="square" lIns="0" tIns="0" rIns="0" bIns="0" rtlCol="0" anchor="ctr"/>
          <a:lstStyle/>
          <a:p>
            <a:pPr indent="0" marL="0">
              <a:buNone/>
            </a:pPr>
            <a:r>
              <a:rPr lang="en-US" sz="1200" i="1" dirty="0">
                <a:solidFill>
                  <a:srgbClr val="23312B"/>
                </a:solidFill>
                <a:latin typeface="Calibri" pitchFamily="34" charset="0"/>
                <a:ea typeface="Calibri" pitchFamily="34" charset="-122"/>
                <a:cs typeface="Calibri" pitchFamily="34" charset="-120"/>
              </a:rPr>
              <a:t>“How is this different from what already exists?”</a:t>
            </a:r>
            <a:endParaRPr lang="en-US" sz="1200" dirty="0"/>
          </a:p>
        </p:txBody>
      </p:sp>
      <p:sp>
        <p:nvSpPr>
          <p:cNvPr id="15" name="Shape 12"/>
          <p:cNvSpPr/>
          <p:nvPr/>
        </p:nvSpPr>
        <p:spPr>
          <a:xfrm>
            <a:off x="4709160" y="2423160"/>
            <a:ext cx="3931920" cy="914400"/>
          </a:xfrm>
          <a:prstGeom prst="roundRect">
            <a:avLst>
              <a:gd name="adj" fmla="val 8000"/>
            </a:avLst>
          </a:prstGeom>
          <a:solidFill>
            <a:srgbClr val="EFF5F0"/>
          </a:solidFill>
          <a:ln/>
          <a:effectLst>
            <a:outerShdw sx="100000" sy="100000" kx="0" ky="0" algn="bl" rotWithShape="0" blurRad="88900" dist="25400" dir="2700000">
              <a:srgbClr val="000000">
                <a:alpha val="14000"/>
              </a:srgbClr>
            </a:outerShdw>
          </a:effectLst>
        </p:spPr>
      </p:sp>
      <p:sp>
        <p:nvSpPr>
          <p:cNvPr id="16" name="Text 13"/>
          <p:cNvSpPr/>
          <p:nvPr/>
        </p:nvSpPr>
        <p:spPr>
          <a:xfrm>
            <a:off x="4892040" y="2532888"/>
            <a:ext cx="356616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Methodology</a:t>
            </a:r>
            <a:endParaRPr lang="en-US" sz="1300" dirty="0"/>
          </a:p>
        </p:txBody>
      </p:sp>
      <p:sp>
        <p:nvSpPr>
          <p:cNvPr id="17" name="Text 14"/>
          <p:cNvSpPr/>
          <p:nvPr/>
        </p:nvSpPr>
        <p:spPr>
          <a:xfrm>
            <a:off x="4892040" y="2825496"/>
            <a:ext cx="3611880" cy="457200"/>
          </a:xfrm>
          <a:prstGeom prst="rect">
            <a:avLst/>
          </a:prstGeom>
          <a:noFill/>
          <a:ln/>
        </p:spPr>
        <p:txBody>
          <a:bodyPr wrap="square" lIns="0" tIns="0" rIns="0" bIns="0" rtlCol="0" anchor="ctr"/>
          <a:lstStyle/>
          <a:p>
            <a:pPr indent="0" marL="0">
              <a:buNone/>
            </a:pPr>
            <a:r>
              <a:rPr lang="en-US" sz="1200" i="1" dirty="0">
                <a:solidFill>
                  <a:srgbClr val="23312B"/>
                </a:solidFill>
                <a:latin typeface="Calibri" pitchFamily="34" charset="0"/>
                <a:ea typeface="Calibri" pitchFamily="34" charset="-122"/>
                <a:cs typeface="Calibri" pitchFamily="34" charset="-120"/>
              </a:rPr>
              <a:t>“Could I re-implement this myself?”</a:t>
            </a:r>
            <a:endParaRPr lang="en-US" sz="1200" dirty="0"/>
          </a:p>
        </p:txBody>
      </p:sp>
      <p:sp>
        <p:nvSpPr>
          <p:cNvPr id="18" name="Shape 15"/>
          <p:cNvSpPr/>
          <p:nvPr/>
        </p:nvSpPr>
        <p:spPr>
          <a:xfrm>
            <a:off x="502920" y="3474720"/>
            <a:ext cx="3931920" cy="914400"/>
          </a:xfrm>
          <a:prstGeom prst="roundRect">
            <a:avLst>
              <a:gd name="adj" fmla="val 8000"/>
            </a:avLst>
          </a:prstGeom>
          <a:solidFill>
            <a:srgbClr val="EFF5F0"/>
          </a:solidFill>
          <a:ln/>
          <a:effectLst>
            <a:outerShdw sx="100000" sy="100000" kx="0" ky="0" algn="bl" rotWithShape="0" blurRad="88900" dist="25400" dir="2700000">
              <a:srgbClr val="000000">
                <a:alpha val="14000"/>
              </a:srgbClr>
            </a:outerShdw>
          </a:effectLst>
        </p:spPr>
      </p:sp>
      <p:sp>
        <p:nvSpPr>
          <p:cNvPr id="19" name="Text 16"/>
          <p:cNvSpPr/>
          <p:nvPr/>
        </p:nvSpPr>
        <p:spPr>
          <a:xfrm>
            <a:off x="685800" y="3584448"/>
            <a:ext cx="356616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Results</a:t>
            </a:r>
            <a:endParaRPr lang="en-US" sz="1300" dirty="0"/>
          </a:p>
        </p:txBody>
      </p:sp>
      <p:sp>
        <p:nvSpPr>
          <p:cNvPr id="20" name="Text 17"/>
          <p:cNvSpPr/>
          <p:nvPr/>
        </p:nvSpPr>
        <p:spPr>
          <a:xfrm>
            <a:off x="685800" y="3877056"/>
            <a:ext cx="3611880" cy="457200"/>
          </a:xfrm>
          <a:prstGeom prst="rect">
            <a:avLst/>
          </a:prstGeom>
          <a:noFill/>
          <a:ln/>
        </p:spPr>
        <p:txBody>
          <a:bodyPr wrap="square" lIns="0" tIns="0" rIns="0" bIns="0" rtlCol="0" anchor="ctr"/>
          <a:lstStyle/>
          <a:p>
            <a:pPr indent="0" marL="0">
              <a:buNone/>
            </a:pPr>
            <a:r>
              <a:rPr lang="en-US" sz="1200" i="1" dirty="0">
                <a:solidFill>
                  <a:srgbClr val="23312B"/>
                </a:solidFill>
                <a:latin typeface="Calibri" pitchFamily="34" charset="0"/>
                <a:ea typeface="Calibri" pitchFamily="34" charset="-122"/>
                <a:cs typeface="Calibri" pitchFamily="34" charset="-120"/>
              </a:rPr>
              <a:t>“What is the evidence — and is it fair?”</a:t>
            </a:r>
            <a:endParaRPr lang="en-US" sz="1200" dirty="0"/>
          </a:p>
        </p:txBody>
      </p:sp>
      <p:sp>
        <p:nvSpPr>
          <p:cNvPr id="21" name="Shape 18"/>
          <p:cNvSpPr/>
          <p:nvPr/>
        </p:nvSpPr>
        <p:spPr>
          <a:xfrm>
            <a:off x="4709160" y="3474720"/>
            <a:ext cx="3931920" cy="914400"/>
          </a:xfrm>
          <a:prstGeom prst="roundRect">
            <a:avLst>
              <a:gd name="adj" fmla="val 8000"/>
            </a:avLst>
          </a:prstGeom>
          <a:solidFill>
            <a:srgbClr val="EFF5F0"/>
          </a:solidFill>
          <a:ln/>
          <a:effectLst>
            <a:outerShdw sx="100000" sy="100000" kx="0" ky="0" algn="bl" rotWithShape="0" blurRad="88900" dist="25400" dir="2700000">
              <a:srgbClr val="000000">
                <a:alpha val="14000"/>
              </a:srgbClr>
            </a:outerShdw>
          </a:effectLst>
        </p:spPr>
      </p:sp>
      <p:sp>
        <p:nvSpPr>
          <p:cNvPr id="22" name="Text 19"/>
          <p:cNvSpPr/>
          <p:nvPr/>
        </p:nvSpPr>
        <p:spPr>
          <a:xfrm>
            <a:off x="4892040" y="3584448"/>
            <a:ext cx="356616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Limitations</a:t>
            </a:r>
            <a:endParaRPr lang="en-US" sz="1300" dirty="0"/>
          </a:p>
        </p:txBody>
      </p:sp>
      <p:sp>
        <p:nvSpPr>
          <p:cNvPr id="23" name="Text 20"/>
          <p:cNvSpPr/>
          <p:nvPr/>
        </p:nvSpPr>
        <p:spPr>
          <a:xfrm>
            <a:off x="4892040" y="3877056"/>
            <a:ext cx="3611880" cy="457200"/>
          </a:xfrm>
          <a:prstGeom prst="rect">
            <a:avLst/>
          </a:prstGeom>
          <a:noFill/>
          <a:ln/>
        </p:spPr>
        <p:txBody>
          <a:bodyPr wrap="square" lIns="0" tIns="0" rIns="0" bIns="0" rtlCol="0" anchor="ctr"/>
          <a:lstStyle/>
          <a:p>
            <a:pPr indent="0" marL="0">
              <a:buNone/>
            </a:pPr>
            <a:r>
              <a:rPr lang="en-US" sz="1200" i="1" dirty="0">
                <a:solidFill>
                  <a:srgbClr val="23312B"/>
                </a:solidFill>
                <a:latin typeface="Calibri" pitchFamily="34" charset="0"/>
                <a:ea typeface="Calibri" pitchFamily="34" charset="-122"/>
                <a:cs typeface="Calibri" pitchFamily="34" charset="-120"/>
              </a:rPr>
              <a:t>“Where does this honestly stop working?”</a:t>
            </a:r>
            <a:endParaRPr lang="en-US" sz="1200" dirty="0"/>
          </a:p>
        </p:txBody>
      </p:sp>
      <p:sp>
        <p:nvSpPr>
          <p:cNvPr id="24" name="Text 21"/>
          <p:cNvSpPr/>
          <p:nvPr/>
        </p:nvSpPr>
        <p:spPr>
          <a:xfrm>
            <a:off x="502920" y="4572000"/>
            <a:ext cx="8138160" cy="32004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Reading tip: before reading a section, say its question out loud. Writing tip: if your section does not answer its question, rewrite it.</a:t>
            </a:r>
            <a:endParaRPr lang="en-US" sz="1150" dirty="0"/>
          </a:p>
        </p:txBody>
      </p:sp>
      <p:sp>
        <p:nvSpPr>
          <p:cNvPr id="25" name="Text 22"/>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6" name="Text 23"/>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7</a:t>
            </a:r>
            <a:endParaRPr lang="en-US" sz="850" dirty="0"/>
          </a:p>
        </p:txBody>
      </p:sp>
      <p:pic>
        <p:nvPicPr>
          <p:cNvPr id="171"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7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1 · THE ANATOMY OF AN AI PAPER</a:t>
            </a:r>
            <a:endParaRPr lang="en-US" sz="1100" dirty="0"/>
          </a:p>
        </p:txBody>
      </p:sp>
      <p:sp>
        <p:nvSpPr>
          <p:cNvPr id="5" name="Text 2"/>
          <p:cNvSpPr/>
          <p:nvPr/>
        </p:nvSpPr>
        <p:spPr>
          <a:xfrm>
            <a:off x="1051560" y="548640"/>
            <a:ext cx="6858000" cy="502920"/>
          </a:xfrm>
          <a:prstGeom prst="rect">
            <a:avLst/>
          </a:prstGeom>
          <a:noFill/>
          <a:ln/>
        </p:spPr>
        <p:txBody>
          <a:bodyPr wrap="square" lIns="0" tIns="0" rIns="0" bIns="0" rtlCol="0" anchor="ctr"/>
          <a:lstStyle/>
          <a:p>
            <a:pPr indent="0" marL="0">
              <a:buNone/>
            </a:pPr>
            <a:r>
              <a:rPr lang="en-US" sz="2500" b="1" dirty="0">
                <a:solidFill>
                  <a:srgbClr val="12362A"/>
                </a:solidFill>
                <a:latin typeface="Cambria" pitchFamily="34" charset="0"/>
                <a:ea typeface="Cambria" pitchFamily="34" charset="-122"/>
                <a:cs typeface="Cambria" pitchFamily="34" charset="-120"/>
              </a:rPr>
              <a:t>Visual map — page 1 of a NeurIPS paper</a:t>
            </a:r>
            <a:endParaRPr lang="en-US" sz="2500" dirty="0"/>
          </a:p>
        </p:txBody>
      </p:sp>
      <p:pic>
        <p:nvPicPr>
          <p:cNvPr id="6" name="Image 1" descr="assets/paper_page.png">    </p:cNvPr>
          <p:cNvPicPr>
            <a:picLocks noChangeAspect="1"/>
          </p:cNvPicPr>
          <p:nvPr/>
        </p:nvPicPr>
        <p:blipFill>
          <a:blip r:embed="rId2"/>
          <a:stretch>
            <a:fillRect/>
          </a:stretch>
        </p:blipFill>
        <p:spPr>
          <a:xfrm>
            <a:off x="548640" y="1298448"/>
            <a:ext cx="2788920" cy="3611880"/>
          </a:xfrm>
          <a:prstGeom prst="rect">
            <a:avLst/>
          </a:prstGeom>
          <a:effectLst>
            <a:outerShdw sx="100000" sy="100000" kx="0" ky="0" algn="bl" rotWithShape="0" blurRad="88900" dist="25400" dir="2700000">
              <a:srgbClr val="000000">
                <a:alpha val="14000"/>
              </a:srgbClr>
            </a:outerShdw>
          </a:effectLst>
        </p:spPr>
      </p:pic>
      <p:sp>
        <p:nvSpPr>
          <p:cNvPr id="7" name="Shape 3"/>
          <p:cNvSpPr/>
          <p:nvPr/>
        </p:nvSpPr>
        <p:spPr>
          <a:xfrm>
            <a:off x="1874520" y="1417320"/>
            <a:ext cx="292608" cy="292608"/>
          </a:xfrm>
          <a:prstGeom prst="ellipse">
            <a:avLst/>
          </a:prstGeom>
          <a:solidFill>
            <a:srgbClr val="C9922F"/>
          </a:solidFill>
          <a:ln w="19050">
            <a:solidFill>
              <a:srgbClr val="FFFFFF"/>
            </a:solidFill>
            <a:prstDash val="solid"/>
          </a:ln>
        </p:spPr>
      </p:sp>
      <p:sp>
        <p:nvSpPr>
          <p:cNvPr id="8" name="Text 4"/>
          <p:cNvSpPr/>
          <p:nvPr/>
        </p:nvSpPr>
        <p:spPr>
          <a:xfrm>
            <a:off x="1874520" y="14173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9" name="Shape 5"/>
          <p:cNvSpPr/>
          <p:nvPr/>
        </p:nvSpPr>
        <p:spPr>
          <a:xfrm>
            <a:off x="1874520" y="1847088"/>
            <a:ext cx="292608" cy="292608"/>
          </a:xfrm>
          <a:prstGeom prst="ellipse">
            <a:avLst/>
          </a:prstGeom>
          <a:solidFill>
            <a:srgbClr val="C9922F"/>
          </a:solidFill>
          <a:ln w="19050">
            <a:solidFill>
              <a:srgbClr val="FFFFFF"/>
            </a:solidFill>
            <a:prstDash val="solid"/>
          </a:ln>
        </p:spPr>
      </p:sp>
      <p:sp>
        <p:nvSpPr>
          <p:cNvPr id="10" name="Text 6"/>
          <p:cNvSpPr/>
          <p:nvPr/>
        </p:nvSpPr>
        <p:spPr>
          <a:xfrm>
            <a:off x="1874520" y="18470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1" name="Shape 7"/>
          <p:cNvSpPr/>
          <p:nvPr/>
        </p:nvSpPr>
        <p:spPr>
          <a:xfrm>
            <a:off x="1874520" y="2212848"/>
            <a:ext cx="292608" cy="292608"/>
          </a:xfrm>
          <a:prstGeom prst="ellipse">
            <a:avLst/>
          </a:prstGeom>
          <a:solidFill>
            <a:srgbClr val="C9922F"/>
          </a:solidFill>
          <a:ln w="19050">
            <a:solidFill>
              <a:srgbClr val="FFFFFF"/>
            </a:solidFill>
            <a:prstDash val="solid"/>
          </a:ln>
        </p:spPr>
      </p:sp>
      <p:sp>
        <p:nvSpPr>
          <p:cNvPr id="12" name="Text 8"/>
          <p:cNvSpPr/>
          <p:nvPr/>
        </p:nvSpPr>
        <p:spPr>
          <a:xfrm>
            <a:off x="1874520" y="22128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3" name="Shape 9"/>
          <p:cNvSpPr/>
          <p:nvPr/>
        </p:nvSpPr>
        <p:spPr>
          <a:xfrm>
            <a:off x="3063240" y="3310128"/>
            <a:ext cx="292608" cy="292608"/>
          </a:xfrm>
          <a:prstGeom prst="ellipse">
            <a:avLst/>
          </a:prstGeom>
          <a:solidFill>
            <a:srgbClr val="C9922F"/>
          </a:solidFill>
          <a:ln w="19050">
            <a:solidFill>
              <a:srgbClr val="FFFFFF"/>
            </a:solidFill>
            <a:prstDash val="solid"/>
          </a:ln>
        </p:spPr>
      </p:sp>
      <p:sp>
        <p:nvSpPr>
          <p:cNvPr id="14" name="Text 10"/>
          <p:cNvSpPr/>
          <p:nvPr/>
        </p:nvSpPr>
        <p:spPr>
          <a:xfrm>
            <a:off x="3063240" y="33101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5" name="Shape 11"/>
          <p:cNvSpPr/>
          <p:nvPr/>
        </p:nvSpPr>
        <p:spPr>
          <a:xfrm>
            <a:off x="658368" y="3493008"/>
            <a:ext cx="292608" cy="292608"/>
          </a:xfrm>
          <a:prstGeom prst="ellipse">
            <a:avLst/>
          </a:prstGeom>
          <a:solidFill>
            <a:srgbClr val="C9922F"/>
          </a:solidFill>
          <a:ln w="19050">
            <a:solidFill>
              <a:srgbClr val="FFFFFF"/>
            </a:solidFill>
            <a:prstDash val="solid"/>
          </a:ln>
        </p:spPr>
      </p:sp>
      <p:sp>
        <p:nvSpPr>
          <p:cNvPr id="16" name="Text 12"/>
          <p:cNvSpPr/>
          <p:nvPr/>
        </p:nvSpPr>
        <p:spPr>
          <a:xfrm>
            <a:off x="658368" y="34930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17" name="Shape 13"/>
          <p:cNvSpPr/>
          <p:nvPr/>
        </p:nvSpPr>
        <p:spPr>
          <a:xfrm>
            <a:off x="4343400" y="1417320"/>
            <a:ext cx="365760" cy="365760"/>
          </a:xfrm>
          <a:prstGeom prst="ellipse">
            <a:avLst/>
          </a:prstGeom>
          <a:solidFill>
            <a:srgbClr val="1E5A3F"/>
          </a:solidFill>
          <a:ln/>
        </p:spPr>
      </p:sp>
      <p:sp>
        <p:nvSpPr>
          <p:cNvPr id="18" name="Text 14"/>
          <p:cNvSpPr/>
          <p:nvPr/>
        </p:nvSpPr>
        <p:spPr>
          <a:xfrm>
            <a:off x="434340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5"/>
          <p:cNvSpPr/>
          <p:nvPr/>
        </p:nvSpPr>
        <p:spPr>
          <a:xfrm>
            <a:off x="4846320" y="1399032"/>
            <a:ext cx="3794760" cy="45720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Title — a promise in ≤ 15 words</a:t>
            </a:r>
            <a:endParaRPr lang="en-US" sz="1250" dirty="0"/>
          </a:p>
        </p:txBody>
      </p:sp>
      <p:sp>
        <p:nvSpPr>
          <p:cNvPr id="20" name="Shape 16"/>
          <p:cNvSpPr/>
          <p:nvPr/>
        </p:nvSpPr>
        <p:spPr>
          <a:xfrm>
            <a:off x="4343400" y="1965960"/>
            <a:ext cx="365760" cy="365760"/>
          </a:xfrm>
          <a:prstGeom prst="ellipse">
            <a:avLst/>
          </a:prstGeom>
          <a:solidFill>
            <a:srgbClr val="1E5A3F"/>
          </a:solidFill>
          <a:ln/>
        </p:spPr>
      </p:sp>
      <p:sp>
        <p:nvSpPr>
          <p:cNvPr id="21" name="Text 17"/>
          <p:cNvSpPr/>
          <p:nvPr/>
        </p:nvSpPr>
        <p:spPr>
          <a:xfrm>
            <a:off x="4343400" y="1965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2" name="Text 18"/>
          <p:cNvSpPr/>
          <p:nvPr/>
        </p:nvSpPr>
        <p:spPr>
          <a:xfrm>
            <a:off x="4846320" y="1947672"/>
            <a:ext cx="3794760" cy="45720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Authors &amp; affiliations — your African lab on the map</a:t>
            </a:r>
            <a:endParaRPr lang="en-US" sz="1250" dirty="0"/>
          </a:p>
        </p:txBody>
      </p:sp>
      <p:sp>
        <p:nvSpPr>
          <p:cNvPr id="23" name="Shape 19"/>
          <p:cNvSpPr/>
          <p:nvPr/>
        </p:nvSpPr>
        <p:spPr>
          <a:xfrm>
            <a:off x="4343400" y="2514600"/>
            <a:ext cx="365760" cy="365760"/>
          </a:xfrm>
          <a:prstGeom prst="ellipse">
            <a:avLst/>
          </a:prstGeom>
          <a:solidFill>
            <a:srgbClr val="1E5A3F"/>
          </a:solidFill>
          <a:ln/>
        </p:spPr>
      </p:sp>
      <p:sp>
        <p:nvSpPr>
          <p:cNvPr id="24" name="Text 20"/>
          <p:cNvSpPr/>
          <p:nvPr/>
        </p:nvSpPr>
        <p:spPr>
          <a:xfrm>
            <a:off x="4343400" y="25146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5" name="Text 21"/>
          <p:cNvSpPr/>
          <p:nvPr/>
        </p:nvSpPr>
        <p:spPr>
          <a:xfrm>
            <a:off x="4846320" y="2496312"/>
            <a:ext cx="3794760" cy="45720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Abstract — the paper in miniature (our exercise later!)</a:t>
            </a:r>
            <a:endParaRPr lang="en-US" sz="1250" dirty="0"/>
          </a:p>
        </p:txBody>
      </p:sp>
      <p:sp>
        <p:nvSpPr>
          <p:cNvPr id="26" name="Shape 22"/>
          <p:cNvSpPr/>
          <p:nvPr/>
        </p:nvSpPr>
        <p:spPr>
          <a:xfrm>
            <a:off x="4343400" y="3063240"/>
            <a:ext cx="365760" cy="365760"/>
          </a:xfrm>
          <a:prstGeom prst="ellipse">
            <a:avLst/>
          </a:prstGeom>
          <a:solidFill>
            <a:srgbClr val="1E5A3F"/>
          </a:solidFill>
          <a:ln/>
        </p:spPr>
      </p:sp>
      <p:sp>
        <p:nvSpPr>
          <p:cNvPr id="27" name="Text 23"/>
          <p:cNvSpPr/>
          <p:nvPr/>
        </p:nvSpPr>
        <p:spPr>
          <a:xfrm>
            <a:off x="4343400" y="3063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8" name="Text 24"/>
          <p:cNvSpPr/>
          <p:nvPr/>
        </p:nvSpPr>
        <p:spPr>
          <a:xfrm>
            <a:off x="4846320" y="3044952"/>
            <a:ext cx="3794760" cy="45720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Figure 1 — often summarizes the whole idea; readers jump here</a:t>
            </a:r>
            <a:endParaRPr lang="en-US" sz="1250" dirty="0"/>
          </a:p>
        </p:txBody>
      </p:sp>
      <p:sp>
        <p:nvSpPr>
          <p:cNvPr id="29" name="Shape 25"/>
          <p:cNvSpPr/>
          <p:nvPr/>
        </p:nvSpPr>
        <p:spPr>
          <a:xfrm>
            <a:off x="4343400" y="3611880"/>
            <a:ext cx="365760" cy="365760"/>
          </a:xfrm>
          <a:prstGeom prst="ellipse">
            <a:avLst/>
          </a:prstGeom>
          <a:solidFill>
            <a:srgbClr val="1E5A3F"/>
          </a:solidFill>
          <a:ln/>
        </p:spPr>
      </p:sp>
      <p:sp>
        <p:nvSpPr>
          <p:cNvPr id="30" name="Text 26"/>
          <p:cNvSpPr/>
          <p:nvPr/>
        </p:nvSpPr>
        <p:spPr>
          <a:xfrm>
            <a:off x="4343400" y="3611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1" name="Text 27"/>
          <p:cNvSpPr/>
          <p:nvPr/>
        </p:nvSpPr>
        <p:spPr>
          <a:xfrm>
            <a:off x="4846320" y="3593592"/>
            <a:ext cx="3794760" cy="45720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Contributions list — reviewers hunt for this bullet list</a:t>
            </a:r>
            <a:endParaRPr lang="en-US" sz="1250" dirty="0"/>
          </a:p>
        </p:txBody>
      </p:sp>
      <p:sp>
        <p:nvSpPr>
          <p:cNvPr id="32" name="Text 28"/>
          <p:cNvSpPr/>
          <p:nvPr/>
        </p:nvSpPr>
        <p:spPr>
          <a:xfrm>
            <a:off x="4343400" y="4343400"/>
            <a:ext cx="4297680" cy="54864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Live demo: we open a real annotated paper (African AI example) and locate 1→5 together.</a:t>
            </a:r>
            <a:endParaRPr lang="en-US" sz="1150" dirty="0"/>
          </a:p>
        </p:txBody>
      </p:sp>
      <p:sp>
        <p:nvSpPr>
          <p:cNvPr id="33" name="Text 29"/>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34" name="Text 30"/>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8</a:t>
            </a:r>
            <a:endParaRPr lang="en-US" sz="850" dirty="0"/>
          </a:p>
        </p:txBody>
      </p:sp>
      <p:pic>
        <p:nvPicPr>
          <p:cNvPr id="173" name="QR kit" descr="img"/>
          <p:cNvPicPr>
            <a:picLocks noChangeAspect="1"/>
          </p:cNvPicPr>
          <p:nvPr/>
        </p:nvPicPr>
        <p:blipFill>
          <a:blip r:embed="rId5"/>
          <a:stretch>
            <a:fillRect/>
          </a:stretch>
        </p:blipFill>
        <p:spPr>
          <a:xfrm>
            <a:off x="7699248" y="4672584"/>
            <a:ext cx="402336" cy="402336"/>
          </a:xfrm>
          <a:prstGeom prst="rect">
            <a:avLst/>
          </a:prstGeom>
        </p:spPr>
      </p:pic>
      <p:sp>
        <p:nvSpPr>
          <p:cNvPr id="174"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1 · THE ANATOMY OF AN AI PAPER</a:t>
            </a:r>
            <a:endParaRPr lang="en-US" sz="1100" dirty="0"/>
          </a:p>
        </p:txBody>
      </p:sp>
      <p:sp>
        <p:nvSpPr>
          <p:cNvPr id="5" name="Text 2"/>
          <p:cNvSpPr/>
          <p:nvPr/>
        </p:nvSpPr>
        <p:spPr>
          <a:xfrm>
            <a:off x="1051560" y="548640"/>
            <a:ext cx="6858000" cy="502920"/>
          </a:xfrm>
          <a:prstGeom prst="rect">
            <a:avLst/>
          </a:prstGeom>
          <a:noFill/>
          <a:ln/>
        </p:spPr>
        <p:txBody>
          <a:bodyPr wrap="square" lIns="0" tIns="0" rIns="0" bIns="0" rtlCol="0" anchor="ctr"/>
          <a:lstStyle/>
          <a:p>
            <a:pPr indent="0" marL="0">
              <a:buNone/>
            </a:pPr>
            <a:r>
              <a:rPr lang="en-US" sz="2500" b="1" dirty="0">
                <a:solidFill>
                  <a:srgbClr val="12362A"/>
                </a:solidFill>
                <a:latin typeface="Cambria" pitchFamily="34" charset="0"/>
                <a:ea typeface="Cambria" pitchFamily="34" charset="-122"/>
                <a:cs typeface="Cambria" pitchFamily="34" charset="-120"/>
              </a:rPr>
              <a:t>The beating heart: the contributions list</a:t>
            </a:r>
            <a:endParaRPr lang="en-US" sz="2500" dirty="0"/>
          </a:p>
        </p:txBody>
      </p:sp>
      <p:sp>
        <p:nvSpPr>
          <p:cNvPr id="6" name="Text 3"/>
          <p:cNvSpPr/>
          <p:nvPr/>
        </p:nvSpPr>
        <p:spPr>
          <a:xfrm>
            <a:off x="502920" y="1325880"/>
            <a:ext cx="8138160" cy="320040"/>
          </a:xfrm>
          <a:prstGeom prst="rect">
            <a:avLst/>
          </a:prstGeom>
          <a:noFill/>
          <a:ln/>
        </p:spPr>
        <p:txBody>
          <a:bodyPr wrap="square" lIns="0" tIns="0" rIns="0" bIns="0" rtlCol="0" anchor="ctr"/>
          <a:lstStyle/>
          <a:p>
            <a:pPr indent="0" marL="0">
              <a:buNone/>
            </a:pPr>
            <a:r>
              <a:rPr lang="en-US" sz="1350" dirty="0">
                <a:solidFill>
                  <a:srgbClr val="23312B"/>
                </a:solidFill>
                <a:latin typeface="Calibri" pitchFamily="34" charset="0"/>
                <a:ea typeface="Calibri" pitchFamily="34" charset="-122"/>
                <a:cs typeface="Calibri" pitchFamily="34" charset="-120"/>
              </a:rPr>
              <a:t>At the end of every strong Introduction, reviewers expect an explicit list:</a:t>
            </a:r>
            <a:endParaRPr lang="en-US" sz="1350" dirty="0"/>
          </a:p>
        </p:txBody>
      </p:sp>
      <p:sp>
        <p:nvSpPr>
          <p:cNvPr id="7" name="Shape 4"/>
          <p:cNvSpPr/>
          <p:nvPr/>
        </p:nvSpPr>
        <p:spPr>
          <a:xfrm>
            <a:off x="502920" y="1737360"/>
            <a:ext cx="5029200" cy="2514600"/>
          </a:xfrm>
          <a:prstGeom prst="roundRect">
            <a:avLst>
              <a:gd name="adj" fmla="val 2909"/>
            </a:avLst>
          </a:prstGeom>
          <a:solidFill>
            <a:srgbClr val="EFF5F0"/>
          </a:solidFill>
          <a:ln/>
          <a:effectLst>
            <a:outerShdw sx="100000" sy="100000" kx="0" ky="0" algn="bl" rotWithShape="0" blurRad="88900" dist="25400" dir="2700000">
              <a:srgbClr val="000000">
                <a:alpha val="14000"/>
              </a:srgbClr>
            </a:outerShdw>
          </a:effectLst>
        </p:spPr>
      </p:sp>
      <p:sp>
        <p:nvSpPr>
          <p:cNvPr id="8" name="Text 5"/>
          <p:cNvSpPr/>
          <p:nvPr/>
        </p:nvSpPr>
        <p:spPr>
          <a:xfrm>
            <a:off x="777240" y="1901952"/>
            <a:ext cx="4572000" cy="320040"/>
          </a:xfrm>
          <a:prstGeom prst="rect">
            <a:avLst/>
          </a:prstGeom>
          <a:noFill/>
          <a:ln/>
        </p:spPr>
        <p:txBody>
          <a:bodyPr wrap="square" lIns="0" tIns="0" rIns="0" bIns="0" rtlCol="0" anchor="ctr"/>
          <a:lstStyle/>
          <a:p>
            <a:pPr indent="0" marL="0">
              <a:buNone/>
            </a:pPr>
            <a:r>
              <a:rPr lang="en-US" sz="1300" b="1" i="1" dirty="0">
                <a:solidFill>
                  <a:srgbClr val="1E5A3F"/>
                </a:solidFill>
                <a:latin typeface="Calibri" pitchFamily="34" charset="0"/>
                <a:ea typeface="Calibri" pitchFamily="34" charset="-122"/>
                <a:cs typeface="Calibri" pitchFamily="34" charset="-120"/>
              </a:rPr>
              <a:t>“Our contributions are threefold:”</a:t>
            </a:r>
            <a:endParaRPr lang="en-US" sz="1300" dirty="0"/>
          </a:p>
        </p:txBody>
      </p:sp>
      <p:sp>
        <p:nvSpPr>
          <p:cNvPr id="9" name="Text 6"/>
          <p:cNvSpPr/>
          <p:nvPr/>
        </p:nvSpPr>
        <p:spPr>
          <a:xfrm>
            <a:off x="822960" y="2286000"/>
            <a:ext cx="4526280" cy="1783080"/>
          </a:xfrm>
          <a:prstGeom prst="rect">
            <a:avLst/>
          </a:prstGeom>
          <a:noFill/>
          <a:ln/>
        </p:spPr>
        <p:txBody>
          <a:bodyPr wrap="square" rtlCol="0" anchor="ctr"/>
          <a:lstStyle/>
          <a:p>
            <a:pPr marL="342900" indent="-342900">
              <a:spcAft>
                <a:spcPts val="800"/>
              </a:spcAft>
              <a:buSzPct val="100000"/>
              <a:buChar char="•"/>
            </a:pPr>
            <a:r>
              <a:rPr lang="en-US" sz="1250" dirty="0">
                <a:solidFill>
                  <a:srgbClr val="23312B"/>
                </a:solidFill>
                <a:latin typeface="Calibri" pitchFamily="34" charset="0"/>
                <a:ea typeface="Calibri" pitchFamily="34" charset="-122"/>
                <a:cs typeface="Calibri" pitchFamily="34" charset="-120"/>
              </a:rPr>
              <a:t>A new method — we propose X, the first … for low-resource settings;</a:t>
            </a:r>
            <a:endParaRPr lang="en-US" sz="1250" dirty="0"/>
          </a:p>
          <a:p>
            <a:pPr marL="342900" indent="-342900">
              <a:spcAft>
                <a:spcPts val="800"/>
              </a:spcAft>
              <a:buSzPct val="100000"/>
              <a:buChar char="•"/>
            </a:pPr>
            <a:r>
              <a:rPr lang="en-US" sz="1250" dirty="0">
                <a:solidFill>
                  <a:srgbClr val="23312B"/>
                </a:solidFill>
                <a:latin typeface="Calibri" pitchFamily="34" charset="0"/>
                <a:ea typeface="Calibri" pitchFamily="34" charset="-122"/>
                <a:cs typeface="Calibri" pitchFamily="34" charset="-120"/>
              </a:rPr>
              <a:t>A new resource — we release a dataset of N samples collected in …;</a:t>
            </a:r>
            <a:endParaRPr lang="en-US" sz="1250" dirty="0"/>
          </a:p>
          <a:p>
            <a:pPr marL="342900" indent="-342900">
              <a:spcAft>
                <a:spcPts val="800"/>
              </a:spcAft>
              <a:buSzPct val="100000"/>
              <a:buChar char="•"/>
            </a:pPr>
            <a:r>
              <a:rPr lang="en-US" sz="1250" dirty="0">
                <a:solidFill>
                  <a:srgbClr val="23312B"/>
                </a:solidFill>
                <a:latin typeface="Calibri" pitchFamily="34" charset="0"/>
                <a:ea typeface="Calibri" pitchFamily="34" charset="-122"/>
                <a:cs typeface="Calibri" pitchFamily="34" charset="-120"/>
              </a:rPr>
              <a:t>New evidence — X outperforms strong baselines by Y% on Z benchmarks.</a:t>
            </a:r>
            <a:endParaRPr lang="en-US" sz="1250" dirty="0"/>
          </a:p>
        </p:txBody>
      </p:sp>
      <p:sp>
        <p:nvSpPr>
          <p:cNvPr id="10" name="Shape 7"/>
          <p:cNvSpPr/>
          <p:nvPr/>
        </p:nvSpPr>
        <p:spPr>
          <a:xfrm>
            <a:off x="5760720" y="1737360"/>
            <a:ext cx="2926080" cy="2514600"/>
          </a:xfrm>
          <a:prstGeom prst="roundRect">
            <a:avLst>
              <a:gd name="adj" fmla="val 2909"/>
            </a:avLst>
          </a:prstGeom>
          <a:solidFill>
            <a:srgbClr val="F7F4EC"/>
          </a:solidFill>
          <a:ln/>
          <a:effectLst>
            <a:outerShdw sx="100000" sy="100000" kx="0" ky="0" algn="bl" rotWithShape="0" blurRad="88900" dist="25400" dir="2700000">
              <a:srgbClr val="000000">
                <a:alpha val="14000"/>
              </a:srgbClr>
            </a:outerShdw>
          </a:effectLst>
        </p:spPr>
      </p:sp>
      <p:sp>
        <p:nvSpPr>
          <p:cNvPr id="11" name="Shape 8"/>
          <p:cNvSpPr/>
          <p:nvPr/>
        </p:nvSpPr>
        <p:spPr>
          <a:xfrm>
            <a:off x="5989320" y="1920240"/>
            <a:ext cx="502920" cy="502920"/>
          </a:xfrm>
          <a:prstGeom prst="ellipse">
            <a:avLst/>
          </a:prstGeom>
          <a:solidFill>
            <a:srgbClr val="C9922F"/>
          </a:solidFill>
          <a:ln/>
        </p:spPr>
      </p:sp>
      <p:pic>
        <p:nvPicPr>
          <p:cNvPr id="12" name="Image 1" descr="preencoded.png">    </p:cNvPr>
          <p:cNvPicPr>
            <a:picLocks noChangeAspect="1"/>
          </p:cNvPicPr>
          <p:nvPr/>
        </p:nvPicPr>
        <p:blipFill>
          <a:blip r:embed="rId2"/>
          <a:stretch>
            <a:fillRect/>
          </a:stretch>
        </p:blipFill>
        <p:spPr>
          <a:xfrm>
            <a:off x="6120079" y="2050999"/>
            <a:ext cx="241402" cy="241402"/>
          </a:xfrm>
          <a:prstGeom prst="rect">
            <a:avLst/>
          </a:prstGeom>
        </p:spPr>
      </p:pic>
      <p:sp>
        <p:nvSpPr>
          <p:cNvPr id="13" name="Text 9"/>
          <p:cNvSpPr/>
          <p:nvPr/>
        </p:nvSpPr>
        <p:spPr>
          <a:xfrm>
            <a:off x="6583680" y="2011680"/>
            <a:ext cx="2011680" cy="320040"/>
          </a:xfrm>
          <a:prstGeom prst="rect">
            <a:avLst/>
          </a:prstGeom>
          <a:noFill/>
          <a:ln/>
        </p:spPr>
        <p:txBody>
          <a:bodyPr wrap="square" lIns="0" tIns="0" rIns="0" bIns="0" rtlCol="0" anchor="ctr"/>
          <a:lstStyle/>
          <a:p>
            <a:pPr indent="0" marL="0">
              <a:buNone/>
            </a:pPr>
            <a:r>
              <a:rPr lang="en-US" sz="1300" b="1" dirty="0">
                <a:solidFill>
                  <a:srgbClr val="12362A"/>
                </a:solidFill>
                <a:latin typeface="Calibri" pitchFamily="34" charset="0"/>
                <a:ea typeface="Calibri" pitchFamily="34" charset="-122"/>
                <a:cs typeface="Calibri" pitchFamily="34" charset="-120"/>
              </a:rPr>
              <a:t>Reviewer's lens</a:t>
            </a:r>
            <a:endParaRPr lang="en-US" sz="1300" dirty="0"/>
          </a:p>
        </p:txBody>
      </p:sp>
      <p:sp>
        <p:nvSpPr>
          <p:cNvPr id="14" name="Text 10"/>
          <p:cNvSpPr/>
          <p:nvPr/>
        </p:nvSpPr>
        <p:spPr>
          <a:xfrm>
            <a:off x="5989320" y="2514600"/>
            <a:ext cx="2514600" cy="1554480"/>
          </a:xfrm>
          <a:prstGeom prst="rect">
            <a:avLst/>
          </a:prstGeom>
          <a:noFill/>
          <a:ln/>
        </p:spPr>
        <p:txBody>
          <a:bodyPr wrap="square" lIns="0" tIns="0" rIns="0" bIns="0" rtlCol="0" anchor="ctr"/>
          <a:lstStyle/>
          <a:p>
            <a:pPr indent="0" marL="0">
              <a:buNone/>
            </a:pPr>
            <a:r>
              <a:rPr lang="en-US" sz="1200" dirty="0">
                <a:solidFill>
                  <a:srgbClr val="23312B"/>
                </a:solidFill>
                <a:latin typeface="Calibri" pitchFamily="34" charset="0"/>
                <a:ea typeface="Calibri" pitchFamily="34" charset="-122"/>
                <a:cs typeface="Calibri" pitchFamily="34" charset="-120"/>
              </a:rPr>
              <a:t>Each claimed contribution must be verifiable in the Results section. Claim 3 things, prove 3 things.</a:t>
            </a:r>
            <a:endParaRPr lang="en-US" sz="1200" dirty="0"/>
          </a:p>
        </p:txBody>
      </p:sp>
      <p:sp>
        <p:nvSpPr>
          <p:cNvPr id="15" name="Text 11"/>
          <p:cNvSpPr/>
          <p:nvPr/>
        </p:nvSpPr>
        <p:spPr>
          <a:xfrm>
            <a:off x="502920" y="4480560"/>
            <a:ext cx="8138160" cy="32004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Types of contribution: method · dataset/resource · benchmark · analysis/theory · open-source tool.</a:t>
            </a:r>
            <a:endParaRPr lang="en-US" sz="1150" dirty="0"/>
          </a:p>
        </p:txBody>
      </p:sp>
      <p:sp>
        <p:nvSpPr>
          <p:cNvPr id="16" name="Text 12"/>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7" name="Text 13"/>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9</a:t>
            </a:r>
            <a:endParaRPr lang="en-US" sz="850" dirty="0"/>
          </a:p>
        </p:txBody>
      </p:sp>
      <p:pic>
        <p:nvPicPr>
          <p:cNvPr id="175" name="QR kit" descr="img"/>
          <p:cNvPicPr>
            <a:picLocks noChangeAspect="1"/>
          </p:cNvPicPr>
          <p:nvPr/>
        </p:nvPicPr>
        <p:blipFill>
          <a:blip r:embed="rId5"/>
          <a:stretch>
            <a:fillRect/>
          </a:stretch>
        </p:blipFill>
        <p:spPr>
          <a:xfrm>
            <a:off x="7699248" y="4672584"/>
            <a:ext cx="402336" cy="402336"/>
          </a:xfrm>
          <a:prstGeom prst="rect">
            <a:avLst/>
          </a:prstGeom>
        </p:spPr>
      </p:pic>
      <p:sp>
        <p:nvSpPr>
          <p:cNvPr id="176"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1 · THE ANATOMY OF AN AI PAPER</a:t>
            </a:r>
            <a:endParaRPr lang="en-US" sz="1100" dirty="0"/>
          </a:p>
        </p:txBody>
      </p:sp>
      <p:sp>
        <p:nvSpPr>
          <p:cNvPr id="5" name="Text 2"/>
          <p:cNvSpPr/>
          <p:nvPr/>
        </p:nvSpPr>
        <p:spPr>
          <a:xfrm>
            <a:off x="1051560" y="548640"/>
            <a:ext cx="658368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A real abstract, dissected</a:t>
            </a:r>
            <a:endParaRPr lang="en-US" sz="2600" dirty="0"/>
          </a:p>
        </p:txBody>
      </p:sp>
      <p:sp>
        <p:nvSpPr>
          <p:cNvPr id="6" name="Shape 3"/>
          <p:cNvSpPr/>
          <p:nvPr/>
        </p:nvSpPr>
        <p:spPr>
          <a:xfrm>
            <a:off x="502920" y="1325880"/>
            <a:ext cx="5577840" cy="3246120"/>
          </a:xfrm>
          <a:prstGeom prst="roundRect">
            <a:avLst>
              <a:gd name="adj" fmla="val 2535"/>
            </a:avLst>
          </a:prstGeom>
          <a:solidFill>
            <a:srgbClr val="EFF5F0"/>
          </a:solidFill>
          <a:ln/>
          <a:effectLst>
            <a:outerShdw sx="100000" sy="100000" kx="0" ky="0" algn="bl" rotWithShape="0" blurRad="88900" dist="25400" dir="2700000">
              <a:srgbClr val="000000">
                <a:alpha val="14000"/>
              </a:srgbClr>
            </a:outerShdw>
          </a:effectLst>
        </p:spPr>
      </p:sp>
      <p:sp>
        <p:nvSpPr>
          <p:cNvPr id="7" name="Text 4"/>
          <p:cNvSpPr/>
          <p:nvPr/>
        </p:nvSpPr>
        <p:spPr>
          <a:xfrm>
            <a:off x="777240" y="1463040"/>
            <a:ext cx="5120640" cy="274320"/>
          </a:xfrm>
          <a:prstGeom prst="rect">
            <a:avLst/>
          </a:prstGeom>
          <a:noFill/>
          <a:ln/>
        </p:spPr>
        <p:txBody>
          <a:bodyPr wrap="square" lIns="0" tIns="0" rIns="0" bIns="0" rtlCol="0" anchor="ctr"/>
          <a:lstStyle/>
          <a:p>
            <a:pPr indent="0" marL="0">
              <a:buNone/>
            </a:pPr>
            <a:r>
              <a:rPr lang="en-US" sz="1200" b="1" i="1" dirty="0">
                <a:solidFill>
                  <a:srgbClr val="5E6E66"/>
                </a:solidFill>
                <a:latin typeface="Calibri" pitchFamily="34" charset="0"/>
                <a:ea typeface="Calibri" pitchFamily="34" charset="-122"/>
                <a:cs typeface="Calibri" pitchFamily="34" charset="-120"/>
              </a:rPr>
              <a:t>AgroNet — Abstract (the paper you just saw)</a:t>
            </a:r>
            <a:endParaRPr lang="en-US" sz="1200" dirty="0"/>
          </a:p>
        </p:txBody>
      </p:sp>
      <p:sp>
        <p:nvSpPr>
          <p:cNvPr id="8" name="Text 5"/>
          <p:cNvSpPr/>
          <p:nvPr/>
        </p:nvSpPr>
        <p:spPr>
          <a:xfrm>
            <a:off x="777240" y="1783080"/>
            <a:ext cx="5074920" cy="2697480"/>
          </a:xfrm>
          <a:prstGeom prst="rect">
            <a:avLst/>
          </a:prstGeom>
          <a:noFill/>
          <a:ln/>
        </p:spPr>
        <p:txBody>
          <a:bodyPr wrap="square" lIns="0" tIns="0" rIns="0" bIns="0" rtlCol="0" anchor="ctr"/>
          <a:lstStyle/>
          <a:p>
            <a:pPr indent="0" marL="0">
              <a:lnSpc>
                <a:spcPct val="125000"/>
              </a:lnSpc>
              <a:buNone/>
            </a:pPr>
            <a:r>
              <a:rPr lang="en-US" sz="1300" b="1" dirty="0">
                <a:solidFill>
                  <a:srgbClr val="1E5A3F"/>
                </a:solidFill>
                <a:latin typeface="Calibri" pitchFamily="34" charset="0"/>
                <a:ea typeface="Calibri" pitchFamily="34" charset="-122"/>
                <a:cs typeface="Calibri" pitchFamily="34" charset="-120"/>
              </a:rPr>
              <a:t>Cassava feeds over 500 million Africans, yet mosaic and brown-streak diseases destroy up to 40% of yields. </a:t>
            </a:r>
            <a:pPr indent="0" marL="0">
              <a:lnSpc>
                <a:spcPct val="125000"/>
              </a:lnSpc>
              <a:buNone/>
            </a:pPr>
            <a:r>
              <a:rPr lang="en-US" sz="1300" b="1" dirty="0">
                <a:solidFill>
                  <a:srgbClr val="B3402F"/>
                </a:solidFill>
                <a:latin typeface="Calibri" pitchFamily="34" charset="0"/>
                <a:ea typeface="Calibri" pitchFamily="34" charset="-122"/>
                <a:cs typeface="Calibri" pitchFamily="34" charset="-120"/>
              </a:rPr>
              <a:t>Existing vision models for plant diagnosis require cloud connectivity that is absent in most rural areas. </a:t>
            </a:r>
            <a:pPr indent="0" marL="0">
              <a:lnSpc>
                <a:spcPct val="125000"/>
              </a:lnSpc>
              <a:buNone/>
            </a:pPr>
            <a:r>
              <a:rPr lang="en-US" sz="1300" b="1" dirty="0">
                <a:solidFill>
                  <a:srgbClr val="23312B"/>
                </a:solidFill>
                <a:latin typeface="Calibri" pitchFamily="34" charset="0"/>
                <a:ea typeface="Calibri" pitchFamily="34" charset="-122"/>
                <a:cs typeface="Calibri" pitchFamily="34" charset="-120"/>
              </a:rPr>
              <a:t>We introduce AgroNet, an offline, quantized convolutional network optimized for low-end mobile devices. </a:t>
            </a:r>
            <a:pPr indent="0" marL="0">
              <a:lnSpc>
                <a:spcPct val="125000"/>
              </a:lnSpc>
              <a:buNone/>
            </a:pPr>
            <a:r>
              <a:rPr lang="en-US" sz="1300" b="1" dirty="0">
                <a:solidFill>
                  <a:srgbClr val="C9922F"/>
                </a:solidFill>
                <a:latin typeface="Calibri" pitchFamily="34" charset="0"/>
                <a:ea typeface="Calibri" pitchFamily="34" charset="-122"/>
                <a:cs typeface="Calibri" pitchFamily="34" charset="-120"/>
              </a:rPr>
              <a:t>Trained on 12,406 leaf images collected across 42 farms in Guinea and Nigeria, AgroNet reaches 78.3% top-1 accuracy while cutting inference latency by 40% versus MobileNetV3. </a:t>
            </a:r>
            <a:pPr indent="0" marL="0">
              <a:lnSpc>
                <a:spcPct val="125000"/>
              </a:lnSpc>
              <a:buNone/>
            </a:pPr>
            <a:r>
              <a:rPr lang="en-US" sz="1300" b="1" dirty="0">
                <a:solidFill>
                  <a:srgbClr val="1C7293"/>
                </a:solidFill>
                <a:latin typeface="Calibri" pitchFamily="34" charset="0"/>
                <a:ea typeface="Calibri" pitchFamily="34" charset="-122"/>
                <a:cs typeface="Calibri" pitchFamily="34" charset="-120"/>
              </a:rPr>
              <a:t>We release our dataset, code and models to support agricultural AI across the continent.</a:t>
            </a:r>
            <a:endParaRPr lang="en-US" sz="1300" dirty="0"/>
          </a:p>
        </p:txBody>
      </p:sp>
      <p:sp>
        <p:nvSpPr>
          <p:cNvPr id="9" name="Text 6"/>
          <p:cNvSpPr/>
          <p:nvPr/>
        </p:nvSpPr>
        <p:spPr>
          <a:xfrm>
            <a:off x="6355080" y="1325880"/>
            <a:ext cx="2377440" cy="32004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The 5 moves of a great abstract</a:t>
            </a:r>
            <a:endParaRPr lang="en-US" sz="1250" dirty="0"/>
          </a:p>
        </p:txBody>
      </p:sp>
      <p:sp>
        <p:nvSpPr>
          <p:cNvPr id="10" name="Shape 7"/>
          <p:cNvSpPr/>
          <p:nvPr/>
        </p:nvSpPr>
        <p:spPr>
          <a:xfrm>
            <a:off x="6355080" y="1764792"/>
            <a:ext cx="237744" cy="237744"/>
          </a:xfrm>
          <a:prstGeom prst="ellipse">
            <a:avLst/>
          </a:prstGeom>
          <a:solidFill>
            <a:srgbClr val="1E5A3F"/>
          </a:solidFill>
          <a:ln/>
        </p:spPr>
      </p:sp>
      <p:sp>
        <p:nvSpPr>
          <p:cNvPr id="11" name="Text 8"/>
          <p:cNvSpPr/>
          <p:nvPr/>
        </p:nvSpPr>
        <p:spPr>
          <a:xfrm>
            <a:off x="6693408" y="1709928"/>
            <a:ext cx="2057400" cy="548640"/>
          </a:xfrm>
          <a:prstGeom prst="rect">
            <a:avLst/>
          </a:prstGeom>
          <a:noFill/>
          <a:ln/>
        </p:spPr>
        <p:txBody>
          <a:bodyPr wrap="square" lIns="0" tIns="0" rIns="0" bIns="0" rtlCol="0" anchor="t"/>
          <a:lstStyle/>
          <a:p>
            <a:pPr indent="0" marL="0">
              <a:buNone/>
            </a:pPr>
            <a:r>
              <a:rPr lang="en-US" sz="1050" dirty="0">
                <a:solidFill>
                  <a:srgbClr val="23312B"/>
                </a:solidFill>
                <a:latin typeface="Calibri" pitchFamily="34" charset="0"/>
                <a:ea typeface="Calibri" pitchFamily="34" charset="-122"/>
                <a:cs typeface="Calibri" pitchFamily="34" charset="-120"/>
              </a:rPr>
              <a:t>CONTEXT — stakes &amp; numbers</a:t>
            </a:r>
            <a:endParaRPr lang="en-US" sz="1050" dirty="0"/>
          </a:p>
        </p:txBody>
      </p:sp>
      <p:sp>
        <p:nvSpPr>
          <p:cNvPr id="12" name="Shape 9"/>
          <p:cNvSpPr/>
          <p:nvPr/>
        </p:nvSpPr>
        <p:spPr>
          <a:xfrm>
            <a:off x="6355080" y="2331720"/>
            <a:ext cx="237744" cy="237744"/>
          </a:xfrm>
          <a:prstGeom prst="ellipse">
            <a:avLst/>
          </a:prstGeom>
          <a:solidFill>
            <a:srgbClr val="B3402F"/>
          </a:solidFill>
          <a:ln/>
        </p:spPr>
      </p:sp>
      <p:sp>
        <p:nvSpPr>
          <p:cNvPr id="13" name="Text 10"/>
          <p:cNvSpPr/>
          <p:nvPr/>
        </p:nvSpPr>
        <p:spPr>
          <a:xfrm>
            <a:off x="6693408" y="2276856"/>
            <a:ext cx="2057400" cy="548640"/>
          </a:xfrm>
          <a:prstGeom prst="rect">
            <a:avLst/>
          </a:prstGeom>
          <a:noFill/>
          <a:ln/>
        </p:spPr>
        <p:txBody>
          <a:bodyPr wrap="square" lIns="0" tIns="0" rIns="0" bIns="0" rtlCol="0" anchor="t"/>
          <a:lstStyle/>
          <a:p>
            <a:pPr indent="0" marL="0">
              <a:buNone/>
            </a:pPr>
            <a:r>
              <a:rPr lang="en-US" sz="1050" dirty="0">
                <a:solidFill>
                  <a:srgbClr val="23312B"/>
                </a:solidFill>
                <a:latin typeface="Calibri" pitchFamily="34" charset="0"/>
                <a:ea typeface="Calibri" pitchFamily="34" charset="-122"/>
                <a:cs typeface="Calibri" pitchFamily="34" charset="-120"/>
              </a:rPr>
              <a:t>GAP — what blocks the world</a:t>
            </a:r>
            <a:endParaRPr lang="en-US" sz="1050" dirty="0"/>
          </a:p>
        </p:txBody>
      </p:sp>
      <p:sp>
        <p:nvSpPr>
          <p:cNvPr id="14" name="Shape 11"/>
          <p:cNvSpPr/>
          <p:nvPr/>
        </p:nvSpPr>
        <p:spPr>
          <a:xfrm>
            <a:off x="6355080" y="2898648"/>
            <a:ext cx="237744" cy="237744"/>
          </a:xfrm>
          <a:prstGeom prst="ellipse">
            <a:avLst/>
          </a:prstGeom>
          <a:solidFill>
            <a:srgbClr val="23312B"/>
          </a:solidFill>
          <a:ln/>
        </p:spPr>
      </p:sp>
      <p:sp>
        <p:nvSpPr>
          <p:cNvPr id="15" name="Text 12"/>
          <p:cNvSpPr/>
          <p:nvPr/>
        </p:nvSpPr>
        <p:spPr>
          <a:xfrm>
            <a:off x="6693408" y="2843784"/>
            <a:ext cx="2057400" cy="548640"/>
          </a:xfrm>
          <a:prstGeom prst="rect">
            <a:avLst/>
          </a:prstGeom>
          <a:noFill/>
          <a:ln/>
        </p:spPr>
        <p:txBody>
          <a:bodyPr wrap="square" lIns="0" tIns="0" rIns="0" bIns="0" rtlCol="0" anchor="t"/>
          <a:lstStyle/>
          <a:p>
            <a:pPr indent="0" marL="0">
              <a:buNone/>
            </a:pPr>
            <a:r>
              <a:rPr lang="en-US" sz="1050" dirty="0">
                <a:solidFill>
                  <a:srgbClr val="23312B"/>
                </a:solidFill>
                <a:latin typeface="Calibri" pitchFamily="34" charset="0"/>
                <a:ea typeface="Calibri" pitchFamily="34" charset="-122"/>
                <a:cs typeface="Calibri" pitchFamily="34" charset="-120"/>
              </a:rPr>
              <a:t>METHOD — your one-line answer</a:t>
            </a:r>
            <a:endParaRPr lang="en-US" sz="1050" dirty="0"/>
          </a:p>
        </p:txBody>
      </p:sp>
      <p:sp>
        <p:nvSpPr>
          <p:cNvPr id="16" name="Shape 13"/>
          <p:cNvSpPr/>
          <p:nvPr/>
        </p:nvSpPr>
        <p:spPr>
          <a:xfrm>
            <a:off x="6355080" y="3465576"/>
            <a:ext cx="237744" cy="237744"/>
          </a:xfrm>
          <a:prstGeom prst="ellipse">
            <a:avLst/>
          </a:prstGeom>
          <a:solidFill>
            <a:srgbClr val="C9922F"/>
          </a:solidFill>
          <a:ln/>
        </p:spPr>
      </p:sp>
      <p:sp>
        <p:nvSpPr>
          <p:cNvPr id="17" name="Text 14"/>
          <p:cNvSpPr/>
          <p:nvPr/>
        </p:nvSpPr>
        <p:spPr>
          <a:xfrm>
            <a:off x="6693408" y="3410712"/>
            <a:ext cx="2057400" cy="548640"/>
          </a:xfrm>
          <a:prstGeom prst="rect">
            <a:avLst/>
          </a:prstGeom>
          <a:noFill/>
          <a:ln/>
        </p:spPr>
        <p:txBody>
          <a:bodyPr wrap="square" lIns="0" tIns="0" rIns="0" bIns="0" rtlCol="0" anchor="t"/>
          <a:lstStyle/>
          <a:p>
            <a:pPr indent="0" marL="0">
              <a:buNone/>
            </a:pPr>
            <a:r>
              <a:rPr lang="en-US" sz="1050" dirty="0">
                <a:solidFill>
                  <a:srgbClr val="23312B"/>
                </a:solidFill>
                <a:latin typeface="Calibri" pitchFamily="34" charset="0"/>
                <a:ea typeface="Calibri" pitchFamily="34" charset="-122"/>
                <a:cs typeface="Calibri" pitchFamily="34" charset="-120"/>
              </a:rPr>
              <a:t>RESULTS — data + hard numbers</a:t>
            </a:r>
            <a:endParaRPr lang="en-US" sz="1050" dirty="0"/>
          </a:p>
        </p:txBody>
      </p:sp>
      <p:sp>
        <p:nvSpPr>
          <p:cNvPr id="18" name="Shape 15"/>
          <p:cNvSpPr/>
          <p:nvPr/>
        </p:nvSpPr>
        <p:spPr>
          <a:xfrm>
            <a:off x="6355080" y="4032504"/>
            <a:ext cx="237744" cy="237744"/>
          </a:xfrm>
          <a:prstGeom prst="ellipse">
            <a:avLst/>
          </a:prstGeom>
          <a:solidFill>
            <a:srgbClr val="1C7293"/>
          </a:solidFill>
          <a:ln/>
        </p:spPr>
      </p:sp>
      <p:sp>
        <p:nvSpPr>
          <p:cNvPr id="19" name="Text 16"/>
          <p:cNvSpPr/>
          <p:nvPr/>
        </p:nvSpPr>
        <p:spPr>
          <a:xfrm>
            <a:off x="6693408" y="3977640"/>
            <a:ext cx="2057400" cy="548640"/>
          </a:xfrm>
          <a:prstGeom prst="rect">
            <a:avLst/>
          </a:prstGeom>
          <a:noFill/>
          <a:ln/>
        </p:spPr>
        <p:txBody>
          <a:bodyPr wrap="square" lIns="0" tIns="0" rIns="0" bIns="0" rtlCol="0" anchor="t"/>
          <a:lstStyle/>
          <a:p>
            <a:pPr indent="0" marL="0">
              <a:buNone/>
            </a:pPr>
            <a:r>
              <a:rPr lang="en-US" sz="1050" dirty="0">
                <a:solidFill>
                  <a:srgbClr val="23312B"/>
                </a:solidFill>
                <a:latin typeface="Calibri" pitchFamily="34" charset="0"/>
                <a:ea typeface="Calibri" pitchFamily="34" charset="-122"/>
                <a:cs typeface="Calibri" pitchFamily="34" charset="-120"/>
              </a:rPr>
              <a:t>IMPACT — the door you open</a:t>
            </a:r>
            <a:endParaRPr lang="en-US" sz="1050" dirty="0"/>
          </a:p>
        </p:txBody>
      </p:sp>
      <p:sp>
        <p:nvSpPr>
          <p:cNvPr id="20" name="Text 17"/>
          <p:cNvSpPr/>
          <p:nvPr/>
        </p:nvSpPr>
        <p:spPr>
          <a:xfrm>
            <a:off x="502920" y="4617720"/>
            <a:ext cx="8138160" cy="27432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Our 3-sentence exercise compresses these 5 moves into 3: Context+Gap → Method → Results+Impact.</a:t>
            </a:r>
            <a:endParaRPr lang="en-US" sz="1150" dirty="0"/>
          </a:p>
        </p:txBody>
      </p:sp>
      <p:sp>
        <p:nvSpPr>
          <p:cNvPr id="21" name="Text 18"/>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2" name="Text 19"/>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10</a:t>
            </a:r>
            <a:endParaRPr lang="en-US" sz="850" dirty="0"/>
          </a:p>
        </p:txBody>
      </p:sp>
      <p:pic>
        <p:nvPicPr>
          <p:cNvPr id="177"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78"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1 · THE ANATOMY OF AN AI PAPER</a:t>
            </a:r>
            <a:endParaRPr lang="en-US" sz="1100" dirty="0"/>
          </a:p>
        </p:txBody>
      </p:sp>
      <p:sp>
        <p:nvSpPr>
          <p:cNvPr id="5" name="Text 2"/>
          <p:cNvSpPr/>
          <p:nvPr/>
        </p:nvSpPr>
        <p:spPr>
          <a:xfrm>
            <a:off x="1051560" y="548640"/>
            <a:ext cx="658368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Inside the mind of a reviewer</a:t>
            </a:r>
            <a:endParaRPr lang="en-US" sz="2600" dirty="0"/>
          </a:p>
        </p:txBody>
      </p:sp>
      <p:sp>
        <p:nvSpPr>
          <p:cNvPr id="6" name="Text 3"/>
          <p:cNvSpPr/>
          <p:nvPr/>
        </p:nvSpPr>
        <p:spPr>
          <a:xfrm>
            <a:off x="502920" y="1298448"/>
            <a:ext cx="393192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What gets scored</a:t>
            </a:r>
            <a:endParaRPr lang="en-US" sz="1300" dirty="0"/>
          </a:p>
        </p:txBody>
      </p:sp>
      <p:sp>
        <p:nvSpPr>
          <p:cNvPr id="7" name="Shape 4"/>
          <p:cNvSpPr/>
          <p:nvPr/>
        </p:nvSpPr>
        <p:spPr>
          <a:xfrm>
            <a:off x="502920" y="1655064"/>
            <a:ext cx="310896" cy="310896"/>
          </a:xfrm>
          <a:prstGeom prst="ellipse">
            <a:avLst/>
          </a:prstGeom>
          <a:solidFill>
            <a:srgbClr val="1E5A3F"/>
          </a:solidFill>
          <a:ln/>
        </p:spPr>
      </p:sp>
      <p:pic>
        <p:nvPicPr>
          <p:cNvPr id="8" name="Image 1" descr="preencoded.png">    </p:cNvPr>
          <p:cNvPicPr>
            <a:picLocks noChangeAspect="1"/>
          </p:cNvPicPr>
          <p:nvPr/>
        </p:nvPicPr>
        <p:blipFill>
          <a:blip r:embed="rId2"/>
          <a:stretch>
            <a:fillRect/>
          </a:stretch>
        </p:blipFill>
        <p:spPr>
          <a:xfrm>
            <a:off x="566928" y="1719072"/>
            <a:ext cx="182880" cy="182880"/>
          </a:xfrm>
          <a:prstGeom prst="rect">
            <a:avLst/>
          </a:prstGeom>
        </p:spPr>
      </p:pic>
      <p:sp>
        <p:nvSpPr>
          <p:cNvPr id="9" name="Text 5"/>
          <p:cNvSpPr/>
          <p:nvPr/>
        </p:nvSpPr>
        <p:spPr>
          <a:xfrm>
            <a:off x="932688" y="1600200"/>
            <a:ext cx="3429000" cy="640080"/>
          </a:xfrm>
          <a:prstGeom prst="rect">
            <a:avLst/>
          </a:prstGeom>
          <a:noFill/>
          <a:ln/>
        </p:spPr>
        <p:txBody>
          <a:bodyPr wrap="square" lIns="0" tIns="0" rIns="0" bIns="0" rtlCol="0" anchor="ctr"/>
          <a:lstStyle/>
          <a:p>
            <a:pPr indent="0" marL="0">
              <a:buNone/>
            </a:pPr>
            <a:r>
              <a:rPr lang="en-US" sz="1250" b="1" dirty="0">
                <a:solidFill>
                  <a:srgbClr val="23312B"/>
                </a:solidFill>
                <a:latin typeface="Calibri" pitchFamily="34" charset="0"/>
                <a:ea typeface="Calibri" pitchFamily="34" charset="-122"/>
                <a:cs typeface="Calibri" pitchFamily="34" charset="-120"/>
              </a:rPr>
              <a:t>Clarity of the core contribution</a:t>
            </a:r>
            <a:endParaRPr lang="en-US" sz="1250" dirty="0"/>
          </a:p>
          <a:p>
            <a:pPr indent="0" marL="0">
              <a:buNone/>
            </a:pPr>
            <a:r>
              <a:rPr lang="en-US" sz="1100" i="1" dirty="0">
                <a:solidFill>
                  <a:srgbClr val="5E6E66"/>
                </a:solidFill>
                <a:latin typeface="Calibri" pitchFamily="34" charset="0"/>
                <a:ea typeface="Calibri" pitchFamily="34" charset="-122"/>
                <a:cs typeface="Calibri" pitchFamily="34" charset="-120"/>
              </a:rPr>
              <a:t>can I state it in one sentence?</a:t>
            </a:r>
            <a:endParaRPr lang="en-US" sz="1250" dirty="0"/>
          </a:p>
        </p:txBody>
      </p:sp>
      <p:sp>
        <p:nvSpPr>
          <p:cNvPr id="10" name="Shape 6"/>
          <p:cNvSpPr/>
          <p:nvPr/>
        </p:nvSpPr>
        <p:spPr>
          <a:xfrm>
            <a:off x="502920" y="2313432"/>
            <a:ext cx="310896" cy="310896"/>
          </a:xfrm>
          <a:prstGeom prst="ellipse">
            <a:avLst/>
          </a:prstGeom>
          <a:solidFill>
            <a:srgbClr val="1E5A3F"/>
          </a:solidFill>
          <a:ln/>
        </p:spPr>
      </p:sp>
      <p:pic>
        <p:nvPicPr>
          <p:cNvPr id="11" name="Image 2" descr="preencoded.png">    </p:cNvPr>
          <p:cNvPicPr>
            <a:picLocks noChangeAspect="1"/>
          </p:cNvPicPr>
          <p:nvPr/>
        </p:nvPicPr>
        <p:blipFill>
          <a:blip r:embed="rId3"/>
          <a:stretch>
            <a:fillRect/>
          </a:stretch>
        </p:blipFill>
        <p:spPr>
          <a:xfrm>
            <a:off x="566928" y="2377440"/>
            <a:ext cx="182880" cy="182880"/>
          </a:xfrm>
          <a:prstGeom prst="rect">
            <a:avLst/>
          </a:prstGeom>
        </p:spPr>
      </p:pic>
      <p:sp>
        <p:nvSpPr>
          <p:cNvPr id="12" name="Text 7"/>
          <p:cNvSpPr/>
          <p:nvPr/>
        </p:nvSpPr>
        <p:spPr>
          <a:xfrm>
            <a:off x="932688" y="2258568"/>
            <a:ext cx="3429000" cy="640080"/>
          </a:xfrm>
          <a:prstGeom prst="rect">
            <a:avLst/>
          </a:prstGeom>
          <a:noFill/>
          <a:ln/>
        </p:spPr>
        <p:txBody>
          <a:bodyPr wrap="square" lIns="0" tIns="0" rIns="0" bIns="0" rtlCol="0" anchor="ctr"/>
          <a:lstStyle/>
          <a:p>
            <a:pPr indent="0" marL="0">
              <a:buNone/>
            </a:pPr>
            <a:r>
              <a:rPr lang="en-US" sz="1250" b="1" dirty="0">
                <a:solidFill>
                  <a:srgbClr val="23312B"/>
                </a:solidFill>
                <a:latin typeface="Calibri" pitchFamily="34" charset="0"/>
                <a:ea typeface="Calibri" pitchFamily="34" charset="-122"/>
                <a:cs typeface="Calibri" pitchFamily="34" charset="-120"/>
              </a:rPr>
              <a:t>Novelty</a:t>
            </a:r>
            <a:endParaRPr lang="en-US" sz="1250" dirty="0"/>
          </a:p>
          <a:p>
            <a:pPr indent="0" marL="0">
              <a:buNone/>
            </a:pPr>
            <a:r>
              <a:rPr lang="en-US" sz="1100" i="1" dirty="0">
                <a:solidFill>
                  <a:srgbClr val="5E6E66"/>
                </a:solidFill>
                <a:latin typeface="Calibri" pitchFamily="34" charset="0"/>
                <a:ea typeface="Calibri" pitchFamily="34" charset="-122"/>
                <a:cs typeface="Calibri" pitchFamily="34" charset="-120"/>
              </a:rPr>
              <a:t>what is genuinely new vs. related work?</a:t>
            </a:r>
            <a:endParaRPr lang="en-US" sz="1250" dirty="0"/>
          </a:p>
        </p:txBody>
      </p:sp>
      <p:sp>
        <p:nvSpPr>
          <p:cNvPr id="13" name="Shape 8"/>
          <p:cNvSpPr/>
          <p:nvPr/>
        </p:nvSpPr>
        <p:spPr>
          <a:xfrm>
            <a:off x="502920" y="2971800"/>
            <a:ext cx="310896" cy="310896"/>
          </a:xfrm>
          <a:prstGeom prst="ellipse">
            <a:avLst/>
          </a:prstGeom>
          <a:solidFill>
            <a:srgbClr val="1E5A3F"/>
          </a:solidFill>
          <a:ln/>
        </p:spPr>
      </p:sp>
      <p:pic>
        <p:nvPicPr>
          <p:cNvPr id="14" name="Image 3" descr="preencoded.png">    </p:cNvPr>
          <p:cNvPicPr>
            <a:picLocks noChangeAspect="1"/>
          </p:cNvPicPr>
          <p:nvPr/>
        </p:nvPicPr>
        <p:blipFill>
          <a:blip r:embed="rId4"/>
          <a:stretch>
            <a:fillRect/>
          </a:stretch>
        </p:blipFill>
        <p:spPr>
          <a:xfrm>
            <a:off x="566928" y="3035808"/>
            <a:ext cx="182880" cy="182880"/>
          </a:xfrm>
          <a:prstGeom prst="rect">
            <a:avLst/>
          </a:prstGeom>
        </p:spPr>
      </p:pic>
      <p:sp>
        <p:nvSpPr>
          <p:cNvPr id="15" name="Text 9"/>
          <p:cNvSpPr/>
          <p:nvPr/>
        </p:nvSpPr>
        <p:spPr>
          <a:xfrm>
            <a:off x="932688" y="2916936"/>
            <a:ext cx="3429000" cy="640080"/>
          </a:xfrm>
          <a:prstGeom prst="rect">
            <a:avLst/>
          </a:prstGeom>
          <a:noFill/>
          <a:ln/>
        </p:spPr>
        <p:txBody>
          <a:bodyPr wrap="square" lIns="0" tIns="0" rIns="0" bIns="0" rtlCol="0" anchor="ctr"/>
          <a:lstStyle/>
          <a:p>
            <a:pPr indent="0" marL="0">
              <a:buNone/>
            </a:pPr>
            <a:r>
              <a:rPr lang="en-US" sz="1250" b="1" dirty="0">
                <a:solidFill>
                  <a:srgbClr val="23312B"/>
                </a:solidFill>
                <a:latin typeface="Calibri" pitchFamily="34" charset="0"/>
                <a:ea typeface="Calibri" pitchFamily="34" charset="-122"/>
                <a:cs typeface="Calibri" pitchFamily="34" charset="-120"/>
              </a:rPr>
              <a:t>Rigor &amp; reproducibility</a:t>
            </a:r>
            <a:endParaRPr lang="en-US" sz="1250" dirty="0"/>
          </a:p>
          <a:p>
            <a:pPr indent="0" marL="0">
              <a:buNone/>
            </a:pPr>
            <a:r>
              <a:rPr lang="en-US" sz="1100" i="1" dirty="0">
                <a:solidFill>
                  <a:srgbClr val="5E6E66"/>
                </a:solidFill>
                <a:latin typeface="Calibri" pitchFamily="34" charset="0"/>
                <a:ea typeface="Calibri" pitchFamily="34" charset="-122"/>
                <a:cs typeface="Calibri" pitchFamily="34" charset="-120"/>
              </a:rPr>
              <a:t>protocol, baselines, code, seeds</a:t>
            </a:r>
            <a:endParaRPr lang="en-US" sz="1250" dirty="0"/>
          </a:p>
        </p:txBody>
      </p:sp>
      <p:sp>
        <p:nvSpPr>
          <p:cNvPr id="16" name="Shape 10"/>
          <p:cNvSpPr/>
          <p:nvPr/>
        </p:nvSpPr>
        <p:spPr>
          <a:xfrm>
            <a:off x="502920" y="3630168"/>
            <a:ext cx="310896" cy="310896"/>
          </a:xfrm>
          <a:prstGeom prst="ellipse">
            <a:avLst/>
          </a:prstGeom>
          <a:solidFill>
            <a:srgbClr val="1E5A3F"/>
          </a:solidFill>
          <a:ln/>
        </p:spPr>
      </p:sp>
      <p:pic>
        <p:nvPicPr>
          <p:cNvPr id="17" name="Image 4" descr="preencoded.png">    </p:cNvPr>
          <p:cNvPicPr>
            <a:picLocks noChangeAspect="1"/>
          </p:cNvPicPr>
          <p:nvPr/>
        </p:nvPicPr>
        <p:blipFill>
          <a:blip r:embed="rId5"/>
          <a:stretch>
            <a:fillRect/>
          </a:stretch>
        </p:blipFill>
        <p:spPr>
          <a:xfrm>
            <a:off x="566928" y="3694176"/>
            <a:ext cx="182880" cy="182880"/>
          </a:xfrm>
          <a:prstGeom prst="rect">
            <a:avLst/>
          </a:prstGeom>
        </p:spPr>
      </p:pic>
      <p:sp>
        <p:nvSpPr>
          <p:cNvPr id="18" name="Text 11"/>
          <p:cNvSpPr/>
          <p:nvPr/>
        </p:nvSpPr>
        <p:spPr>
          <a:xfrm>
            <a:off x="932688" y="3575304"/>
            <a:ext cx="3429000" cy="640080"/>
          </a:xfrm>
          <a:prstGeom prst="rect">
            <a:avLst/>
          </a:prstGeom>
          <a:noFill/>
          <a:ln/>
        </p:spPr>
        <p:txBody>
          <a:bodyPr wrap="square" lIns="0" tIns="0" rIns="0" bIns="0" rtlCol="0" anchor="ctr"/>
          <a:lstStyle/>
          <a:p>
            <a:pPr indent="0" marL="0">
              <a:buNone/>
            </a:pPr>
            <a:r>
              <a:rPr lang="en-US" sz="1250" b="1" dirty="0">
                <a:solidFill>
                  <a:srgbClr val="23312B"/>
                </a:solidFill>
                <a:latin typeface="Calibri" pitchFamily="34" charset="0"/>
                <a:ea typeface="Calibri" pitchFamily="34" charset="-122"/>
                <a:cs typeface="Calibri" pitchFamily="34" charset="-120"/>
              </a:rPr>
              <a:t>Quality of evidence</a:t>
            </a:r>
            <a:endParaRPr lang="en-US" sz="1250" dirty="0"/>
          </a:p>
          <a:p>
            <a:pPr indent="0" marL="0">
              <a:buNone/>
            </a:pPr>
            <a:r>
              <a:rPr lang="en-US" sz="1100" i="1" dirty="0">
                <a:solidFill>
                  <a:srgbClr val="5E6E66"/>
                </a:solidFill>
                <a:latin typeface="Calibri" pitchFamily="34" charset="0"/>
                <a:ea typeface="Calibri" pitchFamily="34" charset="-122"/>
                <a:cs typeface="Calibri" pitchFamily="34" charset="-120"/>
              </a:rPr>
              <a:t>fair comparisons, honest error bars</a:t>
            </a:r>
            <a:endParaRPr lang="en-US" sz="1250" dirty="0"/>
          </a:p>
        </p:txBody>
      </p:sp>
      <p:sp>
        <p:nvSpPr>
          <p:cNvPr id="19" name="Text 12"/>
          <p:cNvSpPr/>
          <p:nvPr/>
        </p:nvSpPr>
        <p:spPr>
          <a:xfrm>
            <a:off x="4709160" y="1298448"/>
            <a:ext cx="3931920" cy="274320"/>
          </a:xfrm>
          <a:prstGeom prst="rect">
            <a:avLst/>
          </a:prstGeom>
          <a:noFill/>
          <a:ln/>
        </p:spPr>
        <p:txBody>
          <a:bodyPr wrap="square" lIns="0" tIns="0" rIns="0" bIns="0" rtlCol="0" anchor="ctr"/>
          <a:lstStyle/>
          <a:p>
            <a:pPr indent="0" marL="0">
              <a:buNone/>
            </a:pPr>
            <a:r>
              <a:rPr lang="en-US" sz="1300" b="1" dirty="0">
                <a:solidFill>
                  <a:srgbClr val="B3402F"/>
                </a:solidFill>
                <a:latin typeface="Calibri" pitchFamily="34" charset="0"/>
                <a:ea typeface="Calibri" pitchFamily="34" charset="-122"/>
                <a:cs typeface="Calibri" pitchFamily="34" charset="-120"/>
              </a:rPr>
              <a:t>Common desk-rejection causes</a:t>
            </a:r>
            <a:endParaRPr lang="en-US" sz="1300" dirty="0"/>
          </a:p>
        </p:txBody>
      </p:sp>
      <p:sp>
        <p:nvSpPr>
          <p:cNvPr id="20" name="Shape 13"/>
          <p:cNvSpPr/>
          <p:nvPr/>
        </p:nvSpPr>
        <p:spPr>
          <a:xfrm>
            <a:off x="4709160" y="1655064"/>
            <a:ext cx="310896" cy="310896"/>
          </a:xfrm>
          <a:prstGeom prst="ellipse">
            <a:avLst/>
          </a:prstGeom>
          <a:solidFill>
            <a:srgbClr val="F9EDEA"/>
          </a:solidFill>
          <a:ln/>
        </p:spPr>
      </p:sp>
      <p:pic>
        <p:nvPicPr>
          <p:cNvPr id="21" name="Image 5" descr="preencoded.png">    </p:cNvPr>
          <p:cNvPicPr>
            <a:picLocks noChangeAspect="1"/>
          </p:cNvPicPr>
          <p:nvPr/>
        </p:nvPicPr>
        <p:blipFill>
          <a:blip r:embed="rId6"/>
          <a:stretch>
            <a:fillRect/>
          </a:stretch>
        </p:blipFill>
        <p:spPr>
          <a:xfrm>
            <a:off x="4773168" y="1719072"/>
            <a:ext cx="182880" cy="182880"/>
          </a:xfrm>
          <a:prstGeom prst="rect">
            <a:avLst/>
          </a:prstGeom>
        </p:spPr>
      </p:pic>
      <p:sp>
        <p:nvSpPr>
          <p:cNvPr id="22" name="Text 14"/>
          <p:cNvSpPr/>
          <p:nvPr/>
        </p:nvSpPr>
        <p:spPr>
          <a:xfrm>
            <a:off x="5138928" y="1600200"/>
            <a:ext cx="3474720" cy="64008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Missing or weak baselines</a:t>
            </a:r>
            <a:endParaRPr lang="en-US" sz="1250" dirty="0"/>
          </a:p>
        </p:txBody>
      </p:sp>
      <p:sp>
        <p:nvSpPr>
          <p:cNvPr id="23" name="Shape 15"/>
          <p:cNvSpPr/>
          <p:nvPr/>
        </p:nvSpPr>
        <p:spPr>
          <a:xfrm>
            <a:off x="4709160" y="2313432"/>
            <a:ext cx="310896" cy="310896"/>
          </a:xfrm>
          <a:prstGeom prst="ellipse">
            <a:avLst/>
          </a:prstGeom>
          <a:solidFill>
            <a:srgbClr val="F9EDEA"/>
          </a:solidFill>
          <a:ln/>
        </p:spPr>
      </p:sp>
      <p:pic>
        <p:nvPicPr>
          <p:cNvPr id="24" name="Image 6" descr="preencoded.png">    </p:cNvPr>
          <p:cNvPicPr>
            <a:picLocks noChangeAspect="1"/>
          </p:cNvPicPr>
          <p:nvPr/>
        </p:nvPicPr>
        <p:blipFill>
          <a:blip r:embed="rId7"/>
          <a:stretch>
            <a:fillRect/>
          </a:stretch>
        </p:blipFill>
        <p:spPr>
          <a:xfrm>
            <a:off x="4773168" y="2377440"/>
            <a:ext cx="182880" cy="182880"/>
          </a:xfrm>
          <a:prstGeom prst="rect">
            <a:avLst/>
          </a:prstGeom>
        </p:spPr>
      </p:pic>
      <p:sp>
        <p:nvSpPr>
          <p:cNvPr id="25" name="Text 16"/>
          <p:cNvSpPr/>
          <p:nvPr/>
        </p:nvSpPr>
        <p:spPr>
          <a:xfrm>
            <a:off x="5138928" y="2258568"/>
            <a:ext cx="3474720" cy="64008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Unclear notation, undefined symbols</a:t>
            </a:r>
            <a:endParaRPr lang="en-US" sz="1250" dirty="0"/>
          </a:p>
        </p:txBody>
      </p:sp>
      <p:sp>
        <p:nvSpPr>
          <p:cNvPr id="26" name="Shape 17"/>
          <p:cNvSpPr/>
          <p:nvPr/>
        </p:nvSpPr>
        <p:spPr>
          <a:xfrm>
            <a:off x="4709160" y="2971800"/>
            <a:ext cx="310896" cy="310896"/>
          </a:xfrm>
          <a:prstGeom prst="ellipse">
            <a:avLst/>
          </a:prstGeom>
          <a:solidFill>
            <a:srgbClr val="F9EDEA"/>
          </a:solidFill>
          <a:ln/>
        </p:spPr>
      </p:sp>
      <p:pic>
        <p:nvPicPr>
          <p:cNvPr id="27" name="Image 7" descr="preencoded.png">    </p:cNvPr>
          <p:cNvPicPr>
            <a:picLocks noChangeAspect="1"/>
          </p:cNvPicPr>
          <p:nvPr/>
        </p:nvPicPr>
        <p:blipFill>
          <a:blip r:embed="rId8"/>
          <a:stretch>
            <a:fillRect/>
          </a:stretch>
        </p:blipFill>
        <p:spPr>
          <a:xfrm>
            <a:off x="4773168" y="3035808"/>
            <a:ext cx="182880" cy="182880"/>
          </a:xfrm>
          <a:prstGeom prst="rect">
            <a:avLst/>
          </a:prstGeom>
        </p:spPr>
      </p:pic>
      <p:sp>
        <p:nvSpPr>
          <p:cNvPr id="28" name="Text 18"/>
          <p:cNvSpPr/>
          <p:nvPr/>
        </p:nvSpPr>
        <p:spPr>
          <a:xfrm>
            <a:off x="5138928" y="2916936"/>
            <a:ext cx="3474720" cy="64008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Overclaiming (“solves”, “first ever”)</a:t>
            </a:r>
            <a:endParaRPr lang="en-US" sz="1250" dirty="0"/>
          </a:p>
        </p:txBody>
      </p:sp>
      <p:sp>
        <p:nvSpPr>
          <p:cNvPr id="29" name="Shape 19"/>
          <p:cNvSpPr/>
          <p:nvPr/>
        </p:nvSpPr>
        <p:spPr>
          <a:xfrm>
            <a:off x="4709160" y="3630168"/>
            <a:ext cx="310896" cy="310896"/>
          </a:xfrm>
          <a:prstGeom prst="ellipse">
            <a:avLst/>
          </a:prstGeom>
          <a:solidFill>
            <a:srgbClr val="F9EDEA"/>
          </a:solidFill>
          <a:ln/>
        </p:spPr>
      </p:sp>
      <p:pic>
        <p:nvPicPr>
          <p:cNvPr id="30" name="Image 8" descr="preencoded.png">    </p:cNvPr>
          <p:cNvPicPr>
            <a:picLocks noChangeAspect="1"/>
          </p:cNvPicPr>
          <p:nvPr/>
        </p:nvPicPr>
        <p:blipFill>
          <a:blip r:embed="rId9"/>
          <a:stretch>
            <a:fillRect/>
          </a:stretch>
        </p:blipFill>
        <p:spPr>
          <a:xfrm>
            <a:off x="4773168" y="3694176"/>
            <a:ext cx="182880" cy="182880"/>
          </a:xfrm>
          <a:prstGeom prst="rect">
            <a:avLst/>
          </a:prstGeom>
        </p:spPr>
      </p:pic>
      <p:sp>
        <p:nvSpPr>
          <p:cNvPr id="31" name="Text 20"/>
          <p:cNvSpPr/>
          <p:nvPr/>
        </p:nvSpPr>
        <p:spPr>
          <a:xfrm>
            <a:off x="5138928" y="3575304"/>
            <a:ext cx="3474720" cy="640080"/>
          </a:xfrm>
          <a:prstGeom prst="rect">
            <a:avLst/>
          </a:prstGeom>
          <a:noFill/>
          <a:ln/>
        </p:spPr>
        <p:txBody>
          <a:bodyPr wrap="square" lIns="0" tIns="0" rIns="0" bIns="0" rtlCol="0" anchor="t"/>
          <a:lstStyle/>
          <a:p>
            <a:pPr indent="0" marL="0">
              <a:buNone/>
            </a:pPr>
            <a:r>
              <a:rPr lang="en-US" sz="1250" dirty="0">
                <a:solidFill>
                  <a:srgbClr val="23312B"/>
                </a:solidFill>
                <a:latin typeface="Calibri" pitchFamily="34" charset="0"/>
                <a:ea typeface="Calibri" pitchFamily="34" charset="-122"/>
                <a:cs typeface="Calibri" pitchFamily="34" charset="-120"/>
              </a:rPr>
              <a:t>Unreadable figures, no axis labels</a:t>
            </a:r>
            <a:endParaRPr lang="en-US" sz="1250" dirty="0"/>
          </a:p>
        </p:txBody>
      </p:sp>
      <p:sp>
        <p:nvSpPr>
          <p:cNvPr id="32" name="Shape 21"/>
          <p:cNvSpPr/>
          <p:nvPr/>
        </p:nvSpPr>
        <p:spPr>
          <a:xfrm>
            <a:off x="502920" y="4224528"/>
            <a:ext cx="8138160" cy="566928"/>
          </a:xfrm>
          <a:prstGeom prst="roundRect">
            <a:avLst>
              <a:gd name="adj" fmla="val 14516"/>
            </a:avLst>
          </a:prstGeom>
          <a:solidFill>
            <a:srgbClr val="F7F4EC"/>
          </a:solidFill>
          <a:ln/>
        </p:spPr>
      </p:sp>
      <p:pic>
        <p:nvPicPr>
          <p:cNvPr id="33" name="Image 9" descr="preencoded.png">    </p:cNvPr>
          <p:cNvPicPr>
            <a:picLocks noChangeAspect="1"/>
          </p:cNvPicPr>
          <p:nvPr/>
        </p:nvPicPr>
        <p:blipFill>
          <a:blip r:embed="rId10"/>
          <a:stretch>
            <a:fillRect/>
          </a:stretch>
        </p:blipFill>
        <p:spPr>
          <a:xfrm>
            <a:off x="685800" y="4352544"/>
            <a:ext cx="310896" cy="310896"/>
          </a:xfrm>
          <a:prstGeom prst="rect">
            <a:avLst/>
          </a:prstGeom>
        </p:spPr>
      </p:pic>
      <p:sp>
        <p:nvSpPr>
          <p:cNvPr id="34" name="Text 22"/>
          <p:cNvSpPr/>
          <p:nvPr/>
        </p:nvSpPr>
        <p:spPr>
          <a:xfrm>
            <a:off x="1097280" y="4224528"/>
            <a:ext cx="7406640" cy="566928"/>
          </a:xfrm>
          <a:prstGeom prst="rect">
            <a:avLst/>
          </a:prstGeom>
          <a:noFill/>
          <a:ln/>
        </p:spPr>
        <p:txBody>
          <a:bodyPr wrap="square" lIns="0" tIns="0" rIns="0" bIns="0" rtlCol="0" anchor="ctr"/>
          <a:lstStyle/>
          <a:p>
            <a:pPr indent="0" marL="0">
              <a:buNone/>
            </a:pPr>
            <a:r>
              <a:rPr lang="en-US" sz="1250" b="1" dirty="0">
                <a:solidFill>
                  <a:srgbClr val="C9922F"/>
                </a:solidFill>
                <a:latin typeface="Calibri" pitchFamily="34" charset="0"/>
                <a:ea typeface="Calibri" pitchFamily="34" charset="-122"/>
                <a:cs typeface="Calibri" pitchFamily="34" charset="-120"/>
              </a:rPr>
              <a:t>Mini-quiz (show of hands): </a:t>
            </a:r>
            <a:pPr indent="0" marL="0">
              <a:buNone/>
            </a:pPr>
            <a:r>
              <a:rPr lang="en-US" sz="1250" dirty="0">
                <a:solidFill>
                  <a:srgbClr val="23312B"/>
                </a:solidFill>
                <a:latin typeface="Calibri" pitchFamily="34" charset="0"/>
                <a:ea typeface="Calibri" pitchFamily="34" charset="-122"/>
                <a:cs typeface="Calibri" pitchFamily="34" charset="-120"/>
              </a:rPr>
              <a:t>I read two abstracts aloud — A (vague, overclaiming) vs B (precise, evidence-based). Which one would YOU accept?</a:t>
            </a:r>
            <a:endParaRPr lang="en-US" sz="1250" dirty="0"/>
          </a:p>
        </p:txBody>
      </p:sp>
      <p:sp>
        <p:nvSpPr>
          <p:cNvPr id="35" name="Text 23"/>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36" name="Text 24"/>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11</a:t>
            </a:r>
            <a:endParaRPr lang="en-US" sz="850" dirty="0"/>
          </a:p>
        </p:txBody>
      </p:sp>
      <p:pic>
        <p:nvPicPr>
          <p:cNvPr id="101" name="QR kit" descr="img"/>
          <p:cNvPicPr>
            <a:picLocks noChangeAspect="1"/>
          </p:cNvPicPr>
          <p:nvPr/>
        </p:nvPicPr>
        <p:blipFill>
          <a:blip r:embed="rId13"/>
          <a:stretch>
            <a:fillRect/>
          </a:stretch>
        </p:blipFill>
        <p:spPr>
          <a:xfrm>
            <a:off x="7699248" y="4672584"/>
            <a:ext cx="402336" cy="402336"/>
          </a:xfrm>
          <a:prstGeom prst="rect">
            <a:avLst/>
          </a:prstGeom>
        </p:spPr>
      </p:pic>
      <p:sp>
        <p:nvSpPr>
          <p:cNvPr id="10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62A"/>
        </a:solidFill>
      </p:bgPr>
    </p:bg>
    <p:spTree>
      <p:nvGrpSpPr>
        <p:cNvPr id="1" name=""/>
        <p:cNvGrpSpPr/>
        <p:nvPr/>
      </p:nvGrpSpPr>
      <p:grpSpPr>
        <a:xfrm>
          <a:off x="0" y="0"/>
          <a:ext cx="0" cy="0"/>
          <a:chOff x="0" y="0"/>
          <a:chExt cx="0" cy="0"/>
        </a:xfrm>
      </p:grpSpPr>
      <p:sp>
        <p:nvSpPr>
          <p:cNvPr id="2" name="Shape 0"/>
          <p:cNvSpPr/>
          <p:nvPr/>
        </p:nvSpPr>
        <p:spPr>
          <a:xfrm>
            <a:off x="502920" y="502920"/>
            <a:ext cx="3108960" cy="384048"/>
          </a:xfrm>
          <a:prstGeom prst="roundRect">
            <a:avLst>
              <a:gd name="adj" fmla="val 50000"/>
            </a:avLst>
          </a:prstGeom>
          <a:solidFill>
            <a:srgbClr val="1E5A3F"/>
          </a:solidFill>
          <a:ln/>
        </p:spPr>
      </p:sp>
      <p:sp>
        <p:nvSpPr>
          <p:cNvPr id="3" name="Text 1"/>
          <p:cNvSpPr/>
          <p:nvPr/>
        </p:nvSpPr>
        <p:spPr>
          <a:xfrm>
            <a:off x="502920" y="502920"/>
            <a:ext cx="3108960" cy="384048"/>
          </a:xfrm>
          <a:prstGeom prst="rect">
            <a:avLst/>
          </a:prstGeom>
          <a:noFill/>
          <a:ln/>
        </p:spPr>
        <p:txBody>
          <a:bodyPr wrap="square" lIns="0" tIns="0" rIns="0" bIns="0" rtlCol="0" anchor="ctr"/>
          <a:lstStyle/>
          <a:p>
            <a:pPr algn="ctr" indent="0" marL="0">
              <a:buNone/>
            </a:pPr>
            <a:r>
              <a:rPr lang="en-US" sz="1050" b="1" spc="100" kern="0" dirty="0">
                <a:solidFill>
                  <a:srgbClr val="E9B44C"/>
                </a:solidFill>
                <a:latin typeface="Calibri" pitchFamily="34" charset="0"/>
                <a:ea typeface="Calibri" pitchFamily="34" charset="-122"/>
                <a:cs typeface="Calibri" pitchFamily="34" charset="-120"/>
              </a:rPr>
              <a:t>PART 2 · READING WITH PURPOSE · 14 MIN</a:t>
            </a:r>
            <a:endParaRPr lang="en-US" sz="1050" dirty="0"/>
          </a:p>
        </p:txBody>
      </p:sp>
      <p:sp>
        <p:nvSpPr>
          <p:cNvPr id="4" name="Text 2"/>
          <p:cNvSpPr/>
          <p:nvPr/>
        </p:nvSpPr>
        <p:spPr>
          <a:xfrm>
            <a:off x="502920" y="1143000"/>
            <a:ext cx="813816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Why we read badly</a:t>
            </a:r>
            <a:endParaRPr lang="en-US" sz="3600" dirty="0"/>
          </a:p>
        </p:txBody>
      </p:sp>
      <p:sp>
        <p:nvSpPr>
          <p:cNvPr id="5" name="Text 3"/>
          <p:cNvSpPr/>
          <p:nvPr/>
        </p:nvSpPr>
        <p:spPr>
          <a:xfrm>
            <a:off x="502920" y="1965960"/>
            <a:ext cx="7772400" cy="640080"/>
          </a:xfrm>
          <a:prstGeom prst="rect">
            <a:avLst/>
          </a:prstGeom>
          <a:noFill/>
          <a:ln/>
        </p:spPr>
        <p:txBody>
          <a:bodyPr wrap="square" lIns="0" tIns="0" rIns="0" bIns="0" rtlCol="0" anchor="ctr"/>
          <a:lstStyle/>
          <a:p>
            <a:pPr indent="0" marL="0">
              <a:buNone/>
            </a:pPr>
            <a:r>
              <a:rPr lang="en-US" sz="1450" dirty="0">
                <a:solidFill>
                  <a:srgbClr val="9CBFA7"/>
                </a:solidFill>
                <a:latin typeface="Calibri" pitchFamily="34" charset="0"/>
                <a:ea typeface="Calibri" pitchFamily="34" charset="-122"/>
                <a:cs typeface="Calibri" pitchFamily="34" charset="-120"/>
              </a:rPr>
              <a:t>The linear, page-by-page approach fails on math-heavy ML papers with 30-page appendices. You run out of time and confidence before reaching the point.</a:t>
            </a:r>
            <a:endParaRPr lang="en-US" sz="1450" dirty="0"/>
          </a:p>
        </p:txBody>
      </p:sp>
      <p:sp>
        <p:nvSpPr>
          <p:cNvPr id="6" name="Shape 4"/>
          <p:cNvSpPr/>
          <p:nvPr/>
        </p:nvSpPr>
        <p:spPr>
          <a:xfrm>
            <a:off x="502920" y="2788920"/>
            <a:ext cx="2606040" cy="1051560"/>
          </a:xfrm>
          <a:prstGeom prst="roundRect">
            <a:avLst>
              <a:gd name="adj" fmla="val 6957"/>
            </a:avLst>
          </a:prstGeom>
          <a:solidFill>
            <a:srgbClr val="1E5A3F"/>
          </a:solidFill>
          <a:ln/>
        </p:spPr>
      </p:sp>
      <p:pic>
        <p:nvPicPr>
          <p:cNvPr id="7" name="Image 0" descr="preencoded.png">    </p:cNvPr>
          <p:cNvPicPr>
            <a:picLocks noChangeAspect="1"/>
          </p:cNvPicPr>
          <p:nvPr/>
        </p:nvPicPr>
        <p:blipFill>
          <a:blip r:embed="rId1"/>
          <a:stretch>
            <a:fillRect/>
          </a:stretch>
        </p:blipFill>
        <p:spPr>
          <a:xfrm>
            <a:off x="685800" y="2944368"/>
            <a:ext cx="274320" cy="274320"/>
          </a:xfrm>
          <a:prstGeom prst="rect">
            <a:avLst/>
          </a:prstGeom>
        </p:spPr>
      </p:pic>
      <p:sp>
        <p:nvSpPr>
          <p:cNvPr id="8" name="Text 5"/>
          <p:cNvSpPr/>
          <p:nvPr/>
        </p:nvSpPr>
        <p:spPr>
          <a:xfrm>
            <a:off x="1051560" y="2907792"/>
            <a:ext cx="196596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Page 1 → page N</a:t>
            </a:r>
            <a:endParaRPr lang="en-US" sz="1300" dirty="0"/>
          </a:p>
          <a:p>
            <a:pPr indent="0" marL="0">
              <a:buNone/>
            </a:pPr>
            <a:r>
              <a:rPr lang="en-US" sz="1150" i="1" dirty="0">
                <a:solidFill>
                  <a:srgbClr val="9CBFA7"/>
                </a:solidFill>
                <a:latin typeface="Calibri" pitchFamily="34" charset="0"/>
                <a:ea typeface="Calibri" pitchFamily="34" charset="-122"/>
                <a:cs typeface="Calibri" pitchFamily="34" charset="-120"/>
              </a:rPr>
              <a:t>reading like a novel</a:t>
            </a:r>
            <a:endParaRPr lang="en-US" sz="1300" dirty="0"/>
          </a:p>
        </p:txBody>
      </p:sp>
      <p:sp>
        <p:nvSpPr>
          <p:cNvPr id="9" name="Shape 6"/>
          <p:cNvSpPr/>
          <p:nvPr/>
        </p:nvSpPr>
        <p:spPr>
          <a:xfrm>
            <a:off x="3291840" y="2788920"/>
            <a:ext cx="2606040" cy="1051560"/>
          </a:xfrm>
          <a:prstGeom prst="roundRect">
            <a:avLst>
              <a:gd name="adj" fmla="val 6957"/>
            </a:avLst>
          </a:prstGeom>
          <a:solidFill>
            <a:srgbClr val="1E5A3F"/>
          </a:solidFill>
          <a:ln/>
        </p:spPr>
      </p:sp>
      <p:pic>
        <p:nvPicPr>
          <p:cNvPr id="10" name="Image 1" descr="preencoded.png">    </p:cNvPr>
          <p:cNvPicPr>
            <a:picLocks noChangeAspect="1"/>
          </p:cNvPicPr>
          <p:nvPr/>
        </p:nvPicPr>
        <p:blipFill>
          <a:blip r:embed="rId2"/>
          <a:stretch>
            <a:fillRect/>
          </a:stretch>
        </p:blipFill>
        <p:spPr>
          <a:xfrm>
            <a:off x="3474720" y="2944368"/>
            <a:ext cx="274320" cy="274320"/>
          </a:xfrm>
          <a:prstGeom prst="rect">
            <a:avLst/>
          </a:prstGeom>
        </p:spPr>
      </p:pic>
      <p:sp>
        <p:nvSpPr>
          <p:cNvPr id="11" name="Text 7"/>
          <p:cNvSpPr/>
          <p:nvPr/>
        </p:nvSpPr>
        <p:spPr>
          <a:xfrm>
            <a:off x="3840480" y="2907792"/>
            <a:ext cx="196596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Every equation</a:t>
            </a:r>
            <a:endParaRPr lang="en-US" sz="1300" dirty="0"/>
          </a:p>
          <a:p>
            <a:pPr indent="0" marL="0">
              <a:buNone/>
            </a:pPr>
            <a:r>
              <a:rPr lang="en-US" sz="1150" i="1" dirty="0">
                <a:solidFill>
                  <a:srgbClr val="9CBFA7"/>
                </a:solidFill>
                <a:latin typeface="Calibri" pitchFamily="34" charset="0"/>
                <a:ea typeface="Calibri" pitchFamily="34" charset="-122"/>
                <a:cs typeface="Calibri" pitchFamily="34" charset="-120"/>
              </a:rPr>
              <a:t>decoding all proofs on first contact</a:t>
            </a:r>
            <a:endParaRPr lang="en-US" sz="1300" dirty="0"/>
          </a:p>
        </p:txBody>
      </p:sp>
      <p:sp>
        <p:nvSpPr>
          <p:cNvPr id="12" name="Shape 8"/>
          <p:cNvSpPr/>
          <p:nvPr/>
        </p:nvSpPr>
        <p:spPr>
          <a:xfrm>
            <a:off x="6080760" y="2788920"/>
            <a:ext cx="2606040" cy="1051560"/>
          </a:xfrm>
          <a:prstGeom prst="roundRect">
            <a:avLst>
              <a:gd name="adj" fmla="val 6957"/>
            </a:avLst>
          </a:prstGeom>
          <a:solidFill>
            <a:srgbClr val="1E5A3F"/>
          </a:solidFill>
          <a:ln/>
        </p:spPr>
      </p:sp>
      <p:pic>
        <p:nvPicPr>
          <p:cNvPr id="13" name="Image 2" descr="preencoded.png">    </p:cNvPr>
          <p:cNvPicPr>
            <a:picLocks noChangeAspect="1"/>
          </p:cNvPicPr>
          <p:nvPr/>
        </p:nvPicPr>
        <p:blipFill>
          <a:blip r:embed="rId3"/>
          <a:stretch>
            <a:fillRect/>
          </a:stretch>
        </p:blipFill>
        <p:spPr>
          <a:xfrm>
            <a:off x="6263640" y="2944368"/>
            <a:ext cx="274320" cy="274320"/>
          </a:xfrm>
          <a:prstGeom prst="rect">
            <a:avLst/>
          </a:prstGeom>
        </p:spPr>
      </p:pic>
      <p:sp>
        <p:nvSpPr>
          <p:cNvPr id="14" name="Text 9"/>
          <p:cNvSpPr/>
          <p:nvPr/>
        </p:nvSpPr>
        <p:spPr>
          <a:xfrm>
            <a:off x="6629400" y="2907792"/>
            <a:ext cx="196596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decision point</a:t>
            </a:r>
            <a:endParaRPr lang="en-US" sz="1300" dirty="0"/>
          </a:p>
          <a:p>
            <a:pPr indent="0" marL="0">
              <a:buNone/>
            </a:pPr>
            <a:r>
              <a:rPr lang="en-US" sz="1150" i="1" dirty="0">
                <a:solidFill>
                  <a:srgbClr val="9CBFA7"/>
                </a:solidFill>
                <a:latin typeface="Calibri" pitchFamily="34" charset="0"/>
                <a:ea typeface="Calibri" pitchFamily="34" charset="-122"/>
                <a:cs typeface="Calibri" pitchFamily="34" charset="-120"/>
              </a:rPr>
              <a:t>never asking “is this worth my time?”</a:t>
            </a:r>
            <a:endParaRPr lang="en-US" sz="1300" dirty="0"/>
          </a:p>
        </p:txBody>
      </p:sp>
      <p:sp>
        <p:nvSpPr>
          <p:cNvPr id="15" name="Text 10"/>
          <p:cNvSpPr/>
          <p:nvPr/>
        </p:nvSpPr>
        <p:spPr>
          <a:xfrm>
            <a:off x="502920" y="4114800"/>
            <a:ext cx="8138160" cy="640080"/>
          </a:xfrm>
          <a:prstGeom prst="rect">
            <a:avLst/>
          </a:prstGeom>
          <a:noFill/>
          <a:ln/>
        </p:spPr>
        <p:txBody>
          <a:bodyPr wrap="square" lIns="0" tIns="0" rIns="0" bIns="0" rtlCol="0" anchor="ctr"/>
          <a:lstStyle/>
          <a:p>
            <a:pPr indent="0" marL="0">
              <a:buNone/>
            </a:pPr>
            <a:r>
              <a:rPr lang="en-US" sz="1450" b="1" dirty="0">
                <a:solidFill>
                  <a:srgbClr val="E9B44C"/>
                </a:solidFill>
                <a:latin typeface="Calibri" pitchFamily="34" charset="0"/>
                <a:ea typeface="Calibri" pitchFamily="34" charset="-122"/>
                <a:cs typeface="Calibri" pitchFamily="34" charset="-120"/>
              </a:rPr>
              <a:t>The fix: </a:t>
            </a:r>
            <a:pPr indent="0" marL="0">
              <a:buNone/>
            </a:pPr>
            <a:r>
              <a:rPr lang="en-US" sz="1450" dirty="0">
                <a:solidFill>
                  <a:srgbClr val="FFFFFF"/>
                </a:solidFill>
                <a:latin typeface="Calibri" pitchFamily="34" charset="0"/>
                <a:ea typeface="Calibri" pitchFamily="34" charset="-122"/>
                <a:cs typeface="Calibri" pitchFamily="34" charset="-120"/>
              </a:rPr>
              <a:t>S. Keshav's “3-Pass” method (2007) — read a paper in up to three deliberate passes, each with a goal, a duration, and an exit door.</a:t>
            </a:r>
            <a:endParaRPr lang="en-US" sz="1450" dirty="0"/>
          </a:p>
        </p:txBody>
      </p:sp>
      <p:pic>
        <p:nvPicPr>
          <p:cNvPr id="103"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04"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E9B44C"/>
                </a:solidFill>
                <a:latin typeface="Calibri" pitchFamily="34" charset="0"/>
                <a:ea typeface="Calibri" pitchFamily="34" charset="-122"/>
                <a:cs typeface="Calibri" pitchFamily="34" charset="-120"/>
              </a:rPr>
              <a:t>Resource Kit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2 · THE 3-PASS METHOD</a:t>
            </a:r>
            <a:endParaRPr lang="en-US" sz="1100" dirty="0"/>
          </a:p>
        </p:txBody>
      </p:sp>
      <p:sp>
        <p:nvSpPr>
          <p:cNvPr id="5" name="Text 2"/>
          <p:cNvSpPr/>
          <p:nvPr/>
        </p:nvSpPr>
        <p:spPr>
          <a:xfrm>
            <a:off x="1051560" y="548640"/>
            <a:ext cx="603504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Pass 1 — The quick scan</a:t>
            </a:r>
            <a:endParaRPr lang="en-US" sz="2600" dirty="0"/>
          </a:p>
        </p:txBody>
      </p:sp>
      <p:sp>
        <p:nvSpPr>
          <p:cNvPr id="6" name="Shape 3"/>
          <p:cNvSpPr/>
          <p:nvPr/>
        </p:nvSpPr>
        <p:spPr>
          <a:xfrm>
            <a:off x="7818120" y="384048"/>
            <a:ext cx="868680" cy="329184"/>
          </a:xfrm>
          <a:prstGeom prst="roundRect">
            <a:avLst>
              <a:gd name="adj" fmla="val 50000"/>
            </a:avLst>
          </a:prstGeom>
          <a:solidFill>
            <a:srgbClr val="EFF5F0"/>
          </a:solidFill>
          <a:ln/>
        </p:spPr>
      </p:sp>
      <p:pic>
        <p:nvPicPr>
          <p:cNvPr id="7" name="Image 1" descr="preencoded.png">    </p:cNvPr>
          <p:cNvPicPr>
            <a:picLocks noChangeAspect="1"/>
          </p:cNvPicPr>
          <p:nvPr/>
        </p:nvPicPr>
        <p:blipFill>
          <a:blip r:embed="rId2"/>
          <a:stretch>
            <a:fillRect/>
          </a:stretch>
        </p:blipFill>
        <p:spPr>
          <a:xfrm>
            <a:off x="7891272" y="448056"/>
            <a:ext cx="201168" cy="201168"/>
          </a:xfrm>
          <a:prstGeom prst="rect">
            <a:avLst/>
          </a:prstGeom>
        </p:spPr>
      </p:pic>
      <p:sp>
        <p:nvSpPr>
          <p:cNvPr id="8" name="Text 4"/>
          <p:cNvSpPr/>
          <p:nvPr/>
        </p:nvSpPr>
        <p:spPr>
          <a:xfrm>
            <a:off x="8101584" y="384048"/>
            <a:ext cx="566928" cy="329184"/>
          </a:xfrm>
          <a:prstGeom prst="rect">
            <a:avLst/>
          </a:prstGeom>
          <a:noFill/>
          <a:ln/>
        </p:spPr>
        <p:txBody>
          <a:bodyPr wrap="square" lIns="0" tIns="0" rIns="0" bIns="0" rtlCol="0" anchor="ctr"/>
          <a:lstStyle/>
          <a:p>
            <a:pPr indent="0" marL="0">
              <a:buNone/>
            </a:pPr>
            <a:r>
              <a:rPr lang="en-US" sz="1050" b="1" dirty="0">
                <a:solidFill>
                  <a:srgbClr val="1E5A3F"/>
                </a:solidFill>
                <a:latin typeface="Calibri" pitchFamily="34" charset="0"/>
                <a:ea typeface="Calibri" pitchFamily="34" charset="-122"/>
                <a:cs typeface="Calibri" pitchFamily="34" charset="-120"/>
              </a:rPr>
              <a:t>5–10'</a:t>
            </a:r>
            <a:endParaRPr lang="en-US" sz="1050" dirty="0"/>
          </a:p>
        </p:txBody>
      </p:sp>
      <p:sp>
        <p:nvSpPr>
          <p:cNvPr id="9" name="Text 5"/>
          <p:cNvSpPr/>
          <p:nvPr/>
        </p:nvSpPr>
        <p:spPr>
          <a:xfrm>
            <a:off x="502920" y="1298448"/>
            <a:ext cx="8138160" cy="320040"/>
          </a:xfrm>
          <a:prstGeom prst="rect">
            <a:avLst/>
          </a:prstGeom>
          <a:noFill/>
          <a:ln/>
        </p:spPr>
        <p:txBody>
          <a:bodyPr wrap="square" lIns="0" tIns="0" rIns="0" bIns="0" rtlCol="0" anchor="ctr"/>
          <a:lstStyle/>
          <a:p>
            <a:pPr indent="0" marL="0">
              <a:buNone/>
            </a:pPr>
            <a:r>
              <a:rPr lang="en-US" sz="1350" b="1" dirty="0">
                <a:solidFill>
                  <a:srgbClr val="23312B"/>
                </a:solidFill>
                <a:latin typeface="Calibri" pitchFamily="34" charset="0"/>
                <a:ea typeface="Calibri" pitchFamily="34" charset="-122"/>
                <a:cs typeface="Calibri" pitchFamily="34" charset="-120"/>
              </a:rPr>
              <a:t>Read ONLY:  title · abstract · introduction · section headings · figures · conclusions.</a:t>
            </a:r>
            <a:endParaRPr lang="en-US" sz="1350" dirty="0"/>
          </a:p>
        </p:txBody>
      </p:sp>
      <p:sp>
        <p:nvSpPr>
          <p:cNvPr id="10" name="Text 6"/>
          <p:cNvSpPr/>
          <p:nvPr/>
        </p:nvSpPr>
        <p:spPr>
          <a:xfrm>
            <a:off x="502920" y="1664208"/>
            <a:ext cx="3657600" cy="274320"/>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Then answer the 5 C's:</a:t>
            </a:r>
            <a:endParaRPr lang="en-US" sz="1250" dirty="0"/>
          </a:p>
        </p:txBody>
      </p:sp>
      <p:sp>
        <p:nvSpPr>
          <p:cNvPr id="11" name="Shape 7"/>
          <p:cNvSpPr/>
          <p:nvPr/>
        </p:nvSpPr>
        <p:spPr>
          <a:xfrm>
            <a:off x="457200" y="2011680"/>
            <a:ext cx="1572768" cy="1554480"/>
          </a:xfrm>
          <a:prstGeom prst="roundRect">
            <a:avLst>
              <a:gd name="adj" fmla="val 4706"/>
            </a:avLst>
          </a:prstGeom>
          <a:solidFill>
            <a:srgbClr val="EFF5F0"/>
          </a:solidFill>
          <a:ln/>
          <a:effectLst>
            <a:outerShdw sx="100000" sy="100000" kx="0" ky="0" algn="bl" rotWithShape="0" blurRad="88900" dist="25400" dir="2700000">
              <a:srgbClr val="000000">
                <a:alpha val="14000"/>
              </a:srgbClr>
            </a:outerShdw>
          </a:effectLst>
        </p:spPr>
      </p:sp>
      <p:sp>
        <p:nvSpPr>
          <p:cNvPr id="12" name="Shape 8"/>
          <p:cNvSpPr/>
          <p:nvPr/>
        </p:nvSpPr>
        <p:spPr>
          <a:xfrm>
            <a:off x="969264" y="2176272"/>
            <a:ext cx="548640" cy="548640"/>
          </a:xfrm>
          <a:prstGeom prst="ellipse">
            <a:avLst/>
          </a:prstGeom>
          <a:solidFill>
            <a:srgbClr val="1E5A3F"/>
          </a:solidFill>
          <a:ln/>
        </p:spPr>
      </p:sp>
      <p:sp>
        <p:nvSpPr>
          <p:cNvPr id="13" name="Text 9"/>
          <p:cNvSpPr/>
          <p:nvPr/>
        </p:nvSpPr>
        <p:spPr>
          <a:xfrm>
            <a:off x="969264" y="21762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C1</a:t>
            </a:r>
            <a:endParaRPr lang="en-US" sz="1600" dirty="0"/>
          </a:p>
        </p:txBody>
      </p:sp>
      <p:sp>
        <p:nvSpPr>
          <p:cNvPr id="14" name="Text 10"/>
          <p:cNvSpPr/>
          <p:nvPr/>
        </p:nvSpPr>
        <p:spPr>
          <a:xfrm>
            <a:off x="512064" y="2788920"/>
            <a:ext cx="1463040" cy="256032"/>
          </a:xfrm>
          <a:prstGeom prst="rect">
            <a:avLst/>
          </a:prstGeom>
          <a:noFill/>
          <a:ln/>
        </p:spPr>
        <p:txBody>
          <a:bodyPr wrap="square" lIns="0" tIns="0" rIns="0" bIns="0" rtlCol="0" anchor="ctr"/>
          <a:lstStyle/>
          <a:p>
            <a:pPr algn="ctr" indent="0" marL="0">
              <a:buNone/>
            </a:pPr>
            <a:r>
              <a:rPr lang="en-US" sz="1150" b="1" dirty="0">
                <a:solidFill>
                  <a:srgbClr val="12362A"/>
                </a:solidFill>
                <a:latin typeface="Calibri" pitchFamily="34" charset="0"/>
                <a:ea typeface="Calibri" pitchFamily="34" charset="-122"/>
                <a:cs typeface="Calibri" pitchFamily="34" charset="-120"/>
              </a:rPr>
              <a:t>Category</a:t>
            </a:r>
            <a:endParaRPr lang="en-US" sz="1150" dirty="0"/>
          </a:p>
        </p:txBody>
      </p:sp>
      <p:sp>
        <p:nvSpPr>
          <p:cNvPr id="15" name="Text 11"/>
          <p:cNvSpPr/>
          <p:nvPr/>
        </p:nvSpPr>
        <p:spPr>
          <a:xfrm>
            <a:off x="548640" y="3044952"/>
            <a:ext cx="1389888" cy="502920"/>
          </a:xfrm>
          <a:prstGeom prst="rect">
            <a:avLst/>
          </a:prstGeom>
          <a:noFill/>
          <a:ln/>
        </p:spPr>
        <p:txBody>
          <a:bodyPr wrap="square" lIns="0" tIns="0" rIns="0" bIns="0" rtlCol="0" anchor="ctr"/>
          <a:lstStyle/>
          <a:p>
            <a:pPr algn="ctr" indent="0" marL="0">
              <a:buNone/>
            </a:pPr>
            <a:r>
              <a:rPr lang="en-US" sz="850" dirty="0">
                <a:solidFill>
                  <a:srgbClr val="5E6E66"/>
                </a:solidFill>
                <a:latin typeface="Calibri" pitchFamily="34" charset="0"/>
                <a:ea typeface="Calibri" pitchFamily="34" charset="-122"/>
                <a:cs typeface="Calibri" pitchFamily="34" charset="-120"/>
              </a:rPr>
              <a:t>What type of paper is it? (method, benchmark, survey…)</a:t>
            </a:r>
            <a:endParaRPr lang="en-US" sz="850" dirty="0"/>
          </a:p>
        </p:txBody>
      </p:sp>
      <p:sp>
        <p:nvSpPr>
          <p:cNvPr id="16" name="Shape 12"/>
          <p:cNvSpPr/>
          <p:nvPr/>
        </p:nvSpPr>
        <p:spPr>
          <a:xfrm>
            <a:off x="2157984" y="2011680"/>
            <a:ext cx="1572768" cy="1554480"/>
          </a:xfrm>
          <a:prstGeom prst="roundRect">
            <a:avLst>
              <a:gd name="adj" fmla="val 4706"/>
            </a:avLst>
          </a:prstGeom>
          <a:solidFill>
            <a:srgbClr val="EFF5F0"/>
          </a:solidFill>
          <a:ln/>
          <a:effectLst>
            <a:outerShdw sx="100000" sy="100000" kx="0" ky="0" algn="bl" rotWithShape="0" blurRad="88900" dist="25400" dir="2700000">
              <a:srgbClr val="000000">
                <a:alpha val="14000"/>
              </a:srgbClr>
            </a:outerShdw>
          </a:effectLst>
        </p:spPr>
      </p:sp>
      <p:sp>
        <p:nvSpPr>
          <p:cNvPr id="17" name="Shape 13"/>
          <p:cNvSpPr/>
          <p:nvPr/>
        </p:nvSpPr>
        <p:spPr>
          <a:xfrm>
            <a:off x="2670048" y="2176272"/>
            <a:ext cx="548640" cy="548640"/>
          </a:xfrm>
          <a:prstGeom prst="ellipse">
            <a:avLst/>
          </a:prstGeom>
          <a:solidFill>
            <a:srgbClr val="1E5A3F"/>
          </a:solidFill>
          <a:ln/>
        </p:spPr>
      </p:sp>
      <p:sp>
        <p:nvSpPr>
          <p:cNvPr id="18" name="Text 14"/>
          <p:cNvSpPr/>
          <p:nvPr/>
        </p:nvSpPr>
        <p:spPr>
          <a:xfrm>
            <a:off x="2670048" y="21762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C2</a:t>
            </a:r>
            <a:endParaRPr lang="en-US" sz="1600" dirty="0"/>
          </a:p>
        </p:txBody>
      </p:sp>
      <p:sp>
        <p:nvSpPr>
          <p:cNvPr id="19" name="Text 15"/>
          <p:cNvSpPr/>
          <p:nvPr/>
        </p:nvSpPr>
        <p:spPr>
          <a:xfrm>
            <a:off x="2212848" y="2788920"/>
            <a:ext cx="1463040" cy="256032"/>
          </a:xfrm>
          <a:prstGeom prst="rect">
            <a:avLst/>
          </a:prstGeom>
          <a:noFill/>
          <a:ln/>
        </p:spPr>
        <p:txBody>
          <a:bodyPr wrap="square" lIns="0" tIns="0" rIns="0" bIns="0" rtlCol="0" anchor="ctr"/>
          <a:lstStyle/>
          <a:p>
            <a:pPr algn="ctr" indent="0" marL="0">
              <a:buNone/>
            </a:pPr>
            <a:r>
              <a:rPr lang="en-US" sz="1150" b="1" dirty="0">
                <a:solidFill>
                  <a:srgbClr val="12362A"/>
                </a:solidFill>
                <a:latin typeface="Calibri" pitchFamily="34" charset="0"/>
                <a:ea typeface="Calibri" pitchFamily="34" charset="-122"/>
                <a:cs typeface="Calibri" pitchFamily="34" charset="-120"/>
              </a:rPr>
              <a:t>Context</a:t>
            </a:r>
            <a:endParaRPr lang="en-US" sz="1150" dirty="0"/>
          </a:p>
        </p:txBody>
      </p:sp>
      <p:sp>
        <p:nvSpPr>
          <p:cNvPr id="20" name="Text 16"/>
          <p:cNvSpPr/>
          <p:nvPr/>
        </p:nvSpPr>
        <p:spPr>
          <a:xfrm>
            <a:off x="2249424" y="3044952"/>
            <a:ext cx="1389888" cy="502920"/>
          </a:xfrm>
          <a:prstGeom prst="rect">
            <a:avLst/>
          </a:prstGeom>
          <a:noFill/>
          <a:ln/>
        </p:spPr>
        <p:txBody>
          <a:bodyPr wrap="square" lIns="0" tIns="0" rIns="0" bIns="0" rtlCol="0" anchor="ctr"/>
          <a:lstStyle/>
          <a:p>
            <a:pPr algn="ctr" indent="0" marL="0">
              <a:buNone/>
            </a:pPr>
            <a:r>
              <a:rPr lang="en-US" sz="850" dirty="0">
                <a:solidFill>
                  <a:srgbClr val="5E6E66"/>
                </a:solidFill>
                <a:latin typeface="Calibri" pitchFamily="34" charset="0"/>
                <a:ea typeface="Calibri" pitchFamily="34" charset="-122"/>
                <a:cs typeface="Calibri" pitchFamily="34" charset="-120"/>
              </a:rPr>
              <a:t>Which prior work does it build on?</a:t>
            </a:r>
            <a:endParaRPr lang="en-US" sz="850" dirty="0"/>
          </a:p>
        </p:txBody>
      </p:sp>
      <p:sp>
        <p:nvSpPr>
          <p:cNvPr id="21" name="Shape 17"/>
          <p:cNvSpPr/>
          <p:nvPr/>
        </p:nvSpPr>
        <p:spPr>
          <a:xfrm>
            <a:off x="3858768" y="2011680"/>
            <a:ext cx="1572768" cy="1554480"/>
          </a:xfrm>
          <a:prstGeom prst="roundRect">
            <a:avLst>
              <a:gd name="adj" fmla="val 4706"/>
            </a:avLst>
          </a:prstGeom>
          <a:solidFill>
            <a:srgbClr val="EFF5F0"/>
          </a:solidFill>
          <a:ln/>
          <a:effectLst>
            <a:outerShdw sx="100000" sy="100000" kx="0" ky="0" algn="bl" rotWithShape="0" blurRad="88900" dist="25400" dir="2700000">
              <a:srgbClr val="000000">
                <a:alpha val="14000"/>
              </a:srgbClr>
            </a:outerShdw>
          </a:effectLst>
        </p:spPr>
      </p:sp>
      <p:sp>
        <p:nvSpPr>
          <p:cNvPr id="22" name="Shape 18"/>
          <p:cNvSpPr/>
          <p:nvPr/>
        </p:nvSpPr>
        <p:spPr>
          <a:xfrm>
            <a:off x="4370832" y="2176272"/>
            <a:ext cx="548640" cy="548640"/>
          </a:xfrm>
          <a:prstGeom prst="ellipse">
            <a:avLst/>
          </a:prstGeom>
          <a:solidFill>
            <a:srgbClr val="1E5A3F"/>
          </a:solidFill>
          <a:ln/>
        </p:spPr>
      </p:sp>
      <p:sp>
        <p:nvSpPr>
          <p:cNvPr id="23" name="Text 19"/>
          <p:cNvSpPr/>
          <p:nvPr/>
        </p:nvSpPr>
        <p:spPr>
          <a:xfrm>
            <a:off x="4370832" y="21762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C3</a:t>
            </a:r>
            <a:endParaRPr lang="en-US" sz="1600" dirty="0"/>
          </a:p>
        </p:txBody>
      </p:sp>
      <p:sp>
        <p:nvSpPr>
          <p:cNvPr id="24" name="Text 20"/>
          <p:cNvSpPr/>
          <p:nvPr/>
        </p:nvSpPr>
        <p:spPr>
          <a:xfrm>
            <a:off x="3913632" y="2788920"/>
            <a:ext cx="1463040" cy="256032"/>
          </a:xfrm>
          <a:prstGeom prst="rect">
            <a:avLst/>
          </a:prstGeom>
          <a:noFill/>
          <a:ln/>
        </p:spPr>
        <p:txBody>
          <a:bodyPr wrap="square" lIns="0" tIns="0" rIns="0" bIns="0" rtlCol="0" anchor="ctr"/>
          <a:lstStyle/>
          <a:p>
            <a:pPr algn="ctr" indent="0" marL="0">
              <a:buNone/>
            </a:pPr>
            <a:r>
              <a:rPr lang="en-US" sz="1150" b="1" dirty="0">
                <a:solidFill>
                  <a:srgbClr val="12362A"/>
                </a:solidFill>
                <a:latin typeface="Calibri" pitchFamily="34" charset="0"/>
                <a:ea typeface="Calibri" pitchFamily="34" charset="-122"/>
                <a:cs typeface="Calibri" pitchFamily="34" charset="-120"/>
              </a:rPr>
              <a:t>Correctness</a:t>
            </a:r>
            <a:endParaRPr lang="en-US" sz="1150" dirty="0"/>
          </a:p>
        </p:txBody>
      </p:sp>
      <p:sp>
        <p:nvSpPr>
          <p:cNvPr id="25" name="Text 21"/>
          <p:cNvSpPr/>
          <p:nvPr/>
        </p:nvSpPr>
        <p:spPr>
          <a:xfrm>
            <a:off x="3950208" y="3044952"/>
            <a:ext cx="1389888" cy="502920"/>
          </a:xfrm>
          <a:prstGeom prst="rect">
            <a:avLst/>
          </a:prstGeom>
          <a:noFill/>
          <a:ln/>
        </p:spPr>
        <p:txBody>
          <a:bodyPr wrap="square" lIns="0" tIns="0" rIns="0" bIns="0" rtlCol="0" anchor="ctr"/>
          <a:lstStyle/>
          <a:p>
            <a:pPr algn="ctr" indent="0" marL="0">
              <a:buNone/>
            </a:pPr>
            <a:r>
              <a:rPr lang="en-US" sz="850" dirty="0">
                <a:solidFill>
                  <a:srgbClr val="5E6E66"/>
                </a:solidFill>
                <a:latin typeface="Calibri" pitchFamily="34" charset="0"/>
                <a:ea typeface="Calibri" pitchFamily="34" charset="-122"/>
                <a:cs typeface="Calibri" pitchFamily="34" charset="-120"/>
              </a:rPr>
              <a:t>Do the assumptions look valid?</a:t>
            </a:r>
            <a:endParaRPr lang="en-US" sz="850" dirty="0"/>
          </a:p>
        </p:txBody>
      </p:sp>
      <p:sp>
        <p:nvSpPr>
          <p:cNvPr id="26" name="Shape 22"/>
          <p:cNvSpPr/>
          <p:nvPr/>
        </p:nvSpPr>
        <p:spPr>
          <a:xfrm>
            <a:off x="5559552" y="2011680"/>
            <a:ext cx="1572768" cy="1554480"/>
          </a:xfrm>
          <a:prstGeom prst="roundRect">
            <a:avLst>
              <a:gd name="adj" fmla="val 4706"/>
            </a:avLst>
          </a:prstGeom>
          <a:solidFill>
            <a:srgbClr val="EFF5F0"/>
          </a:solidFill>
          <a:ln/>
          <a:effectLst>
            <a:outerShdw sx="100000" sy="100000" kx="0" ky="0" algn="bl" rotWithShape="0" blurRad="88900" dist="25400" dir="2700000">
              <a:srgbClr val="000000">
                <a:alpha val="14000"/>
              </a:srgbClr>
            </a:outerShdw>
          </a:effectLst>
        </p:spPr>
      </p:sp>
      <p:sp>
        <p:nvSpPr>
          <p:cNvPr id="27" name="Shape 23"/>
          <p:cNvSpPr/>
          <p:nvPr/>
        </p:nvSpPr>
        <p:spPr>
          <a:xfrm>
            <a:off x="6071616" y="2176272"/>
            <a:ext cx="548640" cy="548640"/>
          </a:xfrm>
          <a:prstGeom prst="ellipse">
            <a:avLst/>
          </a:prstGeom>
          <a:solidFill>
            <a:srgbClr val="1E5A3F"/>
          </a:solidFill>
          <a:ln/>
        </p:spPr>
      </p:sp>
      <p:sp>
        <p:nvSpPr>
          <p:cNvPr id="28" name="Text 24"/>
          <p:cNvSpPr/>
          <p:nvPr/>
        </p:nvSpPr>
        <p:spPr>
          <a:xfrm>
            <a:off x="6071616" y="21762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C4</a:t>
            </a:r>
            <a:endParaRPr lang="en-US" sz="1600" dirty="0"/>
          </a:p>
        </p:txBody>
      </p:sp>
      <p:sp>
        <p:nvSpPr>
          <p:cNvPr id="29" name="Text 25"/>
          <p:cNvSpPr/>
          <p:nvPr/>
        </p:nvSpPr>
        <p:spPr>
          <a:xfrm>
            <a:off x="5614416" y="2788920"/>
            <a:ext cx="1463040" cy="256032"/>
          </a:xfrm>
          <a:prstGeom prst="rect">
            <a:avLst/>
          </a:prstGeom>
          <a:noFill/>
          <a:ln/>
        </p:spPr>
        <p:txBody>
          <a:bodyPr wrap="square" lIns="0" tIns="0" rIns="0" bIns="0" rtlCol="0" anchor="ctr"/>
          <a:lstStyle/>
          <a:p>
            <a:pPr algn="ctr" indent="0" marL="0">
              <a:buNone/>
            </a:pPr>
            <a:r>
              <a:rPr lang="en-US" sz="1150" b="1" dirty="0">
                <a:solidFill>
                  <a:srgbClr val="12362A"/>
                </a:solidFill>
                <a:latin typeface="Calibri" pitchFamily="34" charset="0"/>
                <a:ea typeface="Calibri" pitchFamily="34" charset="-122"/>
                <a:cs typeface="Calibri" pitchFamily="34" charset="-120"/>
              </a:rPr>
              <a:t>Contributions</a:t>
            </a:r>
            <a:endParaRPr lang="en-US" sz="1150" dirty="0"/>
          </a:p>
        </p:txBody>
      </p:sp>
      <p:sp>
        <p:nvSpPr>
          <p:cNvPr id="30" name="Text 26"/>
          <p:cNvSpPr/>
          <p:nvPr/>
        </p:nvSpPr>
        <p:spPr>
          <a:xfrm>
            <a:off x="5650992" y="3044952"/>
            <a:ext cx="1389888" cy="502920"/>
          </a:xfrm>
          <a:prstGeom prst="rect">
            <a:avLst/>
          </a:prstGeom>
          <a:noFill/>
          <a:ln/>
        </p:spPr>
        <p:txBody>
          <a:bodyPr wrap="square" lIns="0" tIns="0" rIns="0" bIns="0" rtlCol="0" anchor="ctr"/>
          <a:lstStyle/>
          <a:p>
            <a:pPr algn="ctr" indent="0" marL="0">
              <a:buNone/>
            </a:pPr>
            <a:r>
              <a:rPr lang="en-US" sz="850" dirty="0">
                <a:solidFill>
                  <a:srgbClr val="5E6E66"/>
                </a:solidFill>
                <a:latin typeface="Calibri" pitchFamily="34" charset="0"/>
                <a:ea typeface="Calibri" pitchFamily="34" charset="-122"/>
                <a:cs typeface="Calibri" pitchFamily="34" charset="-120"/>
              </a:rPr>
              <a:t>What are the claimed novelties?</a:t>
            </a:r>
            <a:endParaRPr lang="en-US" sz="850" dirty="0"/>
          </a:p>
        </p:txBody>
      </p:sp>
      <p:sp>
        <p:nvSpPr>
          <p:cNvPr id="31" name="Shape 27"/>
          <p:cNvSpPr/>
          <p:nvPr/>
        </p:nvSpPr>
        <p:spPr>
          <a:xfrm>
            <a:off x="7260336" y="2011680"/>
            <a:ext cx="1572768" cy="1554480"/>
          </a:xfrm>
          <a:prstGeom prst="roundRect">
            <a:avLst>
              <a:gd name="adj" fmla="val 4706"/>
            </a:avLst>
          </a:prstGeom>
          <a:solidFill>
            <a:srgbClr val="EFF5F0"/>
          </a:solidFill>
          <a:ln/>
          <a:effectLst>
            <a:outerShdw sx="100000" sy="100000" kx="0" ky="0" algn="bl" rotWithShape="0" blurRad="88900" dist="25400" dir="2700000">
              <a:srgbClr val="000000">
                <a:alpha val="14000"/>
              </a:srgbClr>
            </a:outerShdw>
          </a:effectLst>
        </p:spPr>
      </p:sp>
      <p:sp>
        <p:nvSpPr>
          <p:cNvPr id="32" name="Shape 28"/>
          <p:cNvSpPr/>
          <p:nvPr/>
        </p:nvSpPr>
        <p:spPr>
          <a:xfrm>
            <a:off x="7772400" y="2176272"/>
            <a:ext cx="548640" cy="548640"/>
          </a:xfrm>
          <a:prstGeom prst="ellipse">
            <a:avLst/>
          </a:prstGeom>
          <a:solidFill>
            <a:srgbClr val="1E5A3F"/>
          </a:solidFill>
          <a:ln/>
        </p:spPr>
      </p:sp>
      <p:sp>
        <p:nvSpPr>
          <p:cNvPr id="33" name="Text 29"/>
          <p:cNvSpPr/>
          <p:nvPr/>
        </p:nvSpPr>
        <p:spPr>
          <a:xfrm>
            <a:off x="7772400" y="21762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C5</a:t>
            </a:r>
            <a:endParaRPr lang="en-US" sz="1600" dirty="0"/>
          </a:p>
        </p:txBody>
      </p:sp>
      <p:sp>
        <p:nvSpPr>
          <p:cNvPr id="34" name="Text 30"/>
          <p:cNvSpPr/>
          <p:nvPr/>
        </p:nvSpPr>
        <p:spPr>
          <a:xfrm>
            <a:off x="7315200" y="2788920"/>
            <a:ext cx="1463040" cy="256032"/>
          </a:xfrm>
          <a:prstGeom prst="rect">
            <a:avLst/>
          </a:prstGeom>
          <a:noFill/>
          <a:ln/>
        </p:spPr>
        <p:txBody>
          <a:bodyPr wrap="square" lIns="0" tIns="0" rIns="0" bIns="0" rtlCol="0" anchor="ctr"/>
          <a:lstStyle/>
          <a:p>
            <a:pPr algn="ctr" indent="0" marL="0">
              <a:buNone/>
            </a:pPr>
            <a:r>
              <a:rPr lang="en-US" sz="1150" b="1" dirty="0">
                <a:solidFill>
                  <a:srgbClr val="12362A"/>
                </a:solidFill>
                <a:latin typeface="Calibri" pitchFamily="34" charset="0"/>
                <a:ea typeface="Calibri" pitchFamily="34" charset="-122"/>
                <a:cs typeface="Calibri" pitchFamily="34" charset="-120"/>
              </a:rPr>
              <a:t>Clarity</a:t>
            </a:r>
            <a:endParaRPr lang="en-US" sz="1150" dirty="0"/>
          </a:p>
        </p:txBody>
      </p:sp>
      <p:sp>
        <p:nvSpPr>
          <p:cNvPr id="35" name="Text 31"/>
          <p:cNvSpPr/>
          <p:nvPr/>
        </p:nvSpPr>
        <p:spPr>
          <a:xfrm>
            <a:off x="7351776" y="3044952"/>
            <a:ext cx="1389888" cy="502920"/>
          </a:xfrm>
          <a:prstGeom prst="rect">
            <a:avLst/>
          </a:prstGeom>
          <a:noFill/>
          <a:ln/>
        </p:spPr>
        <p:txBody>
          <a:bodyPr wrap="square" lIns="0" tIns="0" rIns="0" bIns="0" rtlCol="0" anchor="ctr"/>
          <a:lstStyle/>
          <a:p>
            <a:pPr algn="ctr" indent="0" marL="0">
              <a:buNone/>
            </a:pPr>
            <a:r>
              <a:rPr lang="en-US" sz="850" dirty="0">
                <a:solidFill>
                  <a:srgbClr val="5E6E66"/>
                </a:solidFill>
                <a:latin typeface="Calibri" pitchFamily="34" charset="0"/>
                <a:ea typeface="Calibri" pitchFamily="34" charset="-122"/>
                <a:cs typeface="Calibri" pitchFamily="34" charset="-120"/>
              </a:rPr>
              <a:t>Is it well written?</a:t>
            </a:r>
            <a:endParaRPr lang="en-US" sz="850" dirty="0"/>
          </a:p>
        </p:txBody>
      </p:sp>
      <p:sp>
        <p:nvSpPr>
          <p:cNvPr id="36" name="Shape 32"/>
          <p:cNvSpPr/>
          <p:nvPr/>
        </p:nvSpPr>
        <p:spPr>
          <a:xfrm>
            <a:off x="502920" y="3794760"/>
            <a:ext cx="8138160" cy="777240"/>
          </a:xfrm>
          <a:prstGeom prst="roundRect">
            <a:avLst>
              <a:gd name="adj" fmla="val 10588"/>
            </a:avLst>
          </a:prstGeom>
          <a:solidFill>
            <a:srgbClr val="F7F4EC"/>
          </a:solidFill>
          <a:ln/>
        </p:spPr>
      </p:sp>
      <p:pic>
        <p:nvPicPr>
          <p:cNvPr id="37" name="Image 2" descr="preencoded.png">    </p:cNvPr>
          <p:cNvPicPr>
            <a:picLocks noChangeAspect="1"/>
          </p:cNvPicPr>
          <p:nvPr/>
        </p:nvPicPr>
        <p:blipFill>
          <a:blip r:embed="rId3"/>
          <a:stretch>
            <a:fillRect/>
          </a:stretch>
        </p:blipFill>
        <p:spPr>
          <a:xfrm>
            <a:off x="713232" y="4023360"/>
            <a:ext cx="329184" cy="329184"/>
          </a:xfrm>
          <a:prstGeom prst="rect">
            <a:avLst/>
          </a:prstGeom>
        </p:spPr>
      </p:pic>
      <p:sp>
        <p:nvSpPr>
          <p:cNvPr id="38" name="Text 33"/>
          <p:cNvSpPr/>
          <p:nvPr/>
        </p:nvSpPr>
        <p:spPr>
          <a:xfrm>
            <a:off x="1143000" y="3794760"/>
            <a:ext cx="7360920" cy="777240"/>
          </a:xfrm>
          <a:prstGeom prst="rect">
            <a:avLst/>
          </a:prstGeom>
          <a:noFill/>
          <a:ln/>
        </p:spPr>
        <p:txBody>
          <a:bodyPr wrap="square" lIns="0" tIns="0" rIns="0" bIns="0" rtlCol="0" anchor="ctr"/>
          <a:lstStyle/>
          <a:p>
            <a:pPr indent="0" marL="0">
              <a:buNone/>
            </a:pPr>
            <a:r>
              <a:rPr lang="en-US" sz="1250" b="1" dirty="0">
                <a:solidFill>
                  <a:srgbClr val="C9922F"/>
                </a:solidFill>
                <a:latin typeface="Calibri" pitchFamily="34" charset="0"/>
                <a:ea typeface="Calibri" pitchFamily="34" charset="-122"/>
                <a:cs typeface="Calibri" pitchFamily="34" charset="-120"/>
              </a:rPr>
              <a:t>Exit door: </a:t>
            </a:r>
            <a:pPr indent="0" marL="0">
              <a:buNone/>
            </a:pPr>
            <a:r>
              <a:rPr lang="en-US" sz="1250" dirty="0">
                <a:solidFill>
                  <a:srgbClr val="23312B"/>
                </a:solidFill>
                <a:latin typeface="Calibri" pitchFamily="34" charset="0"/>
                <a:ea typeface="Calibri" pitchFamily="34" charset="-122"/>
                <a:cs typeface="Calibri" pitchFamily="34" charset="-120"/>
              </a:rPr>
              <a:t>after Pass 1 you DECIDE — discard, keep for reference, or go deeper. Most papers legitimately stop here. This is also how reviewers and busy PIs will read YOUR paper.</a:t>
            </a:r>
            <a:endParaRPr lang="en-US" sz="1250" dirty="0"/>
          </a:p>
        </p:txBody>
      </p:sp>
      <p:sp>
        <p:nvSpPr>
          <p:cNvPr id="39" name="Text 34"/>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40" name="Text 35"/>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15</a:t>
            </a:r>
            <a:endParaRPr lang="en-US" sz="850" dirty="0"/>
          </a:p>
        </p:txBody>
      </p:sp>
      <p:pic>
        <p:nvPicPr>
          <p:cNvPr id="105"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06"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2 · THE 3-PASS METHOD</a:t>
            </a:r>
            <a:endParaRPr lang="en-US" sz="1100" dirty="0"/>
          </a:p>
        </p:txBody>
      </p:sp>
      <p:sp>
        <p:nvSpPr>
          <p:cNvPr id="5" name="Text 2"/>
          <p:cNvSpPr/>
          <p:nvPr/>
        </p:nvSpPr>
        <p:spPr>
          <a:xfrm>
            <a:off x="1051560" y="548640"/>
            <a:ext cx="603504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Pass 2 — Grasping the content</a:t>
            </a:r>
            <a:endParaRPr lang="en-US" sz="2600" dirty="0"/>
          </a:p>
        </p:txBody>
      </p:sp>
      <p:sp>
        <p:nvSpPr>
          <p:cNvPr id="6" name="Shape 3"/>
          <p:cNvSpPr/>
          <p:nvPr/>
        </p:nvSpPr>
        <p:spPr>
          <a:xfrm>
            <a:off x="7818120" y="384048"/>
            <a:ext cx="868680" cy="329184"/>
          </a:xfrm>
          <a:prstGeom prst="roundRect">
            <a:avLst>
              <a:gd name="adj" fmla="val 50000"/>
            </a:avLst>
          </a:prstGeom>
          <a:solidFill>
            <a:srgbClr val="EFF5F0"/>
          </a:solidFill>
          <a:ln/>
        </p:spPr>
      </p:sp>
      <p:pic>
        <p:nvPicPr>
          <p:cNvPr id="7" name="Image 1" descr="preencoded.png">    </p:cNvPr>
          <p:cNvPicPr>
            <a:picLocks noChangeAspect="1"/>
          </p:cNvPicPr>
          <p:nvPr/>
        </p:nvPicPr>
        <p:blipFill>
          <a:blip r:embed="rId2"/>
          <a:stretch>
            <a:fillRect/>
          </a:stretch>
        </p:blipFill>
        <p:spPr>
          <a:xfrm>
            <a:off x="7891272" y="448056"/>
            <a:ext cx="201168" cy="201168"/>
          </a:xfrm>
          <a:prstGeom prst="rect">
            <a:avLst/>
          </a:prstGeom>
        </p:spPr>
      </p:pic>
      <p:sp>
        <p:nvSpPr>
          <p:cNvPr id="8" name="Text 4"/>
          <p:cNvSpPr/>
          <p:nvPr/>
        </p:nvSpPr>
        <p:spPr>
          <a:xfrm>
            <a:off x="8101584" y="384048"/>
            <a:ext cx="566928" cy="329184"/>
          </a:xfrm>
          <a:prstGeom prst="rect">
            <a:avLst/>
          </a:prstGeom>
          <a:noFill/>
          <a:ln/>
        </p:spPr>
        <p:txBody>
          <a:bodyPr wrap="square" lIns="0" tIns="0" rIns="0" bIns="0" rtlCol="0" anchor="ctr"/>
          <a:lstStyle/>
          <a:p>
            <a:pPr indent="0" marL="0">
              <a:buNone/>
            </a:pPr>
            <a:r>
              <a:rPr lang="en-US" sz="1050" b="1" dirty="0">
                <a:solidFill>
                  <a:srgbClr val="1E5A3F"/>
                </a:solidFill>
                <a:latin typeface="Calibri" pitchFamily="34" charset="0"/>
                <a:ea typeface="Calibri" pitchFamily="34" charset="-122"/>
                <a:cs typeface="Calibri" pitchFamily="34" charset="-120"/>
              </a:rPr>
              <a:t>≤ 1 h</a:t>
            </a:r>
            <a:endParaRPr lang="en-US" sz="1050" dirty="0"/>
          </a:p>
        </p:txBody>
      </p:sp>
      <p:sp>
        <p:nvSpPr>
          <p:cNvPr id="9" name="Shape 5"/>
          <p:cNvSpPr/>
          <p:nvPr/>
        </p:nvSpPr>
        <p:spPr>
          <a:xfrm>
            <a:off x="502920" y="1371600"/>
            <a:ext cx="365760" cy="365760"/>
          </a:xfrm>
          <a:prstGeom prst="ellipse">
            <a:avLst/>
          </a:prstGeom>
          <a:solidFill>
            <a:srgbClr val="1E5A3F"/>
          </a:solidFill>
          <a:ln/>
        </p:spPr>
      </p:sp>
      <p:sp>
        <p:nvSpPr>
          <p:cNvPr id="10" name="Text 6"/>
          <p:cNvSpPr/>
          <p:nvPr/>
        </p:nvSpPr>
        <p:spPr>
          <a:xfrm>
            <a:off x="502920" y="13716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7"/>
          <p:cNvSpPr/>
          <p:nvPr/>
        </p:nvSpPr>
        <p:spPr>
          <a:xfrm>
            <a:off x="1005840" y="1389888"/>
            <a:ext cx="4892040" cy="502920"/>
          </a:xfrm>
          <a:prstGeom prst="rect">
            <a:avLst/>
          </a:prstGeom>
          <a:noFill/>
          <a:ln/>
        </p:spPr>
        <p:txBody>
          <a:bodyPr wrap="square" lIns="0" tIns="0" rIns="0" bIns="0" rtlCol="0" anchor="ctr"/>
          <a:lstStyle/>
          <a:p>
            <a:pPr indent="0" marL="0">
              <a:buNone/>
            </a:pPr>
            <a:r>
              <a:rPr lang="en-US" sz="1300" b="1" dirty="0">
                <a:solidFill>
                  <a:srgbClr val="23312B"/>
                </a:solidFill>
                <a:latin typeface="Calibri" pitchFamily="34" charset="0"/>
                <a:ea typeface="Calibri" pitchFamily="34" charset="-122"/>
                <a:cs typeface="Calibri" pitchFamily="34" charset="-120"/>
              </a:rPr>
              <a:t>Read with care, skip the proofs  —  </a:t>
            </a:r>
            <a:pPr indent="0" marL="0">
              <a:buNone/>
            </a:pPr>
            <a:r>
              <a:rPr lang="en-US" sz="1200" i="1" dirty="0">
                <a:solidFill>
                  <a:srgbClr val="5E6E66"/>
                </a:solidFill>
                <a:latin typeface="Calibri" pitchFamily="34" charset="0"/>
                <a:ea typeface="Calibri" pitchFamily="34" charset="-122"/>
                <a:cs typeface="Calibri" pitchFamily="34" charset="-120"/>
              </a:rPr>
              <a:t>note key theorems, ignore heavy derivations for now</a:t>
            </a:r>
            <a:endParaRPr lang="en-US" sz="1300" dirty="0"/>
          </a:p>
        </p:txBody>
      </p:sp>
      <p:sp>
        <p:nvSpPr>
          <p:cNvPr id="12" name="Shape 8"/>
          <p:cNvSpPr/>
          <p:nvPr/>
        </p:nvSpPr>
        <p:spPr>
          <a:xfrm>
            <a:off x="502920" y="1938528"/>
            <a:ext cx="365760" cy="365760"/>
          </a:xfrm>
          <a:prstGeom prst="ellipse">
            <a:avLst/>
          </a:prstGeom>
          <a:solidFill>
            <a:srgbClr val="1E5A3F"/>
          </a:solidFill>
          <a:ln/>
        </p:spPr>
      </p:sp>
      <p:sp>
        <p:nvSpPr>
          <p:cNvPr id="13" name="Text 9"/>
          <p:cNvSpPr/>
          <p:nvPr/>
        </p:nvSpPr>
        <p:spPr>
          <a:xfrm>
            <a:off x="502920"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0"/>
          <p:cNvSpPr/>
          <p:nvPr/>
        </p:nvSpPr>
        <p:spPr>
          <a:xfrm>
            <a:off x="1005840" y="1956816"/>
            <a:ext cx="4892040" cy="502920"/>
          </a:xfrm>
          <a:prstGeom prst="rect">
            <a:avLst/>
          </a:prstGeom>
          <a:noFill/>
          <a:ln/>
        </p:spPr>
        <p:txBody>
          <a:bodyPr wrap="square" lIns="0" tIns="0" rIns="0" bIns="0" rtlCol="0" anchor="ctr"/>
          <a:lstStyle/>
          <a:p>
            <a:pPr indent="0" marL="0">
              <a:buNone/>
            </a:pPr>
            <a:r>
              <a:rPr lang="en-US" sz="1300" b="1" dirty="0">
                <a:solidFill>
                  <a:srgbClr val="23312B"/>
                </a:solidFill>
                <a:latin typeface="Calibri" pitchFamily="34" charset="0"/>
                <a:ea typeface="Calibri" pitchFamily="34" charset="-122"/>
                <a:cs typeface="Calibri" pitchFamily="34" charset="-120"/>
              </a:rPr>
              <a:t>Interrogate every figure &amp; table  —  </a:t>
            </a:r>
            <a:pPr indent="0" marL="0">
              <a:buNone/>
            </a:pPr>
            <a:r>
              <a:rPr lang="en-US" sz="1200" i="1" dirty="0">
                <a:solidFill>
                  <a:srgbClr val="5E6E66"/>
                </a:solidFill>
                <a:latin typeface="Calibri" pitchFamily="34" charset="0"/>
                <a:ea typeface="Calibri" pitchFamily="34" charset="-122"/>
                <a:cs typeface="Calibri" pitchFamily="34" charset="-120"/>
              </a:rPr>
              <a:t>axes, units, error bars — is the evidence convincing?</a:t>
            </a:r>
            <a:endParaRPr lang="en-US" sz="1300" dirty="0"/>
          </a:p>
        </p:txBody>
      </p:sp>
      <p:sp>
        <p:nvSpPr>
          <p:cNvPr id="15" name="Shape 11"/>
          <p:cNvSpPr/>
          <p:nvPr/>
        </p:nvSpPr>
        <p:spPr>
          <a:xfrm>
            <a:off x="502920" y="2505456"/>
            <a:ext cx="365760" cy="365760"/>
          </a:xfrm>
          <a:prstGeom prst="ellipse">
            <a:avLst/>
          </a:prstGeom>
          <a:solidFill>
            <a:srgbClr val="1E5A3F"/>
          </a:solidFill>
          <a:ln/>
        </p:spPr>
      </p:sp>
      <p:sp>
        <p:nvSpPr>
          <p:cNvPr id="16" name="Text 12"/>
          <p:cNvSpPr/>
          <p:nvPr/>
        </p:nvSpPr>
        <p:spPr>
          <a:xfrm>
            <a:off x="502920" y="25054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3"/>
          <p:cNvSpPr/>
          <p:nvPr/>
        </p:nvSpPr>
        <p:spPr>
          <a:xfrm>
            <a:off x="1005840" y="2523744"/>
            <a:ext cx="4892040" cy="502920"/>
          </a:xfrm>
          <a:prstGeom prst="rect">
            <a:avLst/>
          </a:prstGeom>
          <a:noFill/>
          <a:ln/>
        </p:spPr>
        <p:txBody>
          <a:bodyPr wrap="square" lIns="0" tIns="0" rIns="0" bIns="0" rtlCol="0" anchor="ctr"/>
          <a:lstStyle/>
          <a:p>
            <a:pPr indent="0" marL="0">
              <a:buNone/>
            </a:pPr>
            <a:r>
              <a:rPr lang="en-US" sz="1300" b="1" dirty="0">
                <a:solidFill>
                  <a:srgbClr val="23312B"/>
                </a:solidFill>
                <a:latin typeface="Calibri" pitchFamily="34" charset="0"/>
                <a:ea typeface="Calibri" pitchFamily="34" charset="-122"/>
                <a:cs typeface="Calibri" pitchFamily="34" charset="-120"/>
              </a:rPr>
              <a:t>Trace the experimental setup  —  </a:t>
            </a:r>
            <a:pPr indent="0" marL="0">
              <a:buNone/>
            </a:pPr>
            <a:r>
              <a:rPr lang="en-US" sz="1200" i="1" dirty="0">
                <a:solidFill>
                  <a:srgbClr val="5E6E66"/>
                </a:solidFill>
                <a:latin typeface="Calibri" pitchFamily="34" charset="0"/>
                <a:ea typeface="Calibri" pitchFamily="34" charset="-122"/>
                <a:cs typeface="Calibri" pitchFamily="34" charset="-120"/>
              </a:rPr>
              <a:t>datasets, baselines, metrics, hyperparameters</a:t>
            </a:r>
            <a:endParaRPr lang="en-US" sz="1300" dirty="0"/>
          </a:p>
        </p:txBody>
      </p:sp>
      <p:sp>
        <p:nvSpPr>
          <p:cNvPr id="18" name="Shape 14"/>
          <p:cNvSpPr/>
          <p:nvPr/>
        </p:nvSpPr>
        <p:spPr>
          <a:xfrm>
            <a:off x="502920" y="3072384"/>
            <a:ext cx="365760" cy="365760"/>
          </a:xfrm>
          <a:prstGeom prst="ellipse">
            <a:avLst/>
          </a:prstGeom>
          <a:solidFill>
            <a:srgbClr val="1E5A3F"/>
          </a:solidFill>
          <a:ln/>
        </p:spPr>
      </p:sp>
      <p:sp>
        <p:nvSpPr>
          <p:cNvPr id="19" name="Text 15"/>
          <p:cNvSpPr/>
          <p:nvPr/>
        </p:nvSpPr>
        <p:spPr>
          <a:xfrm>
            <a:off x="502920" y="3072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0" name="Text 16"/>
          <p:cNvSpPr/>
          <p:nvPr/>
        </p:nvSpPr>
        <p:spPr>
          <a:xfrm>
            <a:off x="1005840" y="3090672"/>
            <a:ext cx="4892040" cy="502920"/>
          </a:xfrm>
          <a:prstGeom prst="rect">
            <a:avLst/>
          </a:prstGeom>
          <a:noFill/>
          <a:ln/>
        </p:spPr>
        <p:txBody>
          <a:bodyPr wrap="square" lIns="0" tIns="0" rIns="0" bIns="0" rtlCol="0" anchor="ctr"/>
          <a:lstStyle/>
          <a:p>
            <a:pPr indent="0" marL="0">
              <a:buNone/>
            </a:pPr>
            <a:r>
              <a:rPr lang="en-US" sz="1300" b="1" dirty="0">
                <a:solidFill>
                  <a:srgbClr val="23312B"/>
                </a:solidFill>
                <a:latin typeface="Calibri" pitchFamily="34" charset="0"/>
                <a:ea typeface="Calibri" pitchFamily="34" charset="-122"/>
                <a:cs typeface="Calibri" pitchFamily="34" charset="-120"/>
              </a:rPr>
              <a:t>Take structured notes in the margin  —  </a:t>
            </a:r>
            <a:pPr indent="0" marL="0">
              <a:buNone/>
            </a:pPr>
            <a:r>
              <a:rPr lang="en-US" sz="1200" i="1" dirty="0">
                <a:solidFill>
                  <a:srgbClr val="5E6E66"/>
                </a:solidFill>
                <a:latin typeface="Calibri" pitchFamily="34" charset="0"/>
                <a:ea typeface="Calibri" pitchFamily="34" charset="-122"/>
                <a:cs typeface="Calibri" pitchFamily="34" charset="-120"/>
              </a:rPr>
              <a:t>your future self is your first reader</a:t>
            </a:r>
            <a:endParaRPr lang="en-US" sz="1300" dirty="0"/>
          </a:p>
        </p:txBody>
      </p:sp>
      <p:sp>
        <p:nvSpPr>
          <p:cNvPr id="21" name="Shape 17"/>
          <p:cNvSpPr/>
          <p:nvPr/>
        </p:nvSpPr>
        <p:spPr>
          <a:xfrm>
            <a:off x="502920" y="3639312"/>
            <a:ext cx="365760" cy="365760"/>
          </a:xfrm>
          <a:prstGeom prst="ellipse">
            <a:avLst/>
          </a:prstGeom>
          <a:solidFill>
            <a:srgbClr val="1E5A3F"/>
          </a:solidFill>
          <a:ln/>
        </p:spPr>
      </p:sp>
      <p:sp>
        <p:nvSpPr>
          <p:cNvPr id="22" name="Text 18"/>
          <p:cNvSpPr/>
          <p:nvPr/>
        </p:nvSpPr>
        <p:spPr>
          <a:xfrm>
            <a:off x="502920" y="3639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3" name="Text 19"/>
          <p:cNvSpPr/>
          <p:nvPr/>
        </p:nvSpPr>
        <p:spPr>
          <a:xfrm>
            <a:off x="1005840" y="3657600"/>
            <a:ext cx="4892040" cy="502920"/>
          </a:xfrm>
          <a:prstGeom prst="rect">
            <a:avLst/>
          </a:prstGeom>
          <a:noFill/>
          <a:ln/>
        </p:spPr>
        <p:txBody>
          <a:bodyPr wrap="square" lIns="0" tIns="0" rIns="0" bIns="0" rtlCol="0" anchor="ctr"/>
          <a:lstStyle/>
          <a:p>
            <a:pPr indent="0" marL="0">
              <a:buNone/>
            </a:pPr>
            <a:r>
              <a:rPr lang="en-US" sz="1300" b="1" dirty="0">
                <a:solidFill>
                  <a:srgbClr val="23312B"/>
                </a:solidFill>
                <a:latin typeface="Calibri" pitchFamily="34" charset="0"/>
                <a:ea typeface="Calibri" pitchFamily="34" charset="-122"/>
                <a:cs typeface="Calibri" pitchFamily="34" charset="-120"/>
              </a:rPr>
              <a:t>Mark the references you must read next  —  </a:t>
            </a:r>
            <a:pPr indent="0" marL="0">
              <a:buNone/>
            </a:pPr>
            <a:r>
              <a:rPr lang="en-US" sz="1200" i="1" dirty="0">
                <a:solidFill>
                  <a:srgbClr val="5E6E66"/>
                </a:solidFill>
                <a:latin typeface="Calibri" pitchFamily="34" charset="0"/>
                <a:ea typeface="Calibri" pitchFamily="34" charset="-122"/>
                <a:cs typeface="Calibri" pitchFamily="34" charset="-120"/>
              </a:rPr>
              <a:t>this grows your literature map</a:t>
            </a:r>
            <a:endParaRPr lang="en-US" sz="1300" dirty="0"/>
          </a:p>
        </p:txBody>
      </p:sp>
      <p:sp>
        <p:nvSpPr>
          <p:cNvPr id="24" name="Shape 20"/>
          <p:cNvSpPr/>
          <p:nvPr/>
        </p:nvSpPr>
        <p:spPr>
          <a:xfrm>
            <a:off x="6126480" y="1371600"/>
            <a:ext cx="2560320" cy="2743200"/>
          </a:xfrm>
          <a:prstGeom prst="roundRect">
            <a:avLst>
              <a:gd name="adj" fmla="val 3214"/>
            </a:avLst>
          </a:prstGeom>
          <a:solidFill>
            <a:srgbClr val="EFF5F0"/>
          </a:solidFill>
          <a:ln/>
          <a:effectLst>
            <a:outerShdw sx="100000" sy="100000" kx="0" ky="0" algn="bl" rotWithShape="0" blurRad="88900" dist="25400" dir="2700000">
              <a:srgbClr val="000000">
                <a:alpha val="14000"/>
              </a:srgbClr>
            </a:outerShdw>
          </a:effectLst>
        </p:spPr>
      </p:sp>
      <p:sp>
        <p:nvSpPr>
          <p:cNvPr id="25" name="Shape 21"/>
          <p:cNvSpPr/>
          <p:nvPr/>
        </p:nvSpPr>
        <p:spPr>
          <a:xfrm>
            <a:off x="6355080" y="1572768"/>
            <a:ext cx="548640" cy="548640"/>
          </a:xfrm>
          <a:prstGeom prst="ellipse">
            <a:avLst/>
          </a:prstGeom>
          <a:solidFill>
            <a:srgbClr val="1E5A3F"/>
          </a:solidFill>
          <a:ln/>
        </p:spPr>
      </p:sp>
      <p:pic>
        <p:nvPicPr>
          <p:cNvPr id="26" name="Image 2" descr="preencoded.png">    </p:cNvPr>
          <p:cNvPicPr>
            <a:picLocks noChangeAspect="1"/>
          </p:cNvPicPr>
          <p:nvPr/>
        </p:nvPicPr>
        <p:blipFill>
          <a:blip r:embed="rId3"/>
          <a:stretch>
            <a:fillRect/>
          </a:stretch>
        </p:blipFill>
        <p:spPr>
          <a:xfrm>
            <a:off x="6497726" y="1715414"/>
            <a:ext cx="263347" cy="263347"/>
          </a:xfrm>
          <a:prstGeom prst="rect">
            <a:avLst/>
          </a:prstGeom>
        </p:spPr>
      </p:pic>
      <p:sp>
        <p:nvSpPr>
          <p:cNvPr id="27" name="Text 22"/>
          <p:cNvSpPr/>
          <p:nvPr/>
        </p:nvSpPr>
        <p:spPr>
          <a:xfrm>
            <a:off x="6995160" y="1691640"/>
            <a:ext cx="1645920" cy="274320"/>
          </a:xfrm>
          <a:prstGeom prst="rect">
            <a:avLst/>
          </a:prstGeom>
          <a:noFill/>
          <a:ln/>
        </p:spPr>
        <p:txBody>
          <a:bodyPr wrap="square" lIns="0" tIns="0" rIns="0" bIns="0" rtlCol="0" anchor="ctr"/>
          <a:lstStyle/>
          <a:p>
            <a:pPr indent="0" marL="0">
              <a:buNone/>
            </a:pPr>
            <a:r>
              <a:rPr lang="en-US" sz="1300" b="1" dirty="0">
                <a:solidFill>
                  <a:srgbClr val="12362A"/>
                </a:solidFill>
                <a:latin typeface="Calibri" pitchFamily="34" charset="0"/>
                <a:ea typeface="Calibri" pitchFamily="34" charset="-122"/>
                <a:cs typeface="Calibri" pitchFamily="34" charset="-120"/>
              </a:rPr>
              <a:t>Success test</a:t>
            </a:r>
            <a:endParaRPr lang="en-US" sz="1300" dirty="0"/>
          </a:p>
        </p:txBody>
      </p:sp>
      <p:sp>
        <p:nvSpPr>
          <p:cNvPr id="28" name="Text 23"/>
          <p:cNvSpPr/>
          <p:nvPr/>
        </p:nvSpPr>
        <p:spPr>
          <a:xfrm>
            <a:off x="6355080" y="2240280"/>
            <a:ext cx="2148840" cy="1737360"/>
          </a:xfrm>
          <a:prstGeom prst="rect">
            <a:avLst/>
          </a:prstGeom>
          <a:noFill/>
          <a:ln/>
        </p:spPr>
        <p:txBody>
          <a:bodyPr wrap="square" lIns="0" tIns="0" rIns="0" bIns="0" rtlCol="0" anchor="ctr"/>
          <a:lstStyle/>
          <a:p>
            <a:pPr indent="0" marL="0">
              <a:buNone/>
            </a:pPr>
            <a:r>
              <a:rPr lang="en-US" sz="1200" dirty="0">
                <a:solidFill>
                  <a:srgbClr val="23312B"/>
                </a:solidFill>
                <a:latin typeface="Calibri" pitchFamily="34" charset="0"/>
                <a:ea typeface="Calibri" pitchFamily="34" charset="-122"/>
                <a:cs typeface="Calibri" pitchFamily="34" charset="-120"/>
              </a:rPr>
              <a:t>You pass Pass 2 when you can summarize the paper's main idea, evidence and limits to a colleague — without opening it.</a:t>
            </a:r>
            <a:endParaRPr lang="en-US" sz="1200" dirty="0"/>
          </a:p>
        </p:txBody>
      </p:sp>
      <p:sp>
        <p:nvSpPr>
          <p:cNvPr id="29" name="Text 24"/>
          <p:cNvSpPr/>
          <p:nvPr/>
        </p:nvSpPr>
        <p:spPr>
          <a:xfrm>
            <a:off x="502920" y="4343400"/>
            <a:ext cx="8138160" cy="50292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It is normal not to understand everything — jot questions; some resolve in Pass 3, some become YOUR research ideas.</a:t>
            </a:r>
            <a:endParaRPr lang="en-US" sz="1150" dirty="0"/>
          </a:p>
        </p:txBody>
      </p:sp>
      <p:sp>
        <p:nvSpPr>
          <p:cNvPr id="30" name="Text 25"/>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31" name="Text 26"/>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16</a:t>
            </a:r>
            <a:endParaRPr lang="en-US" sz="850" dirty="0"/>
          </a:p>
        </p:txBody>
      </p:sp>
      <p:pic>
        <p:nvPicPr>
          <p:cNvPr id="107"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08"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2 · THE 3-PASS METHOD</a:t>
            </a:r>
            <a:endParaRPr lang="en-US" sz="1100" dirty="0"/>
          </a:p>
        </p:txBody>
      </p:sp>
      <p:sp>
        <p:nvSpPr>
          <p:cNvPr id="5" name="Text 2"/>
          <p:cNvSpPr/>
          <p:nvPr/>
        </p:nvSpPr>
        <p:spPr>
          <a:xfrm>
            <a:off x="1051560" y="548640"/>
            <a:ext cx="603504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Pass 3 — Critical reconstruction</a:t>
            </a:r>
            <a:endParaRPr lang="en-US" sz="2600" dirty="0"/>
          </a:p>
        </p:txBody>
      </p:sp>
      <p:sp>
        <p:nvSpPr>
          <p:cNvPr id="6" name="Shape 3"/>
          <p:cNvSpPr/>
          <p:nvPr/>
        </p:nvSpPr>
        <p:spPr>
          <a:xfrm>
            <a:off x="7818120" y="384048"/>
            <a:ext cx="868680" cy="329184"/>
          </a:xfrm>
          <a:prstGeom prst="roundRect">
            <a:avLst>
              <a:gd name="adj" fmla="val 50000"/>
            </a:avLst>
          </a:prstGeom>
          <a:solidFill>
            <a:srgbClr val="EFF5F0"/>
          </a:solidFill>
          <a:ln/>
        </p:spPr>
      </p:sp>
      <p:pic>
        <p:nvPicPr>
          <p:cNvPr id="7" name="Image 1" descr="preencoded.png">    </p:cNvPr>
          <p:cNvPicPr>
            <a:picLocks noChangeAspect="1"/>
          </p:cNvPicPr>
          <p:nvPr/>
        </p:nvPicPr>
        <p:blipFill>
          <a:blip r:embed="rId2"/>
          <a:stretch>
            <a:fillRect/>
          </a:stretch>
        </p:blipFill>
        <p:spPr>
          <a:xfrm>
            <a:off x="7891272" y="448056"/>
            <a:ext cx="201168" cy="201168"/>
          </a:xfrm>
          <a:prstGeom prst="rect">
            <a:avLst/>
          </a:prstGeom>
        </p:spPr>
      </p:pic>
      <p:sp>
        <p:nvSpPr>
          <p:cNvPr id="8" name="Text 4"/>
          <p:cNvSpPr/>
          <p:nvPr/>
        </p:nvSpPr>
        <p:spPr>
          <a:xfrm>
            <a:off x="8101584" y="384048"/>
            <a:ext cx="566928" cy="329184"/>
          </a:xfrm>
          <a:prstGeom prst="rect">
            <a:avLst/>
          </a:prstGeom>
          <a:noFill/>
          <a:ln/>
        </p:spPr>
        <p:txBody>
          <a:bodyPr wrap="square" lIns="0" tIns="0" rIns="0" bIns="0" rtlCol="0" anchor="ctr"/>
          <a:lstStyle/>
          <a:p>
            <a:pPr indent="0" marL="0">
              <a:buNone/>
            </a:pPr>
            <a:r>
              <a:rPr lang="en-US" sz="1050" b="1" dirty="0">
                <a:solidFill>
                  <a:srgbClr val="1E5A3F"/>
                </a:solidFill>
                <a:latin typeface="Calibri" pitchFamily="34" charset="0"/>
                <a:ea typeface="Calibri" pitchFamily="34" charset="-122"/>
                <a:cs typeface="Calibri" pitchFamily="34" charset="-120"/>
              </a:rPr>
              <a:t>1–5 h</a:t>
            </a:r>
            <a:endParaRPr lang="en-US" sz="1050" dirty="0"/>
          </a:p>
        </p:txBody>
      </p:sp>
      <p:sp>
        <p:nvSpPr>
          <p:cNvPr id="9" name="Text 5"/>
          <p:cNvSpPr/>
          <p:nvPr/>
        </p:nvSpPr>
        <p:spPr>
          <a:xfrm>
            <a:off x="502920" y="1325880"/>
            <a:ext cx="8138160" cy="548640"/>
          </a:xfrm>
          <a:prstGeom prst="rect">
            <a:avLst/>
          </a:prstGeom>
          <a:noFill/>
          <a:ln/>
        </p:spPr>
        <p:txBody>
          <a:bodyPr wrap="square" lIns="0" tIns="0" rIns="0" bIns="0" rtlCol="0" anchor="ctr"/>
          <a:lstStyle/>
          <a:p>
            <a:pPr indent="0" marL="0">
              <a:buNone/>
            </a:pPr>
            <a:r>
              <a:rPr lang="en-US" sz="1350" dirty="0">
                <a:solidFill>
                  <a:srgbClr val="23312B"/>
                </a:solidFill>
                <a:latin typeface="Calibri" pitchFamily="34" charset="0"/>
                <a:ea typeface="Calibri" pitchFamily="34" charset="-122"/>
                <a:cs typeface="Calibri" pitchFamily="34" charset="-120"/>
              </a:rPr>
              <a:t>Virtually re-implement the paper: re-derive the approach with the same assumptions, then compare your reconstruction with the authors' choices.</a:t>
            </a:r>
            <a:endParaRPr lang="en-US" sz="1350" dirty="0"/>
          </a:p>
        </p:txBody>
      </p:sp>
      <p:sp>
        <p:nvSpPr>
          <p:cNvPr id="10" name="Shape 6"/>
          <p:cNvSpPr/>
          <p:nvPr/>
        </p:nvSpPr>
        <p:spPr>
          <a:xfrm>
            <a:off x="502920" y="2057400"/>
            <a:ext cx="2606040" cy="1965960"/>
          </a:xfrm>
          <a:prstGeom prst="roundRect">
            <a:avLst>
              <a:gd name="adj" fmla="val 4186"/>
            </a:avLst>
          </a:prstGeom>
          <a:solidFill>
            <a:srgbClr val="EFF5F0"/>
          </a:solidFill>
          <a:ln/>
          <a:effectLst>
            <a:outerShdw sx="100000" sy="100000" kx="0" ky="0" algn="bl" rotWithShape="0" blurRad="88900" dist="25400" dir="2700000">
              <a:srgbClr val="000000">
                <a:alpha val="14000"/>
              </a:srgbClr>
            </a:outerShdw>
          </a:effectLst>
        </p:spPr>
      </p:sp>
      <p:sp>
        <p:nvSpPr>
          <p:cNvPr id="11" name="Shape 7"/>
          <p:cNvSpPr/>
          <p:nvPr/>
        </p:nvSpPr>
        <p:spPr>
          <a:xfrm>
            <a:off x="685800" y="2240280"/>
            <a:ext cx="548640" cy="548640"/>
          </a:xfrm>
          <a:prstGeom prst="ellipse">
            <a:avLst/>
          </a:prstGeom>
          <a:solidFill>
            <a:srgbClr val="1E5A3F"/>
          </a:solidFill>
          <a:ln/>
        </p:spPr>
      </p:sp>
      <p:pic>
        <p:nvPicPr>
          <p:cNvPr id="12" name="Image 2" descr="preencoded.png">    </p:cNvPr>
          <p:cNvPicPr>
            <a:picLocks noChangeAspect="1"/>
          </p:cNvPicPr>
          <p:nvPr/>
        </p:nvPicPr>
        <p:blipFill>
          <a:blip r:embed="rId3"/>
          <a:stretch>
            <a:fillRect/>
          </a:stretch>
        </p:blipFill>
        <p:spPr>
          <a:xfrm>
            <a:off x="828446" y="2382926"/>
            <a:ext cx="263347" cy="263347"/>
          </a:xfrm>
          <a:prstGeom prst="rect">
            <a:avLst/>
          </a:prstGeom>
        </p:spPr>
      </p:pic>
      <p:sp>
        <p:nvSpPr>
          <p:cNvPr id="13" name="Text 8"/>
          <p:cNvSpPr/>
          <p:nvPr/>
        </p:nvSpPr>
        <p:spPr>
          <a:xfrm>
            <a:off x="1344168" y="2359152"/>
            <a:ext cx="1645920" cy="320040"/>
          </a:xfrm>
          <a:prstGeom prst="rect">
            <a:avLst/>
          </a:prstGeom>
          <a:noFill/>
          <a:ln/>
        </p:spPr>
        <p:txBody>
          <a:bodyPr wrap="square" lIns="0" tIns="0" rIns="0" bIns="0" rtlCol="0" anchor="ctr"/>
          <a:lstStyle/>
          <a:p>
            <a:pPr indent="0" marL="0">
              <a:buNone/>
            </a:pPr>
            <a:r>
              <a:rPr lang="en-US" sz="1400" b="1" dirty="0">
                <a:solidFill>
                  <a:srgbClr val="12362A"/>
                </a:solidFill>
                <a:latin typeface="Calibri" pitchFamily="34" charset="0"/>
                <a:ea typeface="Calibri" pitchFamily="34" charset="-122"/>
                <a:cs typeface="Calibri" pitchFamily="34" charset="-120"/>
              </a:rPr>
              <a:t>Rebuild</a:t>
            </a:r>
            <a:endParaRPr lang="en-US" sz="1400" dirty="0"/>
          </a:p>
        </p:txBody>
      </p:sp>
      <p:sp>
        <p:nvSpPr>
          <p:cNvPr id="14" name="Text 9"/>
          <p:cNvSpPr/>
          <p:nvPr/>
        </p:nvSpPr>
        <p:spPr>
          <a:xfrm>
            <a:off x="685800" y="2907792"/>
            <a:ext cx="2240280" cy="1051560"/>
          </a:xfrm>
          <a:prstGeom prst="rect">
            <a:avLst/>
          </a:prstGeom>
          <a:noFill/>
          <a:ln/>
        </p:spPr>
        <p:txBody>
          <a:bodyPr wrap="square" lIns="0" tIns="0" rIns="0" bIns="0" rtlCol="0" anchor="ctr"/>
          <a:lstStyle/>
          <a:p>
            <a:pPr indent="0" marL="0">
              <a:buNone/>
            </a:pPr>
            <a:r>
              <a:rPr lang="en-US" sz="1100" dirty="0">
                <a:solidFill>
                  <a:srgbClr val="23312B"/>
                </a:solidFill>
                <a:latin typeface="Calibri" pitchFamily="34" charset="0"/>
                <a:ea typeface="Calibri" pitchFamily="34" charset="-122"/>
                <a:cs typeface="Calibri" pitchFamily="34" charset="-120"/>
              </a:rPr>
              <a:t>Re-derive the method step by step; challenge every design choice — “why a transformer here and not a CNN?”</a:t>
            </a:r>
            <a:endParaRPr lang="en-US" sz="1100" dirty="0"/>
          </a:p>
        </p:txBody>
      </p:sp>
      <p:sp>
        <p:nvSpPr>
          <p:cNvPr id="15" name="Shape 10"/>
          <p:cNvSpPr/>
          <p:nvPr/>
        </p:nvSpPr>
        <p:spPr>
          <a:xfrm>
            <a:off x="3291840" y="2057400"/>
            <a:ext cx="2606040" cy="1965960"/>
          </a:xfrm>
          <a:prstGeom prst="roundRect">
            <a:avLst>
              <a:gd name="adj" fmla="val 4186"/>
            </a:avLst>
          </a:prstGeom>
          <a:solidFill>
            <a:srgbClr val="EFF5F0"/>
          </a:solidFill>
          <a:ln/>
          <a:effectLst>
            <a:outerShdw sx="100000" sy="100000" kx="0" ky="0" algn="bl" rotWithShape="0" blurRad="88900" dist="25400" dir="2700000">
              <a:srgbClr val="000000">
                <a:alpha val="14000"/>
              </a:srgbClr>
            </a:outerShdw>
          </a:effectLst>
        </p:spPr>
      </p:sp>
      <p:sp>
        <p:nvSpPr>
          <p:cNvPr id="16" name="Shape 11"/>
          <p:cNvSpPr/>
          <p:nvPr/>
        </p:nvSpPr>
        <p:spPr>
          <a:xfrm>
            <a:off x="3474720" y="2240280"/>
            <a:ext cx="548640" cy="548640"/>
          </a:xfrm>
          <a:prstGeom prst="ellipse">
            <a:avLst/>
          </a:prstGeom>
          <a:solidFill>
            <a:srgbClr val="1E5A3F"/>
          </a:solidFill>
          <a:ln/>
        </p:spPr>
      </p:sp>
      <p:pic>
        <p:nvPicPr>
          <p:cNvPr id="17" name="Image 3" descr="preencoded.png">    </p:cNvPr>
          <p:cNvPicPr>
            <a:picLocks noChangeAspect="1"/>
          </p:cNvPicPr>
          <p:nvPr/>
        </p:nvPicPr>
        <p:blipFill>
          <a:blip r:embed="rId4"/>
          <a:stretch>
            <a:fillRect/>
          </a:stretch>
        </p:blipFill>
        <p:spPr>
          <a:xfrm>
            <a:off x="3617366" y="2382926"/>
            <a:ext cx="263347" cy="263347"/>
          </a:xfrm>
          <a:prstGeom prst="rect">
            <a:avLst/>
          </a:prstGeom>
        </p:spPr>
      </p:pic>
      <p:sp>
        <p:nvSpPr>
          <p:cNvPr id="18" name="Text 12"/>
          <p:cNvSpPr/>
          <p:nvPr/>
        </p:nvSpPr>
        <p:spPr>
          <a:xfrm>
            <a:off x="4133088" y="2359152"/>
            <a:ext cx="1645920" cy="320040"/>
          </a:xfrm>
          <a:prstGeom prst="rect">
            <a:avLst/>
          </a:prstGeom>
          <a:noFill/>
          <a:ln/>
        </p:spPr>
        <p:txBody>
          <a:bodyPr wrap="square" lIns="0" tIns="0" rIns="0" bIns="0" rtlCol="0" anchor="ctr"/>
          <a:lstStyle/>
          <a:p>
            <a:pPr indent="0" marL="0">
              <a:buNone/>
            </a:pPr>
            <a:r>
              <a:rPr lang="en-US" sz="1400" b="1" dirty="0">
                <a:solidFill>
                  <a:srgbClr val="12362A"/>
                </a:solidFill>
                <a:latin typeface="Calibri" pitchFamily="34" charset="0"/>
                <a:ea typeface="Calibri" pitchFamily="34" charset="-122"/>
                <a:cs typeface="Calibri" pitchFamily="34" charset="-120"/>
              </a:rPr>
              <a:t>Expose</a:t>
            </a:r>
            <a:endParaRPr lang="en-US" sz="1400" dirty="0"/>
          </a:p>
        </p:txBody>
      </p:sp>
      <p:sp>
        <p:nvSpPr>
          <p:cNvPr id="19" name="Text 13"/>
          <p:cNvSpPr/>
          <p:nvPr/>
        </p:nvSpPr>
        <p:spPr>
          <a:xfrm>
            <a:off x="3474720" y="2907792"/>
            <a:ext cx="2240280" cy="1051560"/>
          </a:xfrm>
          <a:prstGeom prst="rect">
            <a:avLst/>
          </a:prstGeom>
          <a:noFill/>
          <a:ln/>
        </p:spPr>
        <p:txBody>
          <a:bodyPr wrap="square" lIns="0" tIns="0" rIns="0" bIns="0" rtlCol="0" anchor="ctr"/>
          <a:lstStyle/>
          <a:p>
            <a:pPr indent="0" marL="0">
              <a:buNone/>
            </a:pPr>
            <a:r>
              <a:rPr lang="en-US" sz="1100" dirty="0">
                <a:solidFill>
                  <a:srgbClr val="23312B"/>
                </a:solidFill>
                <a:latin typeface="Calibri" pitchFamily="34" charset="0"/>
                <a:ea typeface="Calibri" pitchFamily="34" charset="-122"/>
                <a:cs typeface="Calibri" pitchFamily="34" charset="-120"/>
              </a:rPr>
              <a:t>Identify hidden assumptions, missing baselines, weak statistics, and failure cases the authors did not test.</a:t>
            </a:r>
            <a:endParaRPr lang="en-US" sz="1100" dirty="0"/>
          </a:p>
        </p:txBody>
      </p:sp>
      <p:sp>
        <p:nvSpPr>
          <p:cNvPr id="20" name="Shape 14"/>
          <p:cNvSpPr/>
          <p:nvPr/>
        </p:nvSpPr>
        <p:spPr>
          <a:xfrm>
            <a:off x="6080760" y="2057400"/>
            <a:ext cx="2606040" cy="1965960"/>
          </a:xfrm>
          <a:prstGeom prst="roundRect">
            <a:avLst>
              <a:gd name="adj" fmla="val 4186"/>
            </a:avLst>
          </a:prstGeom>
          <a:solidFill>
            <a:srgbClr val="EFF5F0"/>
          </a:solidFill>
          <a:ln/>
          <a:effectLst>
            <a:outerShdw sx="100000" sy="100000" kx="0" ky="0" algn="bl" rotWithShape="0" blurRad="88900" dist="25400" dir="2700000">
              <a:srgbClr val="000000">
                <a:alpha val="14000"/>
              </a:srgbClr>
            </a:outerShdw>
          </a:effectLst>
        </p:spPr>
      </p:sp>
      <p:sp>
        <p:nvSpPr>
          <p:cNvPr id="21" name="Shape 15"/>
          <p:cNvSpPr/>
          <p:nvPr/>
        </p:nvSpPr>
        <p:spPr>
          <a:xfrm>
            <a:off x="6263640" y="2240280"/>
            <a:ext cx="548640" cy="548640"/>
          </a:xfrm>
          <a:prstGeom prst="ellipse">
            <a:avLst/>
          </a:prstGeom>
          <a:solidFill>
            <a:srgbClr val="1E5A3F"/>
          </a:solidFill>
          <a:ln/>
        </p:spPr>
      </p:sp>
      <p:pic>
        <p:nvPicPr>
          <p:cNvPr id="22" name="Image 4" descr="preencoded.png">    </p:cNvPr>
          <p:cNvPicPr>
            <a:picLocks noChangeAspect="1"/>
          </p:cNvPicPr>
          <p:nvPr/>
        </p:nvPicPr>
        <p:blipFill>
          <a:blip r:embed="rId5"/>
          <a:stretch>
            <a:fillRect/>
          </a:stretch>
        </p:blipFill>
        <p:spPr>
          <a:xfrm>
            <a:off x="6406286" y="2382926"/>
            <a:ext cx="263347" cy="263347"/>
          </a:xfrm>
          <a:prstGeom prst="rect">
            <a:avLst/>
          </a:prstGeom>
        </p:spPr>
      </p:pic>
      <p:sp>
        <p:nvSpPr>
          <p:cNvPr id="23" name="Text 16"/>
          <p:cNvSpPr/>
          <p:nvPr/>
        </p:nvSpPr>
        <p:spPr>
          <a:xfrm>
            <a:off x="6922008" y="2359152"/>
            <a:ext cx="1645920" cy="320040"/>
          </a:xfrm>
          <a:prstGeom prst="rect">
            <a:avLst/>
          </a:prstGeom>
          <a:noFill/>
          <a:ln/>
        </p:spPr>
        <p:txBody>
          <a:bodyPr wrap="square" lIns="0" tIns="0" rIns="0" bIns="0" rtlCol="0" anchor="ctr"/>
          <a:lstStyle/>
          <a:p>
            <a:pPr indent="0" marL="0">
              <a:buNone/>
            </a:pPr>
            <a:r>
              <a:rPr lang="en-US" sz="1400" b="1" dirty="0">
                <a:solidFill>
                  <a:srgbClr val="12362A"/>
                </a:solidFill>
                <a:latin typeface="Calibri" pitchFamily="34" charset="0"/>
                <a:ea typeface="Calibri" pitchFamily="34" charset="-122"/>
                <a:cs typeface="Calibri" pitchFamily="34" charset="-120"/>
              </a:rPr>
              <a:t>Project</a:t>
            </a:r>
            <a:endParaRPr lang="en-US" sz="1400" dirty="0"/>
          </a:p>
        </p:txBody>
      </p:sp>
      <p:sp>
        <p:nvSpPr>
          <p:cNvPr id="24" name="Text 17"/>
          <p:cNvSpPr/>
          <p:nvPr/>
        </p:nvSpPr>
        <p:spPr>
          <a:xfrm>
            <a:off x="6263640" y="2907792"/>
            <a:ext cx="2240280" cy="1051560"/>
          </a:xfrm>
          <a:prstGeom prst="rect">
            <a:avLst/>
          </a:prstGeom>
          <a:noFill/>
          <a:ln/>
        </p:spPr>
        <p:txBody>
          <a:bodyPr wrap="square" lIns="0" tIns="0" rIns="0" bIns="0" rtlCol="0" anchor="ctr"/>
          <a:lstStyle/>
          <a:p>
            <a:pPr indent="0" marL="0">
              <a:buNone/>
            </a:pPr>
            <a:r>
              <a:rPr lang="en-US" sz="1100" dirty="0">
                <a:solidFill>
                  <a:srgbClr val="23312B"/>
                </a:solidFill>
                <a:latin typeface="Calibri" pitchFamily="34" charset="0"/>
                <a:ea typeface="Calibri" pitchFamily="34" charset="-122"/>
                <a:cs typeface="Calibri" pitchFamily="34" charset="-120"/>
              </a:rPr>
              <a:t>Ask: “What would I have done differently? What experiment is missing?” — this is where new papers are born.</a:t>
            </a:r>
            <a:endParaRPr lang="en-US" sz="1100" dirty="0"/>
          </a:p>
        </p:txBody>
      </p:sp>
      <p:sp>
        <p:nvSpPr>
          <p:cNvPr id="25" name="Text 18"/>
          <p:cNvSpPr/>
          <p:nvPr/>
        </p:nvSpPr>
        <p:spPr>
          <a:xfrm>
            <a:off x="502920" y="4297680"/>
            <a:ext cx="8138160" cy="502920"/>
          </a:xfrm>
          <a:prstGeom prst="rect">
            <a:avLst/>
          </a:prstGeom>
          <a:noFill/>
          <a:ln/>
        </p:spPr>
        <p:txBody>
          <a:bodyPr wrap="square" lIns="0" tIns="0" rIns="0" bIns="0" rtlCol="0" anchor="ctr"/>
          <a:lstStyle/>
          <a:p>
            <a:pPr indent="0" marL="0">
              <a:buNone/>
            </a:pPr>
            <a:r>
              <a:rPr lang="en-US" sz="1200" i="1" dirty="0">
                <a:solidFill>
                  <a:srgbClr val="1E5A3F"/>
                </a:solidFill>
                <a:latin typeface="Calibri" pitchFamily="34" charset="0"/>
                <a:ea typeface="Calibri" pitchFamily="34" charset="-122"/>
                <a:cs typeface="Calibri" pitchFamily="34" charset="-120"/>
              </a:rPr>
              <a:t>When to invest in Pass 3: papers central to your own research, literature reviews, and when you serve as a peer reviewer.</a:t>
            </a:r>
            <a:endParaRPr lang="en-US" sz="1200" dirty="0"/>
          </a:p>
        </p:txBody>
      </p:sp>
      <p:sp>
        <p:nvSpPr>
          <p:cNvPr id="26" name="Text 19"/>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7" name="Text 20"/>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17</a:t>
            </a:r>
            <a:endParaRPr lang="en-US" sz="850" dirty="0"/>
          </a:p>
        </p:txBody>
      </p:sp>
      <p:pic>
        <p:nvPicPr>
          <p:cNvPr id="109" name="QR kit" descr="img"/>
          <p:cNvPicPr>
            <a:picLocks noChangeAspect="1"/>
          </p:cNvPicPr>
          <p:nvPr/>
        </p:nvPicPr>
        <p:blipFill>
          <a:blip r:embed="rId8"/>
          <a:stretch>
            <a:fillRect/>
          </a:stretch>
        </p:blipFill>
        <p:spPr>
          <a:xfrm>
            <a:off x="7699248" y="4672584"/>
            <a:ext cx="402336" cy="402336"/>
          </a:xfrm>
          <a:prstGeom prst="rect">
            <a:avLst/>
          </a:prstGeom>
        </p:spPr>
      </p:pic>
      <p:sp>
        <p:nvSpPr>
          <p:cNvPr id="110"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62A"/>
        </a:solidFill>
      </p:bgPr>
    </p:bg>
    <p:spTree>
      <p:nvGrpSpPr>
        <p:cNvPr id="1" name=""/>
        <p:cNvGrpSpPr/>
        <p:nvPr/>
      </p:nvGrpSpPr>
      <p:grpSpPr>
        <a:xfrm>
          <a:off x="0" y="0"/>
          <a:ext cx="0" cy="0"/>
          <a:chOff x="0" y="0"/>
          <a:chExt cx="0" cy="0"/>
        </a:xfrm>
      </p:grpSpPr>
      <p:sp>
        <p:nvSpPr>
          <p:cNvPr id="2" name="Shape 0"/>
          <p:cNvSpPr/>
          <p:nvPr/>
        </p:nvSpPr>
        <p:spPr>
          <a:xfrm>
            <a:off x="502920" y="502920"/>
            <a:ext cx="2103120" cy="384048"/>
          </a:xfrm>
          <a:prstGeom prst="roundRect">
            <a:avLst>
              <a:gd name="adj" fmla="val 50000"/>
            </a:avLst>
          </a:prstGeom>
          <a:solidFill>
            <a:srgbClr val="1E5A3F"/>
          </a:solidFill>
          <a:ln/>
        </p:spPr>
      </p:sp>
      <p:sp>
        <p:nvSpPr>
          <p:cNvPr id="3" name="Text 1"/>
          <p:cNvSpPr/>
          <p:nvPr/>
        </p:nvSpPr>
        <p:spPr>
          <a:xfrm>
            <a:off x="502920" y="502920"/>
            <a:ext cx="2103120" cy="384048"/>
          </a:xfrm>
          <a:prstGeom prst="rect">
            <a:avLst/>
          </a:prstGeom>
          <a:noFill/>
          <a:ln/>
        </p:spPr>
        <p:txBody>
          <a:bodyPr wrap="square" lIns="0" tIns="0" rIns="0" bIns="0" rtlCol="0" anchor="ctr"/>
          <a:lstStyle/>
          <a:p>
            <a:pPr algn="ctr" indent="0" marL="0">
              <a:buNone/>
            </a:pPr>
            <a:r>
              <a:rPr lang="en-US" sz="1050" b="1" spc="150" kern="0" dirty="0">
                <a:solidFill>
                  <a:srgbClr val="E9B44C"/>
                </a:solidFill>
                <a:latin typeface="Calibri" pitchFamily="34" charset="0"/>
                <a:ea typeface="Calibri" pitchFamily="34" charset="-122"/>
                <a:cs typeface="Calibri" pitchFamily="34" charset="-120"/>
              </a:rPr>
              <a:t>LIVE DEMO · 4 MIN</a:t>
            </a:r>
            <a:endParaRPr lang="en-US" sz="1050" dirty="0"/>
          </a:p>
        </p:txBody>
      </p:sp>
      <p:sp>
        <p:nvSpPr>
          <p:cNvPr id="4" name="Text 2"/>
          <p:cNvSpPr/>
          <p:nvPr/>
        </p:nvSpPr>
        <p:spPr>
          <a:xfrm>
            <a:off x="502920" y="1097280"/>
            <a:ext cx="813816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Watch my eyes: Pass 1 on a real paper</a:t>
            </a:r>
            <a:endParaRPr lang="en-US" sz="3200" dirty="0"/>
          </a:p>
        </p:txBody>
      </p:sp>
      <p:sp>
        <p:nvSpPr>
          <p:cNvPr id="5" name="Text 3"/>
          <p:cNvSpPr/>
          <p:nvPr/>
        </p:nvSpPr>
        <p:spPr>
          <a:xfrm>
            <a:off x="502920" y="1920240"/>
            <a:ext cx="8138160" cy="320040"/>
          </a:xfrm>
          <a:prstGeom prst="rect">
            <a:avLst/>
          </a:prstGeom>
          <a:noFill/>
          <a:ln/>
        </p:spPr>
        <p:txBody>
          <a:bodyPr wrap="square" lIns="0" tIns="0" rIns="0" bIns="0" rtlCol="0" anchor="ctr"/>
          <a:lstStyle/>
          <a:p>
            <a:pPr indent="0" marL="0">
              <a:buNone/>
            </a:pPr>
            <a:r>
              <a:rPr lang="en-US" sz="1350" dirty="0">
                <a:solidFill>
                  <a:srgbClr val="9CBFA7"/>
                </a:solidFill>
                <a:latin typeface="Calibri" pitchFamily="34" charset="0"/>
                <a:ea typeface="Calibri" pitchFamily="34" charset="-122"/>
                <a:cs typeface="Calibri" pitchFamily="34" charset="-120"/>
              </a:rPr>
              <a:t>Demo paper (African AI context — printed excerpt in your hands):</a:t>
            </a:r>
            <a:endParaRPr lang="en-US" sz="1350" dirty="0"/>
          </a:p>
        </p:txBody>
      </p:sp>
      <p:sp>
        <p:nvSpPr>
          <p:cNvPr id="6" name="Shape 4"/>
          <p:cNvSpPr/>
          <p:nvPr/>
        </p:nvSpPr>
        <p:spPr>
          <a:xfrm>
            <a:off x="502920" y="2286000"/>
            <a:ext cx="8138160" cy="777240"/>
          </a:xfrm>
          <a:prstGeom prst="roundRect">
            <a:avLst>
              <a:gd name="adj" fmla="val 10588"/>
            </a:avLst>
          </a:prstGeom>
          <a:solidFill>
            <a:srgbClr val="1E5A3F"/>
          </a:solidFill>
          <a:ln/>
        </p:spPr>
      </p:sp>
      <p:sp>
        <p:nvSpPr>
          <p:cNvPr id="7" name="Text 5"/>
          <p:cNvSpPr/>
          <p:nvPr/>
        </p:nvSpPr>
        <p:spPr>
          <a:xfrm>
            <a:off x="777240" y="2286000"/>
            <a:ext cx="7589520" cy="7772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e.g., a Masakhane NLP paper, or an AI-for-drought-prediction / crop-disease-detection paper</a:t>
            </a:r>
            <a:endParaRPr lang="en-US" sz="1450" dirty="0"/>
          </a:p>
        </p:txBody>
      </p:sp>
      <p:sp>
        <p:nvSpPr>
          <p:cNvPr id="8" name="Shape 6"/>
          <p:cNvSpPr/>
          <p:nvPr/>
        </p:nvSpPr>
        <p:spPr>
          <a:xfrm>
            <a:off x="502920" y="3337560"/>
            <a:ext cx="1920240" cy="1051560"/>
          </a:xfrm>
          <a:prstGeom prst="roundRect">
            <a:avLst>
              <a:gd name="adj" fmla="val 6957"/>
            </a:avLst>
          </a:prstGeom>
          <a:solidFill>
            <a:srgbClr val="1B4A38"/>
          </a:solidFill>
          <a:ln/>
        </p:spPr>
      </p:sp>
      <p:sp>
        <p:nvSpPr>
          <p:cNvPr id="9" name="Text 7"/>
          <p:cNvSpPr/>
          <p:nvPr/>
        </p:nvSpPr>
        <p:spPr>
          <a:xfrm>
            <a:off x="640080" y="3429000"/>
            <a:ext cx="457200" cy="365760"/>
          </a:xfrm>
          <a:prstGeom prst="rect">
            <a:avLst/>
          </a:prstGeom>
          <a:noFill/>
          <a:ln/>
        </p:spPr>
        <p:txBody>
          <a:bodyPr wrap="square" lIns="0" tIns="0" rIns="0" bIns="0" rtlCol="0" anchor="ctr"/>
          <a:lstStyle/>
          <a:p>
            <a:pPr indent="0" marL="0">
              <a:buNone/>
            </a:pPr>
            <a:r>
              <a:rPr lang="en-US" sz="2000" b="1" dirty="0">
                <a:solidFill>
                  <a:srgbClr val="E9B44C"/>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640080" y="3794760"/>
            <a:ext cx="16916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Title + abstract</a:t>
            </a:r>
            <a:endParaRPr lang="en-US" sz="1150" dirty="0"/>
          </a:p>
          <a:p>
            <a:pPr indent="0" marL="0">
              <a:buNone/>
            </a:pPr>
            <a:r>
              <a:rPr lang="en-US" sz="1050" dirty="0">
                <a:solidFill>
                  <a:srgbClr val="9CBFA7"/>
                </a:solidFill>
                <a:latin typeface="Calibri" pitchFamily="34" charset="0"/>
                <a:ea typeface="Calibri" pitchFamily="34" charset="-122"/>
                <a:cs typeface="Calibri" pitchFamily="34" charset="-120"/>
              </a:rPr>
              <a:t>~60 sec</a:t>
            </a:r>
            <a:endParaRPr lang="en-US" sz="1150" dirty="0"/>
          </a:p>
        </p:txBody>
      </p:sp>
      <p:sp>
        <p:nvSpPr>
          <p:cNvPr id="11" name="Shape 9"/>
          <p:cNvSpPr/>
          <p:nvPr/>
        </p:nvSpPr>
        <p:spPr>
          <a:xfrm>
            <a:off x="2606040" y="3337560"/>
            <a:ext cx="1920240" cy="1051560"/>
          </a:xfrm>
          <a:prstGeom prst="roundRect">
            <a:avLst>
              <a:gd name="adj" fmla="val 6957"/>
            </a:avLst>
          </a:prstGeom>
          <a:solidFill>
            <a:srgbClr val="1B4A38"/>
          </a:solidFill>
          <a:ln/>
        </p:spPr>
      </p:sp>
      <p:sp>
        <p:nvSpPr>
          <p:cNvPr id="12" name="Text 10"/>
          <p:cNvSpPr/>
          <p:nvPr/>
        </p:nvSpPr>
        <p:spPr>
          <a:xfrm>
            <a:off x="2743200" y="3429000"/>
            <a:ext cx="457200" cy="365760"/>
          </a:xfrm>
          <a:prstGeom prst="rect">
            <a:avLst/>
          </a:prstGeom>
          <a:noFill/>
          <a:ln/>
        </p:spPr>
        <p:txBody>
          <a:bodyPr wrap="square" lIns="0" tIns="0" rIns="0" bIns="0" rtlCol="0" anchor="ctr"/>
          <a:lstStyle/>
          <a:p>
            <a:pPr indent="0" marL="0">
              <a:buNone/>
            </a:pPr>
            <a:r>
              <a:rPr lang="en-US" sz="2000" b="1" dirty="0">
                <a:solidFill>
                  <a:srgbClr val="E9B44C"/>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2743200" y="3794760"/>
            <a:ext cx="16916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Headings + Figure 1</a:t>
            </a:r>
            <a:endParaRPr lang="en-US" sz="1150" dirty="0"/>
          </a:p>
          <a:p>
            <a:pPr indent="0" marL="0">
              <a:buNone/>
            </a:pPr>
            <a:r>
              <a:rPr lang="en-US" sz="1050" dirty="0">
                <a:solidFill>
                  <a:srgbClr val="9CBFA7"/>
                </a:solidFill>
                <a:latin typeface="Calibri" pitchFamily="34" charset="0"/>
                <a:ea typeface="Calibri" pitchFamily="34" charset="-122"/>
                <a:cs typeface="Calibri" pitchFamily="34" charset="-120"/>
              </a:rPr>
              <a:t>~90 sec</a:t>
            </a:r>
            <a:endParaRPr lang="en-US" sz="1150" dirty="0"/>
          </a:p>
        </p:txBody>
      </p:sp>
      <p:sp>
        <p:nvSpPr>
          <p:cNvPr id="14" name="Shape 12"/>
          <p:cNvSpPr/>
          <p:nvPr/>
        </p:nvSpPr>
        <p:spPr>
          <a:xfrm>
            <a:off x="4709160" y="3337560"/>
            <a:ext cx="1920240" cy="1051560"/>
          </a:xfrm>
          <a:prstGeom prst="roundRect">
            <a:avLst>
              <a:gd name="adj" fmla="val 6957"/>
            </a:avLst>
          </a:prstGeom>
          <a:solidFill>
            <a:srgbClr val="1B4A38"/>
          </a:solidFill>
          <a:ln/>
        </p:spPr>
      </p:sp>
      <p:sp>
        <p:nvSpPr>
          <p:cNvPr id="15" name="Text 13"/>
          <p:cNvSpPr/>
          <p:nvPr/>
        </p:nvSpPr>
        <p:spPr>
          <a:xfrm>
            <a:off x="4846320" y="3429000"/>
            <a:ext cx="457200" cy="365760"/>
          </a:xfrm>
          <a:prstGeom prst="rect">
            <a:avLst/>
          </a:prstGeom>
          <a:noFill/>
          <a:ln/>
        </p:spPr>
        <p:txBody>
          <a:bodyPr wrap="square" lIns="0" tIns="0" rIns="0" bIns="0" rtlCol="0" anchor="ctr"/>
          <a:lstStyle/>
          <a:p>
            <a:pPr indent="0" marL="0">
              <a:buNone/>
            </a:pPr>
            <a:r>
              <a:rPr lang="en-US" sz="2000" b="1" dirty="0">
                <a:solidFill>
                  <a:srgbClr val="E9B44C"/>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4846320" y="3794760"/>
            <a:ext cx="16916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Conclusions</a:t>
            </a:r>
            <a:endParaRPr lang="en-US" sz="1150" dirty="0"/>
          </a:p>
          <a:p>
            <a:pPr indent="0" marL="0">
              <a:buNone/>
            </a:pPr>
            <a:r>
              <a:rPr lang="en-US" sz="1050" dirty="0">
                <a:solidFill>
                  <a:srgbClr val="9CBFA7"/>
                </a:solidFill>
                <a:latin typeface="Calibri" pitchFamily="34" charset="0"/>
                <a:ea typeface="Calibri" pitchFamily="34" charset="-122"/>
                <a:cs typeface="Calibri" pitchFamily="34" charset="-120"/>
              </a:rPr>
              <a:t>~60 sec</a:t>
            </a:r>
            <a:endParaRPr lang="en-US" sz="1150" dirty="0"/>
          </a:p>
        </p:txBody>
      </p:sp>
      <p:sp>
        <p:nvSpPr>
          <p:cNvPr id="17" name="Shape 15"/>
          <p:cNvSpPr/>
          <p:nvPr/>
        </p:nvSpPr>
        <p:spPr>
          <a:xfrm>
            <a:off x="6812280" y="3337560"/>
            <a:ext cx="1920240" cy="1051560"/>
          </a:xfrm>
          <a:prstGeom prst="roundRect">
            <a:avLst>
              <a:gd name="adj" fmla="val 6957"/>
            </a:avLst>
          </a:prstGeom>
          <a:solidFill>
            <a:srgbClr val="1B4A38"/>
          </a:solidFill>
          <a:ln/>
        </p:spPr>
      </p:sp>
      <p:sp>
        <p:nvSpPr>
          <p:cNvPr id="18" name="Text 16"/>
          <p:cNvSpPr/>
          <p:nvPr/>
        </p:nvSpPr>
        <p:spPr>
          <a:xfrm>
            <a:off x="6949440" y="3429000"/>
            <a:ext cx="457200" cy="365760"/>
          </a:xfrm>
          <a:prstGeom prst="rect">
            <a:avLst/>
          </a:prstGeom>
          <a:noFill/>
          <a:ln/>
        </p:spPr>
        <p:txBody>
          <a:bodyPr wrap="square" lIns="0" tIns="0" rIns="0" bIns="0" rtlCol="0" anchor="ctr"/>
          <a:lstStyle/>
          <a:p>
            <a:pPr indent="0" marL="0">
              <a:buNone/>
            </a:pPr>
            <a:r>
              <a:rPr lang="en-US" sz="2000" b="1" dirty="0">
                <a:solidFill>
                  <a:srgbClr val="E9B44C"/>
                </a:solidFill>
                <a:latin typeface="Cambria" pitchFamily="34" charset="0"/>
                <a:ea typeface="Cambria" pitchFamily="34" charset="-122"/>
                <a:cs typeface="Cambria" pitchFamily="34" charset="-120"/>
              </a:rPr>
              <a:t>4</a:t>
            </a:r>
            <a:endParaRPr lang="en-US" sz="2000" dirty="0"/>
          </a:p>
        </p:txBody>
      </p:sp>
      <p:sp>
        <p:nvSpPr>
          <p:cNvPr id="19" name="Text 17"/>
          <p:cNvSpPr/>
          <p:nvPr/>
        </p:nvSpPr>
        <p:spPr>
          <a:xfrm>
            <a:off x="6949440" y="3794760"/>
            <a:ext cx="1691640"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Verdict: the 5 C's out loud</a:t>
            </a:r>
            <a:endParaRPr lang="en-US" sz="1150" dirty="0"/>
          </a:p>
          <a:p>
            <a:pPr indent="0" marL="0">
              <a:buNone/>
            </a:pPr>
            <a:r>
              <a:rPr lang="en-US" sz="1050" dirty="0">
                <a:solidFill>
                  <a:srgbClr val="9CBFA7"/>
                </a:solidFill>
                <a:latin typeface="Calibri" pitchFamily="34" charset="0"/>
                <a:ea typeface="Calibri" pitchFamily="34" charset="-122"/>
                <a:cs typeface="Calibri" pitchFamily="34" charset="-120"/>
              </a:rPr>
              <a:t>~60 sec</a:t>
            </a:r>
            <a:endParaRPr lang="en-US" sz="1150" dirty="0"/>
          </a:p>
        </p:txBody>
      </p:sp>
      <p:sp>
        <p:nvSpPr>
          <p:cNvPr id="20" name="Text 18"/>
          <p:cNvSpPr/>
          <p:nvPr/>
        </p:nvSpPr>
        <p:spPr>
          <a:xfrm>
            <a:off x="502920" y="4526280"/>
            <a:ext cx="8138160" cy="457200"/>
          </a:xfrm>
          <a:prstGeom prst="rect">
            <a:avLst/>
          </a:prstGeom>
          <a:noFill/>
          <a:ln/>
        </p:spPr>
        <p:txBody>
          <a:bodyPr wrap="square" lIns="0" tIns="0" rIns="0" bIns="0" rtlCol="0" anchor="ctr"/>
          <a:lstStyle/>
          <a:p>
            <a:pPr indent="0" marL="0">
              <a:buNone/>
            </a:pPr>
            <a:r>
              <a:rPr lang="en-US" sz="1250" i="1" dirty="0">
                <a:solidFill>
                  <a:srgbClr val="E9B44C"/>
                </a:solidFill>
                <a:latin typeface="Calibri" pitchFamily="34" charset="0"/>
                <a:ea typeface="Calibri" pitchFamily="34" charset="-122"/>
                <a:cs typeface="Calibri" pitchFamily="34" charset="-120"/>
              </a:rPr>
              <a:t>A visible timer runs on screen. Follow along on your printed copy — you'll do this yourselves in a moment.</a:t>
            </a:r>
            <a:endParaRPr lang="en-US" sz="1250" dirty="0"/>
          </a:p>
        </p:txBody>
      </p:sp>
      <p:pic>
        <p:nvPicPr>
          <p:cNvPr id="111" name="QR kit" descr="img"/>
          <p:cNvPicPr>
            <a:picLocks noChangeAspect="1"/>
          </p:cNvPicPr>
          <p:nvPr/>
        </p:nvPicPr>
        <p:blipFill>
          <a:blip r:embed="rId3"/>
          <a:stretch>
            <a:fillRect/>
          </a:stretch>
        </p:blipFill>
        <p:spPr>
          <a:xfrm>
            <a:off x="7699248" y="4672584"/>
            <a:ext cx="402336" cy="402336"/>
          </a:xfrm>
          <a:prstGeom prst="rect">
            <a:avLst/>
          </a:prstGeom>
        </p:spPr>
      </p:pic>
      <p:sp>
        <p:nvSpPr>
          <p:cNvPr id="11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E9B44C"/>
                </a:solidFill>
                <a:latin typeface="Calibri" pitchFamily="34" charset="0"/>
                <a:ea typeface="Calibri" pitchFamily="34" charset="-122"/>
                <a:cs typeface="Calibri" pitchFamily="34" charset="-120"/>
              </a:rPr>
              <a:t>Resource Kit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2 · LIVE DEMO DEBRIEF</a:t>
            </a:r>
            <a:endParaRPr lang="en-US" sz="1100" dirty="0"/>
          </a:p>
        </p:txBody>
      </p:sp>
      <p:sp>
        <p:nvSpPr>
          <p:cNvPr id="5" name="Text 2"/>
          <p:cNvSpPr/>
          <p:nvPr/>
        </p:nvSpPr>
        <p:spPr>
          <a:xfrm>
            <a:off x="1051560" y="548640"/>
            <a:ext cx="676656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What just happened in 4 minutes?</a:t>
            </a:r>
            <a:endParaRPr lang="en-US" sz="2600" dirty="0"/>
          </a:p>
        </p:txBody>
      </p:sp>
      <p:sp>
        <p:nvSpPr>
          <p:cNvPr id="6" name="Shape 3"/>
          <p:cNvSpPr/>
          <p:nvPr/>
        </p:nvSpPr>
        <p:spPr>
          <a:xfrm>
            <a:off x="502920" y="1371600"/>
            <a:ext cx="5212080" cy="777240"/>
          </a:xfrm>
          <a:prstGeom prst="roundRect">
            <a:avLst>
              <a:gd name="adj" fmla="val 9412"/>
            </a:avLst>
          </a:prstGeom>
          <a:solidFill>
            <a:srgbClr val="EFF5F0"/>
          </a:solidFill>
          <a:ln/>
          <a:effectLst>
            <a:outerShdw sx="100000" sy="100000" kx="0" ky="0" algn="bl" rotWithShape="0" blurRad="88900" dist="25400" dir="2700000">
              <a:srgbClr val="000000">
                <a:alpha val="14000"/>
              </a:srgbClr>
            </a:outerShdw>
          </a:effectLst>
        </p:spPr>
      </p:sp>
      <p:sp>
        <p:nvSpPr>
          <p:cNvPr id="7" name="Shape 4"/>
          <p:cNvSpPr/>
          <p:nvPr/>
        </p:nvSpPr>
        <p:spPr>
          <a:xfrm>
            <a:off x="685800" y="1563624"/>
            <a:ext cx="384048" cy="384048"/>
          </a:xfrm>
          <a:prstGeom prst="ellipse">
            <a:avLst/>
          </a:prstGeom>
          <a:solidFill>
            <a:srgbClr val="1E5A3F"/>
          </a:solidFill>
          <a:ln/>
        </p:spPr>
      </p:sp>
      <p:pic>
        <p:nvPicPr>
          <p:cNvPr id="8" name="Image 1" descr="preencoded.png">    </p:cNvPr>
          <p:cNvPicPr>
            <a:picLocks noChangeAspect="1"/>
          </p:cNvPicPr>
          <p:nvPr/>
        </p:nvPicPr>
        <p:blipFill>
          <a:blip r:embed="rId2"/>
          <a:stretch>
            <a:fillRect/>
          </a:stretch>
        </p:blipFill>
        <p:spPr>
          <a:xfrm>
            <a:off x="768096" y="1645920"/>
            <a:ext cx="219456" cy="219456"/>
          </a:xfrm>
          <a:prstGeom prst="rect">
            <a:avLst/>
          </a:prstGeom>
        </p:spPr>
      </p:pic>
      <p:sp>
        <p:nvSpPr>
          <p:cNvPr id="9" name="Text 5"/>
          <p:cNvSpPr/>
          <p:nvPr/>
        </p:nvSpPr>
        <p:spPr>
          <a:xfrm>
            <a:off x="1234440" y="1444752"/>
            <a:ext cx="4389120" cy="658368"/>
          </a:xfrm>
          <a:prstGeom prst="rect">
            <a:avLst/>
          </a:prstGeom>
          <a:noFill/>
          <a:ln/>
        </p:spPr>
        <p:txBody>
          <a:bodyPr wrap="square" lIns="0" tIns="0" rIns="0" bIns="0" rtlCol="0" anchor="ctr"/>
          <a:lstStyle/>
          <a:p>
            <a:pPr indent="0" marL="0">
              <a:buNone/>
            </a:pPr>
            <a:r>
              <a:rPr lang="en-US" sz="1300" b="1" dirty="0">
                <a:solidFill>
                  <a:srgbClr val="12362A"/>
                </a:solidFill>
                <a:latin typeface="Calibri" pitchFamily="34" charset="0"/>
                <a:ea typeface="Calibri" pitchFamily="34" charset="-122"/>
                <a:cs typeface="Calibri" pitchFamily="34" charset="-120"/>
              </a:rPr>
              <a:t>We answered the 5 C's</a:t>
            </a:r>
            <a:endParaRPr lang="en-US" sz="1300" dirty="0"/>
          </a:p>
          <a:p>
            <a:pPr indent="0" marL="0">
              <a:buNone/>
            </a:pPr>
            <a:r>
              <a:rPr lang="en-US" sz="1100" dirty="0">
                <a:solidFill>
                  <a:srgbClr val="5E6E66"/>
                </a:solidFill>
                <a:latin typeface="Calibri" pitchFamily="34" charset="0"/>
                <a:ea typeface="Calibri" pitchFamily="34" charset="-122"/>
                <a:cs typeface="Calibri" pitchFamily="34" charset="-120"/>
              </a:rPr>
              <a:t>category, context, correctness, contributions, clarity — from ~10% of the text</a:t>
            </a:r>
            <a:endParaRPr lang="en-US" sz="1300" dirty="0"/>
          </a:p>
        </p:txBody>
      </p:sp>
      <p:sp>
        <p:nvSpPr>
          <p:cNvPr id="10" name="Shape 6"/>
          <p:cNvSpPr/>
          <p:nvPr/>
        </p:nvSpPr>
        <p:spPr>
          <a:xfrm>
            <a:off x="502920" y="2267712"/>
            <a:ext cx="5212080" cy="777240"/>
          </a:xfrm>
          <a:prstGeom prst="roundRect">
            <a:avLst>
              <a:gd name="adj" fmla="val 9412"/>
            </a:avLst>
          </a:prstGeom>
          <a:solidFill>
            <a:srgbClr val="EFF5F0"/>
          </a:solidFill>
          <a:ln/>
          <a:effectLst>
            <a:outerShdw sx="100000" sy="100000" kx="0" ky="0" algn="bl" rotWithShape="0" blurRad="88900" dist="25400" dir="2700000">
              <a:srgbClr val="000000">
                <a:alpha val="14000"/>
              </a:srgbClr>
            </a:outerShdw>
          </a:effectLst>
        </p:spPr>
      </p:sp>
      <p:sp>
        <p:nvSpPr>
          <p:cNvPr id="11" name="Shape 7"/>
          <p:cNvSpPr/>
          <p:nvPr/>
        </p:nvSpPr>
        <p:spPr>
          <a:xfrm>
            <a:off x="685800" y="2459736"/>
            <a:ext cx="384048" cy="384048"/>
          </a:xfrm>
          <a:prstGeom prst="ellipse">
            <a:avLst/>
          </a:prstGeom>
          <a:solidFill>
            <a:srgbClr val="1E5A3F"/>
          </a:solidFill>
          <a:ln/>
        </p:spPr>
      </p:sp>
      <p:pic>
        <p:nvPicPr>
          <p:cNvPr id="12" name="Image 2" descr="preencoded.png">    </p:cNvPr>
          <p:cNvPicPr>
            <a:picLocks noChangeAspect="1"/>
          </p:cNvPicPr>
          <p:nvPr/>
        </p:nvPicPr>
        <p:blipFill>
          <a:blip r:embed="rId3"/>
          <a:stretch>
            <a:fillRect/>
          </a:stretch>
        </p:blipFill>
        <p:spPr>
          <a:xfrm>
            <a:off x="768096" y="2542032"/>
            <a:ext cx="219456" cy="219456"/>
          </a:xfrm>
          <a:prstGeom prst="rect">
            <a:avLst/>
          </a:prstGeom>
        </p:spPr>
      </p:pic>
      <p:sp>
        <p:nvSpPr>
          <p:cNvPr id="13" name="Text 8"/>
          <p:cNvSpPr/>
          <p:nvPr/>
        </p:nvSpPr>
        <p:spPr>
          <a:xfrm>
            <a:off x="1234440" y="2340864"/>
            <a:ext cx="4389120" cy="658368"/>
          </a:xfrm>
          <a:prstGeom prst="rect">
            <a:avLst/>
          </a:prstGeom>
          <a:noFill/>
          <a:ln/>
        </p:spPr>
        <p:txBody>
          <a:bodyPr wrap="square" lIns="0" tIns="0" rIns="0" bIns="0" rtlCol="0" anchor="ctr"/>
          <a:lstStyle/>
          <a:p>
            <a:pPr indent="0" marL="0">
              <a:buNone/>
            </a:pPr>
            <a:r>
              <a:rPr lang="en-US" sz="1300" b="1" dirty="0">
                <a:solidFill>
                  <a:srgbClr val="12362A"/>
                </a:solidFill>
                <a:latin typeface="Calibri" pitchFamily="34" charset="0"/>
                <a:ea typeface="Calibri" pitchFamily="34" charset="-122"/>
                <a:cs typeface="Calibri" pitchFamily="34" charset="-120"/>
              </a:rPr>
              <a:t>We made a decision</a:t>
            </a:r>
            <a:endParaRPr lang="en-US" sz="1300" dirty="0"/>
          </a:p>
          <a:p>
            <a:pPr indent="0" marL="0">
              <a:buNone/>
            </a:pPr>
            <a:r>
              <a:rPr lang="en-US" sz="1100" dirty="0">
                <a:solidFill>
                  <a:srgbClr val="5E6E66"/>
                </a:solidFill>
                <a:latin typeface="Calibri" pitchFamily="34" charset="0"/>
                <a:ea typeface="Calibri" pitchFamily="34" charset="-122"/>
                <a:cs typeface="Calibri" pitchFamily="34" charset="-120"/>
              </a:rPr>
              <a:t>keep / discard / go deeper — reading time is a budget you allocate</a:t>
            </a:r>
            <a:endParaRPr lang="en-US" sz="1300" dirty="0"/>
          </a:p>
        </p:txBody>
      </p:sp>
      <p:sp>
        <p:nvSpPr>
          <p:cNvPr id="14" name="Shape 9"/>
          <p:cNvSpPr/>
          <p:nvPr/>
        </p:nvSpPr>
        <p:spPr>
          <a:xfrm>
            <a:off x="502920" y="3163824"/>
            <a:ext cx="5212080" cy="777240"/>
          </a:xfrm>
          <a:prstGeom prst="roundRect">
            <a:avLst>
              <a:gd name="adj" fmla="val 9412"/>
            </a:avLst>
          </a:prstGeom>
          <a:solidFill>
            <a:srgbClr val="EFF5F0"/>
          </a:solidFill>
          <a:ln/>
          <a:effectLst>
            <a:outerShdw sx="100000" sy="100000" kx="0" ky="0" algn="bl" rotWithShape="0" blurRad="88900" dist="25400" dir="2700000">
              <a:srgbClr val="000000">
                <a:alpha val="14000"/>
              </a:srgbClr>
            </a:outerShdw>
          </a:effectLst>
        </p:spPr>
      </p:sp>
      <p:sp>
        <p:nvSpPr>
          <p:cNvPr id="15" name="Shape 10"/>
          <p:cNvSpPr/>
          <p:nvPr/>
        </p:nvSpPr>
        <p:spPr>
          <a:xfrm>
            <a:off x="685800" y="3355848"/>
            <a:ext cx="384048" cy="384048"/>
          </a:xfrm>
          <a:prstGeom prst="ellipse">
            <a:avLst/>
          </a:prstGeom>
          <a:solidFill>
            <a:srgbClr val="1E5A3F"/>
          </a:solidFill>
          <a:ln/>
        </p:spPr>
      </p:sp>
      <p:pic>
        <p:nvPicPr>
          <p:cNvPr id="16" name="Image 3" descr="preencoded.png">    </p:cNvPr>
          <p:cNvPicPr>
            <a:picLocks noChangeAspect="1"/>
          </p:cNvPicPr>
          <p:nvPr/>
        </p:nvPicPr>
        <p:blipFill>
          <a:blip r:embed="rId4"/>
          <a:stretch>
            <a:fillRect/>
          </a:stretch>
        </p:blipFill>
        <p:spPr>
          <a:xfrm>
            <a:off x="768096" y="3438144"/>
            <a:ext cx="219456" cy="219456"/>
          </a:xfrm>
          <a:prstGeom prst="rect">
            <a:avLst/>
          </a:prstGeom>
        </p:spPr>
      </p:pic>
      <p:sp>
        <p:nvSpPr>
          <p:cNvPr id="17" name="Text 11"/>
          <p:cNvSpPr/>
          <p:nvPr/>
        </p:nvSpPr>
        <p:spPr>
          <a:xfrm>
            <a:off x="1234440" y="3236976"/>
            <a:ext cx="4389120" cy="658368"/>
          </a:xfrm>
          <a:prstGeom prst="rect">
            <a:avLst/>
          </a:prstGeom>
          <a:noFill/>
          <a:ln/>
        </p:spPr>
        <p:txBody>
          <a:bodyPr wrap="square" lIns="0" tIns="0" rIns="0" bIns="0" rtlCol="0" anchor="ctr"/>
          <a:lstStyle/>
          <a:p>
            <a:pPr indent="0" marL="0">
              <a:buNone/>
            </a:pPr>
            <a:r>
              <a:rPr lang="en-US" sz="1300" b="1" dirty="0">
                <a:solidFill>
                  <a:srgbClr val="12362A"/>
                </a:solidFill>
                <a:latin typeface="Calibri" pitchFamily="34" charset="0"/>
                <a:ea typeface="Calibri" pitchFamily="34" charset="-122"/>
                <a:cs typeface="Calibri" pitchFamily="34" charset="-120"/>
              </a:rPr>
              <a:t>We never read the method</a:t>
            </a:r>
            <a:endParaRPr lang="en-US" sz="1300" dirty="0"/>
          </a:p>
          <a:p>
            <a:pPr indent="0" marL="0">
              <a:buNone/>
            </a:pPr>
            <a:r>
              <a:rPr lang="en-US" sz="1100" dirty="0">
                <a:solidFill>
                  <a:srgbClr val="5E6E66"/>
                </a:solidFill>
                <a:latin typeface="Calibri" pitchFamily="34" charset="0"/>
                <a:ea typeface="Calibri" pitchFamily="34" charset="-122"/>
                <a:cs typeface="Calibri" pitchFamily="34" charset="-120"/>
              </a:rPr>
              <a:t>and yet we can already discuss the paper intelligently</a:t>
            </a:r>
            <a:endParaRPr lang="en-US" sz="1300" dirty="0"/>
          </a:p>
        </p:txBody>
      </p:sp>
      <p:sp>
        <p:nvSpPr>
          <p:cNvPr id="18" name="Shape 12"/>
          <p:cNvSpPr/>
          <p:nvPr/>
        </p:nvSpPr>
        <p:spPr>
          <a:xfrm>
            <a:off x="5989320" y="1371600"/>
            <a:ext cx="2697480" cy="2651760"/>
          </a:xfrm>
          <a:prstGeom prst="roundRect">
            <a:avLst>
              <a:gd name="adj" fmla="val 3103"/>
            </a:avLst>
          </a:prstGeom>
          <a:solidFill>
            <a:srgbClr val="F7F4EC"/>
          </a:solidFill>
          <a:ln/>
          <a:effectLst>
            <a:outerShdw sx="100000" sy="100000" kx="0" ky="0" algn="bl" rotWithShape="0" blurRad="88900" dist="25400" dir="2700000">
              <a:srgbClr val="000000">
                <a:alpha val="14000"/>
              </a:srgbClr>
            </a:outerShdw>
          </a:effectLst>
        </p:spPr>
      </p:sp>
      <p:sp>
        <p:nvSpPr>
          <p:cNvPr id="19" name="Text 13"/>
          <p:cNvSpPr/>
          <p:nvPr/>
        </p:nvSpPr>
        <p:spPr>
          <a:xfrm>
            <a:off x="6217920" y="1536192"/>
            <a:ext cx="2286000" cy="320040"/>
          </a:xfrm>
          <a:prstGeom prst="rect">
            <a:avLst/>
          </a:prstGeom>
          <a:noFill/>
          <a:ln/>
        </p:spPr>
        <p:txBody>
          <a:bodyPr wrap="square" lIns="0" tIns="0" rIns="0" bIns="0" rtlCol="0" anchor="ctr"/>
          <a:lstStyle/>
          <a:p>
            <a:pPr indent="0" marL="0">
              <a:buNone/>
            </a:pPr>
            <a:r>
              <a:rPr lang="en-US" sz="1300" b="1" dirty="0">
                <a:solidFill>
                  <a:srgbClr val="C9922F"/>
                </a:solidFill>
                <a:latin typeface="Calibri" pitchFamily="34" charset="0"/>
                <a:ea typeface="Calibri" pitchFamily="34" charset="-122"/>
                <a:cs typeface="Calibri" pitchFamily="34" charset="-120"/>
              </a:rPr>
              <a:t>Your weekly practice</a:t>
            </a:r>
            <a:endParaRPr lang="en-US" sz="1300" dirty="0"/>
          </a:p>
        </p:txBody>
      </p:sp>
      <p:sp>
        <p:nvSpPr>
          <p:cNvPr id="20" name="Text 14"/>
          <p:cNvSpPr/>
          <p:nvPr/>
        </p:nvSpPr>
        <p:spPr>
          <a:xfrm>
            <a:off x="6263640" y="1920240"/>
            <a:ext cx="2331720" cy="1371600"/>
          </a:xfrm>
          <a:prstGeom prst="rect">
            <a:avLst/>
          </a:prstGeom>
          <a:noFill/>
          <a:ln/>
        </p:spPr>
        <p:txBody>
          <a:bodyPr wrap="square" rtlCol="0" anchor="ctr"/>
          <a:lstStyle/>
          <a:p>
            <a:pPr marL="342900" indent="-342900">
              <a:spcAft>
                <a:spcPts val="600"/>
              </a:spcAft>
              <a:buSzPct val="100000"/>
              <a:buChar char="•"/>
            </a:pPr>
            <a:r>
              <a:rPr lang="en-US" sz="1200" dirty="0">
                <a:solidFill>
                  <a:srgbClr val="23312B"/>
                </a:solidFill>
                <a:latin typeface="Calibri" pitchFamily="34" charset="0"/>
                <a:ea typeface="Calibri" pitchFamily="34" charset="-122"/>
                <a:cs typeface="Calibri" pitchFamily="34" charset="-120"/>
              </a:rPr>
              <a:t>3 papers / week in Pass 1</a:t>
            </a:r>
            <a:endParaRPr lang="en-US" sz="1200" dirty="0"/>
          </a:p>
          <a:p>
            <a:pPr marL="342900" indent="-342900">
              <a:spcAft>
                <a:spcPts val="600"/>
              </a:spcAft>
              <a:buSzPct val="100000"/>
              <a:buChar char="•"/>
            </a:pPr>
            <a:r>
              <a:rPr lang="en-US" sz="1200" dirty="0">
                <a:solidFill>
                  <a:srgbClr val="23312B"/>
                </a:solidFill>
                <a:latin typeface="Calibri" pitchFamily="34" charset="0"/>
                <a:ea typeface="Calibri" pitchFamily="34" charset="-122"/>
                <a:cs typeface="Calibri" pitchFamily="34" charset="-120"/>
              </a:rPr>
              <a:t>1 paper / week in Pass 2</a:t>
            </a:r>
            <a:endParaRPr lang="en-US" sz="1200" dirty="0"/>
          </a:p>
          <a:p>
            <a:pPr marL="342900" indent="-342900">
              <a:spcAft>
                <a:spcPts val="600"/>
              </a:spcAft>
              <a:buSzPct val="100000"/>
              <a:buChar char="•"/>
            </a:pPr>
            <a:r>
              <a:rPr lang="en-US" sz="1200" dirty="0">
                <a:solidFill>
                  <a:srgbClr val="23312B"/>
                </a:solidFill>
                <a:latin typeface="Calibri" pitchFamily="34" charset="0"/>
                <a:ea typeface="Calibri" pitchFamily="34" charset="-122"/>
                <a:cs typeface="Calibri" pitchFamily="34" charset="-120"/>
              </a:rPr>
              <a:t>1 paper / month in Pass 3</a:t>
            </a:r>
            <a:endParaRPr lang="en-US" sz="1200" dirty="0"/>
          </a:p>
        </p:txBody>
      </p:sp>
      <p:sp>
        <p:nvSpPr>
          <p:cNvPr id="21" name="Text 15"/>
          <p:cNvSpPr/>
          <p:nvPr/>
        </p:nvSpPr>
        <p:spPr>
          <a:xfrm>
            <a:off x="6217920" y="3520440"/>
            <a:ext cx="2286000" cy="320040"/>
          </a:xfrm>
          <a:prstGeom prst="rect">
            <a:avLst/>
          </a:prstGeom>
          <a:noFill/>
          <a:ln/>
        </p:spPr>
        <p:txBody>
          <a:bodyPr wrap="square" lIns="0" tIns="0" rIns="0" bIns="0" rtlCol="0" anchor="ctr"/>
          <a:lstStyle/>
          <a:p>
            <a:pPr indent="0" marL="0">
              <a:buNone/>
            </a:pPr>
            <a:r>
              <a:rPr lang="en-US" sz="1150" i="1" dirty="0">
                <a:solidFill>
                  <a:srgbClr val="5E6E66"/>
                </a:solidFill>
                <a:latin typeface="Calibri" pitchFamily="34" charset="0"/>
                <a:ea typeface="Calibri" pitchFamily="34" charset="-122"/>
                <a:cs typeface="Calibri" pitchFamily="34" charset="-120"/>
              </a:rPr>
              <a:t>≈ 90 min per week, total.</a:t>
            </a:r>
            <a:endParaRPr lang="en-US" sz="1150" dirty="0"/>
          </a:p>
        </p:txBody>
      </p:sp>
      <p:sp>
        <p:nvSpPr>
          <p:cNvPr id="22" name="Text 16"/>
          <p:cNvSpPr/>
          <p:nvPr/>
        </p:nvSpPr>
        <p:spPr>
          <a:xfrm>
            <a:off x="502920" y="4297680"/>
            <a:ext cx="8138160" cy="320040"/>
          </a:xfrm>
          <a:prstGeom prst="rect">
            <a:avLst/>
          </a:prstGeom>
          <a:noFill/>
          <a:ln/>
        </p:spPr>
        <p:txBody>
          <a:bodyPr wrap="square" lIns="0" tIns="0" rIns="0" bIns="0" rtlCol="0" anchor="ctr"/>
          <a:lstStyle/>
          <a:p>
            <a:pPr indent="0" marL="0">
              <a:buNone/>
            </a:pPr>
            <a:r>
              <a:rPr lang="en-US" sz="1250" i="1" dirty="0">
                <a:solidFill>
                  <a:srgbClr val="1E5A3F"/>
                </a:solidFill>
                <a:latin typeface="Calibri" pitchFamily="34" charset="0"/>
                <a:ea typeface="Calibri" pitchFamily="34" charset="-122"/>
                <a:cs typeface="Calibri" pitchFamily="34" charset="-120"/>
              </a:rPr>
              <a:t>Reading is a budgeted skill: minutes in, decisions out.</a:t>
            </a:r>
            <a:endParaRPr lang="en-US" sz="1250" dirty="0"/>
          </a:p>
        </p:txBody>
      </p:sp>
      <p:sp>
        <p:nvSpPr>
          <p:cNvPr id="23" name="Text 17"/>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4" name="Text 18"/>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19</a:t>
            </a:r>
            <a:endParaRPr lang="en-US" sz="850" dirty="0"/>
          </a:p>
        </p:txBody>
      </p:sp>
      <p:pic>
        <p:nvPicPr>
          <p:cNvPr id="113" name="QR kit" descr="img"/>
          <p:cNvPicPr>
            <a:picLocks noChangeAspect="1"/>
          </p:cNvPicPr>
          <p:nvPr/>
        </p:nvPicPr>
        <p:blipFill>
          <a:blip r:embed="rId7"/>
          <a:stretch>
            <a:fillRect/>
          </a:stretch>
        </p:blipFill>
        <p:spPr>
          <a:xfrm>
            <a:off x="7699248" y="4672584"/>
            <a:ext cx="402336" cy="402336"/>
          </a:xfrm>
          <a:prstGeom prst="rect">
            <a:avLst/>
          </a:prstGeom>
        </p:spPr>
      </p:pic>
      <p:sp>
        <p:nvSpPr>
          <p:cNvPr id="114"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2 · RECAP</a:t>
            </a:r>
            <a:endParaRPr lang="en-US" sz="1100" dirty="0"/>
          </a:p>
        </p:txBody>
      </p:sp>
      <p:sp>
        <p:nvSpPr>
          <p:cNvPr id="5" name="Text 2"/>
          <p:cNvSpPr/>
          <p:nvPr/>
        </p:nvSpPr>
        <p:spPr>
          <a:xfrm>
            <a:off x="1051560" y="548640"/>
            <a:ext cx="658368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The 3-Pass method at a glance</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1371600"/>
                <a:gridCol w="3108960"/>
                <a:gridCol w="1188720"/>
                <a:gridCol w="24688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1E5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Goal</a:t>
                      </a:r>
                      <a:endParaRPr lang="en-US" sz="120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1E5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 / paper</a:t>
                      </a:r>
                      <a:endParaRPr lang="en-US" sz="120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1E5A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1E5A3F"/>
                    </a:solidFill>
                  </a:tcPr>
                </a:tc>
              </a:tr>
              <a:tr h="502920">
                <a:tc>
                  <a:txBody>
                    <a:bodyPr/>
                    <a:lstStyle/>
                    <a:p>
                      <a:pPr indent="0" marL="0">
                        <a:buNone/>
                      </a:pPr>
                      <a:r>
                        <a:rPr lang="en-US" sz="1150" b="1" dirty="0">
                          <a:solidFill>
                            <a:srgbClr val="23312B"/>
                          </a:solidFill>
                          <a:latin typeface="Calibri" pitchFamily="34" charset="0"/>
                          <a:ea typeface="Calibri" pitchFamily="34" charset="-122"/>
                          <a:cs typeface="Calibri" pitchFamily="34" charset="-120"/>
                        </a:rPr>
                        <a:t>1 · Scan</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Triage — get the bird's-eye view (5 C's)</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5–10 min</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Decision: discard / keep / deepen</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23312B"/>
                          </a:solidFill>
                          <a:latin typeface="Calibri" pitchFamily="34" charset="0"/>
                          <a:ea typeface="Calibri" pitchFamily="34" charset="-122"/>
                          <a:cs typeface="Calibri" pitchFamily="34" charset="-120"/>
                        </a:rPr>
                        <a:t>2 · Grasp</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Understand content, evidence, figures</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up to 1 h</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Summary you can tell a colleague</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23312B"/>
                          </a:solidFill>
                          <a:latin typeface="Calibri" pitchFamily="34" charset="0"/>
                          <a:ea typeface="Calibri" pitchFamily="34" charset="-122"/>
                          <a:cs typeface="Calibri" pitchFamily="34" charset="-120"/>
                        </a:rPr>
                        <a:t>3 · Reconstruct</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Virtually re-implement; critique deeply</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1–5 h</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c>
                  <a:txBody>
                    <a:bodyPr/>
                    <a:lstStyle/>
                    <a:p>
                      <a:pPr indent="0" marL="0">
                        <a:buNone/>
                      </a:pPr>
                      <a:r>
                        <a:rPr lang="en-US" sz="1150" dirty="0">
                          <a:solidFill>
                            <a:srgbClr val="23312B"/>
                          </a:solidFill>
                          <a:latin typeface="Calibri" pitchFamily="34" charset="0"/>
                          <a:ea typeface="Calibri" pitchFamily="34" charset="-122"/>
                          <a:cs typeface="Calibri" pitchFamily="34" charset="-120"/>
                        </a:rPr>
                        <a:t>Strengths, weaknesses, new ideas</a:t>
                      </a:r>
                      <a:endParaRPr lang="en-US" sz="1150" dirty="0">
                        <a:latin typeface="Calibri" charset="0"/>
                        <a:ea typeface="Calibri" charset="0"/>
                        <a:cs typeface="Calibri" charset="0"/>
                      </a:endParaRPr>
                    </a:p>
                  </a:txBody>
                  <a:tcPr marL="91440" marR="91440" marT="45720" marB="45720" anchor="ctr">
                    <a:lnL w="9525" cap="flat" cmpd="sng" algn="ctr">
                      <a:solidFill>
                        <a:srgbClr val="CFE0D5"/>
                      </a:solidFill>
                      <a:prstDash val="solid"/>
                      <a:round/>
                      <a:headEnd type="none" w="med" len="med"/>
                      <a:tailEnd type="none" w="med" len="med"/>
                    </a:lnL>
                    <a:lnR w="9525" cap="flat" cmpd="sng" algn="ctr">
                      <a:solidFill>
                        <a:srgbClr val="CFE0D5"/>
                      </a:solidFill>
                      <a:prstDash val="solid"/>
                      <a:round/>
                      <a:headEnd type="none" w="med" len="med"/>
                      <a:tailEnd type="none" w="med" len="med"/>
                    </a:lnR>
                    <a:lnT w="9525" cap="flat" cmpd="sng" algn="ctr">
                      <a:solidFill>
                        <a:srgbClr val="CFE0D5"/>
                      </a:solidFill>
                      <a:prstDash val="solid"/>
                      <a:round/>
                      <a:headEnd type="none" w="med" len="med"/>
                      <a:tailEnd type="none" w="med" len="med"/>
                    </a:lnT>
                    <a:lnB w="9525" cap="flat" cmpd="sng" algn="ctr">
                      <a:solidFill>
                        <a:srgbClr val="CFE0D5"/>
                      </a:solidFill>
                      <a:prstDash val="solid"/>
                      <a:round/>
                      <a:headEnd type="none" w="med" len="med"/>
                      <a:tailEnd type="none" w="med" len="med"/>
                    </a:lnB>
                    <a:solidFill>
                      <a:srgbClr val="FFFFFF"/>
                    </a:solidFill>
                  </a:tcPr>
                </a:tc>
              </a:tr>
            </a:tbl>
          </a:graphicData>
        </a:graphic>
      </p:graphicFrame>
      <p:sp>
        <p:nvSpPr>
          <p:cNvPr id="7" name="Text 3"/>
          <p:cNvSpPr/>
          <p:nvPr/>
        </p:nvSpPr>
        <p:spPr>
          <a:xfrm>
            <a:off x="502920" y="3657600"/>
            <a:ext cx="457200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Tools that multiply the method</a:t>
            </a:r>
            <a:endParaRPr lang="en-US" sz="1300" dirty="0"/>
          </a:p>
        </p:txBody>
      </p:sp>
      <p:sp>
        <p:nvSpPr>
          <p:cNvPr id="8" name="Shape 4"/>
          <p:cNvSpPr/>
          <p:nvPr/>
        </p:nvSpPr>
        <p:spPr>
          <a:xfrm>
            <a:off x="502920" y="4005072"/>
            <a:ext cx="2606040" cy="731520"/>
          </a:xfrm>
          <a:prstGeom prst="roundRect">
            <a:avLst>
              <a:gd name="adj" fmla="val 10000"/>
            </a:avLst>
          </a:prstGeom>
          <a:solidFill>
            <a:srgbClr val="EFF5F0"/>
          </a:solidFill>
          <a:ln/>
        </p:spPr>
      </p:sp>
      <p:sp>
        <p:nvSpPr>
          <p:cNvPr id="9" name="Text 5"/>
          <p:cNvSpPr/>
          <p:nvPr/>
        </p:nvSpPr>
        <p:spPr>
          <a:xfrm>
            <a:off x="640080" y="4059936"/>
            <a:ext cx="2377440" cy="640080"/>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Zotero / Mendeley</a:t>
            </a:r>
            <a:endParaRPr lang="en-US" sz="1150" dirty="0"/>
          </a:p>
          <a:p>
            <a:pPr indent="0" marL="0">
              <a:buNone/>
            </a:pPr>
            <a:r>
              <a:rPr lang="en-US" sz="950" i="1" dirty="0">
                <a:solidFill>
                  <a:srgbClr val="5E6E66"/>
                </a:solidFill>
                <a:latin typeface="Calibri" pitchFamily="34" charset="0"/>
                <a:ea typeface="Calibri" pitchFamily="34" charset="-122"/>
                <a:cs typeface="Calibri" pitchFamily="34" charset="-120"/>
              </a:rPr>
              <a:t>reference managers</a:t>
            </a:r>
            <a:endParaRPr lang="en-US" sz="1150" dirty="0"/>
          </a:p>
        </p:txBody>
      </p:sp>
      <p:sp>
        <p:nvSpPr>
          <p:cNvPr id="10" name="Shape 6"/>
          <p:cNvSpPr/>
          <p:nvPr/>
        </p:nvSpPr>
        <p:spPr>
          <a:xfrm>
            <a:off x="3291840" y="4005072"/>
            <a:ext cx="2606040" cy="731520"/>
          </a:xfrm>
          <a:prstGeom prst="roundRect">
            <a:avLst>
              <a:gd name="adj" fmla="val 10000"/>
            </a:avLst>
          </a:prstGeom>
          <a:solidFill>
            <a:srgbClr val="EFF5F0"/>
          </a:solidFill>
          <a:ln/>
        </p:spPr>
      </p:sp>
      <p:sp>
        <p:nvSpPr>
          <p:cNvPr id="11" name="Text 7"/>
          <p:cNvSpPr/>
          <p:nvPr/>
        </p:nvSpPr>
        <p:spPr>
          <a:xfrm>
            <a:off x="3429000" y="4059936"/>
            <a:ext cx="2377440" cy="640080"/>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Notion / Obsidian</a:t>
            </a:r>
            <a:endParaRPr lang="en-US" sz="1150" dirty="0"/>
          </a:p>
          <a:p>
            <a:pPr indent="0" marL="0">
              <a:buNone/>
            </a:pPr>
            <a:r>
              <a:rPr lang="en-US" sz="950" i="1" dirty="0">
                <a:solidFill>
                  <a:srgbClr val="5E6E66"/>
                </a:solidFill>
                <a:latin typeface="Calibri" pitchFamily="34" charset="0"/>
                <a:ea typeface="Calibri" pitchFamily="34" charset="-122"/>
                <a:cs typeface="Calibri" pitchFamily="34" charset="-120"/>
              </a:rPr>
              <a:t>structured reading notes</a:t>
            </a:r>
            <a:endParaRPr lang="en-US" sz="1150" dirty="0"/>
          </a:p>
        </p:txBody>
      </p:sp>
      <p:sp>
        <p:nvSpPr>
          <p:cNvPr id="12" name="Shape 8"/>
          <p:cNvSpPr/>
          <p:nvPr/>
        </p:nvSpPr>
        <p:spPr>
          <a:xfrm>
            <a:off x="6080760" y="4005072"/>
            <a:ext cx="2606040" cy="731520"/>
          </a:xfrm>
          <a:prstGeom prst="roundRect">
            <a:avLst>
              <a:gd name="adj" fmla="val 10000"/>
            </a:avLst>
          </a:prstGeom>
          <a:solidFill>
            <a:srgbClr val="EFF5F0"/>
          </a:solidFill>
          <a:ln/>
        </p:spPr>
      </p:sp>
      <p:sp>
        <p:nvSpPr>
          <p:cNvPr id="13" name="Text 9"/>
          <p:cNvSpPr/>
          <p:nvPr/>
        </p:nvSpPr>
        <p:spPr>
          <a:xfrm>
            <a:off x="6217920" y="4059936"/>
            <a:ext cx="2377440" cy="640080"/>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Elicit · Scite.ai</a:t>
            </a:r>
            <a:endParaRPr lang="en-US" sz="1150" dirty="0"/>
          </a:p>
          <a:p>
            <a:pPr indent="0" marL="0">
              <a:buNone/>
            </a:pPr>
            <a:r>
              <a:rPr lang="en-US" sz="950" i="1" dirty="0">
                <a:solidFill>
                  <a:srgbClr val="5E6E66"/>
                </a:solidFill>
                <a:latin typeface="Calibri" pitchFamily="34" charset="0"/>
                <a:ea typeface="Calibri" pitchFamily="34" charset="-122"/>
                <a:cs typeface="Calibri" pitchFamily="34" charset="-120"/>
              </a:rPr>
              <a:t>AI-assisted discovery — verify, never outsource judgement</a:t>
            </a:r>
            <a:endParaRPr lang="en-US" sz="1150" dirty="0"/>
          </a:p>
        </p:txBody>
      </p:sp>
      <p:sp>
        <p:nvSpPr>
          <p:cNvPr id="14" name="Text 10"/>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5" name="Text 11"/>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20</a:t>
            </a:r>
            <a:endParaRPr lang="en-US" sz="850" dirty="0"/>
          </a:p>
        </p:txBody>
      </p:sp>
      <p:pic>
        <p:nvPicPr>
          <p:cNvPr id="115"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16"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362A"/>
        </a:solidFill>
      </p:bgPr>
    </p:bg>
    <p:spTree>
      <p:nvGrpSpPr>
        <p:cNvPr id="1" name=""/>
        <p:cNvGrpSpPr/>
        <p:nvPr/>
      </p:nvGrpSpPr>
      <p:grpSpPr>
        <a:xfrm>
          <a:off x="0" y="0"/>
          <a:ext cx="0" cy="0"/>
          <a:chOff x="0" y="0"/>
          <a:chExt cx="0" cy="0"/>
        </a:xfrm>
      </p:grpSpPr>
      <p:sp>
        <p:nvSpPr>
          <p:cNvPr id="2" name="Shape 0"/>
          <p:cNvSpPr/>
          <p:nvPr/>
        </p:nvSpPr>
        <p:spPr>
          <a:xfrm>
            <a:off x="502920" y="502920"/>
            <a:ext cx="3200400" cy="384048"/>
          </a:xfrm>
          <a:prstGeom prst="roundRect">
            <a:avLst>
              <a:gd name="adj" fmla="val 50000"/>
            </a:avLst>
          </a:prstGeom>
          <a:solidFill>
            <a:srgbClr val="1E5A3F"/>
          </a:solidFill>
          <a:ln/>
        </p:spPr>
      </p:sp>
      <p:sp>
        <p:nvSpPr>
          <p:cNvPr id="3" name="Text 1"/>
          <p:cNvSpPr/>
          <p:nvPr/>
        </p:nvSpPr>
        <p:spPr>
          <a:xfrm>
            <a:off x="502920" y="502920"/>
            <a:ext cx="3200400" cy="384048"/>
          </a:xfrm>
          <a:prstGeom prst="rect">
            <a:avLst/>
          </a:prstGeom>
          <a:noFill/>
          <a:ln/>
        </p:spPr>
        <p:txBody>
          <a:bodyPr wrap="square" lIns="0" tIns="0" rIns="0" bIns="0" rtlCol="0" anchor="ctr"/>
          <a:lstStyle/>
          <a:p>
            <a:pPr algn="ctr" indent="0" marL="0">
              <a:buNone/>
            </a:pPr>
            <a:r>
              <a:rPr lang="en-US" sz="1050" b="1" spc="100" kern="0" dirty="0">
                <a:solidFill>
                  <a:srgbClr val="E9B44C"/>
                </a:solidFill>
                <a:latin typeface="Calibri" pitchFamily="34" charset="0"/>
                <a:ea typeface="Calibri" pitchFamily="34" charset="-122"/>
                <a:cs typeface="Calibri" pitchFamily="34" charset="-120"/>
              </a:rPr>
              <a:t>PART 3 · THE WRITING BLUEPRINT · 18 MIN</a:t>
            </a:r>
            <a:endParaRPr lang="en-US" sz="1050" dirty="0"/>
          </a:p>
        </p:txBody>
      </p:sp>
      <p:sp>
        <p:nvSpPr>
          <p:cNvPr id="4" name="Text 2"/>
          <p:cNvSpPr/>
          <p:nvPr/>
        </p:nvSpPr>
        <p:spPr>
          <a:xfrm>
            <a:off x="502920" y="1097280"/>
            <a:ext cx="813816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Building your story in four steps</a:t>
            </a:r>
            <a:endParaRPr lang="en-US" sz="3400" dirty="0"/>
          </a:p>
        </p:txBody>
      </p:sp>
      <p:sp>
        <p:nvSpPr>
          <p:cNvPr id="5" name="Text 3"/>
          <p:cNvSpPr/>
          <p:nvPr/>
        </p:nvSpPr>
        <p:spPr>
          <a:xfrm>
            <a:off x="502920" y="1920240"/>
            <a:ext cx="7863840" cy="411480"/>
          </a:xfrm>
          <a:prstGeom prst="rect">
            <a:avLst/>
          </a:prstGeom>
          <a:noFill/>
          <a:ln/>
        </p:spPr>
        <p:txBody>
          <a:bodyPr wrap="square" lIns="0" tIns="0" rIns="0" bIns="0" rtlCol="0" anchor="ctr"/>
          <a:lstStyle/>
          <a:p>
            <a:pPr indent="0" marL="0">
              <a:buNone/>
            </a:pPr>
            <a:r>
              <a:rPr lang="en-US" sz="1450" i="1" dirty="0">
                <a:solidFill>
                  <a:srgbClr val="9CBFA7"/>
                </a:solidFill>
                <a:latin typeface="Calibri" pitchFamily="34" charset="0"/>
                <a:ea typeface="Calibri" pitchFamily="34" charset="-122"/>
                <a:cs typeface="Calibri" pitchFamily="34" charset="-120"/>
              </a:rPr>
              <a:t>A paper is not a diary of what you did — it is a story engineered for a busy, skeptical reader.</a:t>
            </a:r>
            <a:endParaRPr lang="en-US" sz="1450" dirty="0"/>
          </a:p>
        </p:txBody>
      </p:sp>
      <p:sp>
        <p:nvSpPr>
          <p:cNvPr id="6" name="Shape 4"/>
          <p:cNvSpPr/>
          <p:nvPr/>
        </p:nvSpPr>
        <p:spPr>
          <a:xfrm>
            <a:off x="502920" y="2560320"/>
            <a:ext cx="1920240" cy="1737360"/>
          </a:xfrm>
          <a:prstGeom prst="roundRect">
            <a:avLst>
              <a:gd name="adj" fmla="val 4737"/>
            </a:avLst>
          </a:prstGeom>
          <a:solidFill>
            <a:srgbClr val="1B4A38"/>
          </a:solidFill>
          <a:ln/>
          <a:effectLst>
            <a:outerShdw sx="100000" sy="100000" kx="0" ky="0" algn="bl" rotWithShape="0" blurRad="88900" dist="25400" dir="2700000">
              <a:srgbClr val="000000">
                <a:alpha val="14000"/>
              </a:srgbClr>
            </a:outerShdw>
          </a:effectLst>
        </p:spPr>
      </p:sp>
      <p:sp>
        <p:nvSpPr>
          <p:cNvPr id="7" name="Shape 5"/>
          <p:cNvSpPr/>
          <p:nvPr/>
        </p:nvSpPr>
        <p:spPr>
          <a:xfrm>
            <a:off x="1124712" y="2743200"/>
            <a:ext cx="658368" cy="658368"/>
          </a:xfrm>
          <a:prstGeom prst="ellipse">
            <a:avLst/>
          </a:prstGeom>
          <a:solidFill>
            <a:srgbClr val="1E5A3F"/>
          </a:solidFill>
          <a:ln/>
        </p:spPr>
      </p:sp>
      <p:pic>
        <p:nvPicPr>
          <p:cNvPr id="8" name="Image 0" descr="preencoded.png">    </p:cNvPr>
          <p:cNvPicPr>
            <a:picLocks noChangeAspect="1"/>
          </p:cNvPicPr>
          <p:nvPr/>
        </p:nvPicPr>
        <p:blipFill>
          <a:blip r:embed="rId1"/>
          <a:stretch>
            <a:fillRect/>
          </a:stretch>
        </p:blipFill>
        <p:spPr>
          <a:xfrm>
            <a:off x="1295888" y="2914376"/>
            <a:ext cx="316017" cy="316017"/>
          </a:xfrm>
          <a:prstGeom prst="rect">
            <a:avLst/>
          </a:prstGeom>
        </p:spPr>
      </p:pic>
      <p:sp>
        <p:nvSpPr>
          <p:cNvPr id="9" name="Text 6"/>
          <p:cNvSpPr/>
          <p:nvPr/>
        </p:nvSpPr>
        <p:spPr>
          <a:xfrm>
            <a:off x="594360" y="3493008"/>
            <a:ext cx="1737360" cy="292608"/>
          </a:xfrm>
          <a:prstGeom prst="rect">
            <a:avLst/>
          </a:prstGeom>
          <a:noFill/>
          <a:ln/>
        </p:spPr>
        <p:txBody>
          <a:bodyPr wrap="square" lIns="0" tIns="0" rIns="0" bIns="0" rtlCol="0" anchor="ctr"/>
          <a:lstStyle/>
          <a:p>
            <a:pPr algn="ctr" indent="0" marL="0">
              <a:buNone/>
            </a:pPr>
            <a:r>
              <a:rPr lang="en-US" sz="1450" b="1" dirty="0">
                <a:solidFill>
                  <a:srgbClr val="E9B44C"/>
                </a:solidFill>
                <a:latin typeface="Cambria" pitchFamily="34" charset="0"/>
                <a:ea typeface="Cambria" pitchFamily="34" charset="-122"/>
                <a:cs typeface="Cambria" pitchFamily="34" charset="-120"/>
              </a:rPr>
              <a:t>1 · Frame</a:t>
            </a:r>
            <a:endParaRPr lang="en-US" sz="1450" dirty="0"/>
          </a:p>
        </p:txBody>
      </p:sp>
      <p:sp>
        <p:nvSpPr>
          <p:cNvPr id="10" name="Text 7"/>
          <p:cNvSpPr/>
          <p:nvPr/>
        </p:nvSpPr>
        <p:spPr>
          <a:xfrm>
            <a:off x="630936" y="3785616"/>
            <a:ext cx="1664208"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Title &amp; Introduction that demand attention</a:t>
            </a:r>
            <a:endParaRPr lang="en-US" sz="1000" dirty="0"/>
          </a:p>
        </p:txBody>
      </p:sp>
      <p:sp>
        <p:nvSpPr>
          <p:cNvPr id="11" name="Shape 8"/>
          <p:cNvSpPr/>
          <p:nvPr/>
        </p:nvSpPr>
        <p:spPr>
          <a:xfrm>
            <a:off x="2606040" y="2560320"/>
            <a:ext cx="1920240" cy="1737360"/>
          </a:xfrm>
          <a:prstGeom prst="roundRect">
            <a:avLst>
              <a:gd name="adj" fmla="val 4737"/>
            </a:avLst>
          </a:prstGeom>
          <a:solidFill>
            <a:srgbClr val="1B4A38"/>
          </a:solidFill>
          <a:ln/>
          <a:effectLst>
            <a:outerShdw sx="100000" sy="100000" kx="0" ky="0" algn="bl" rotWithShape="0" blurRad="88900" dist="25400" dir="2700000">
              <a:srgbClr val="000000">
                <a:alpha val="14000"/>
              </a:srgbClr>
            </a:outerShdw>
          </a:effectLst>
        </p:spPr>
      </p:sp>
      <p:sp>
        <p:nvSpPr>
          <p:cNvPr id="12" name="Shape 9"/>
          <p:cNvSpPr/>
          <p:nvPr/>
        </p:nvSpPr>
        <p:spPr>
          <a:xfrm>
            <a:off x="3227832" y="2743200"/>
            <a:ext cx="658368" cy="658368"/>
          </a:xfrm>
          <a:prstGeom prst="ellipse">
            <a:avLst/>
          </a:prstGeom>
          <a:solidFill>
            <a:srgbClr val="1E5A3F"/>
          </a:solidFill>
          <a:ln/>
        </p:spPr>
      </p:sp>
      <p:pic>
        <p:nvPicPr>
          <p:cNvPr id="13" name="Image 1" descr="preencoded.png">    </p:cNvPr>
          <p:cNvPicPr>
            <a:picLocks noChangeAspect="1"/>
          </p:cNvPicPr>
          <p:nvPr/>
        </p:nvPicPr>
        <p:blipFill>
          <a:blip r:embed="rId2"/>
          <a:stretch>
            <a:fillRect/>
          </a:stretch>
        </p:blipFill>
        <p:spPr>
          <a:xfrm>
            <a:off x="3399008" y="2914376"/>
            <a:ext cx="316017" cy="316017"/>
          </a:xfrm>
          <a:prstGeom prst="rect">
            <a:avLst/>
          </a:prstGeom>
        </p:spPr>
      </p:pic>
      <p:sp>
        <p:nvSpPr>
          <p:cNvPr id="14" name="Text 10"/>
          <p:cNvSpPr/>
          <p:nvPr/>
        </p:nvSpPr>
        <p:spPr>
          <a:xfrm>
            <a:off x="2697480" y="3493008"/>
            <a:ext cx="1737360" cy="292608"/>
          </a:xfrm>
          <a:prstGeom prst="rect">
            <a:avLst/>
          </a:prstGeom>
          <a:noFill/>
          <a:ln/>
        </p:spPr>
        <p:txBody>
          <a:bodyPr wrap="square" lIns="0" tIns="0" rIns="0" bIns="0" rtlCol="0" anchor="ctr"/>
          <a:lstStyle/>
          <a:p>
            <a:pPr algn="ctr" indent="0" marL="0">
              <a:buNone/>
            </a:pPr>
            <a:r>
              <a:rPr lang="en-US" sz="1450" b="1" dirty="0">
                <a:solidFill>
                  <a:srgbClr val="E9B44C"/>
                </a:solidFill>
                <a:latin typeface="Cambria" pitchFamily="34" charset="0"/>
                <a:ea typeface="Cambria" pitchFamily="34" charset="-122"/>
                <a:cs typeface="Cambria" pitchFamily="34" charset="-120"/>
              </a:rPr>
              <a:t>2 · Core</a:t>
            </a:r>
            <a:endParaRPr lang="en-US" sz="1450" dirty="0"/>
          </a:p>
        </p:txBody>
      </p:sp>
      <p:sp>
        <p:nvSpPr>
          <p:cNvPr id="15" name="Text 11"/>
          <p:cNvSpPr/>
          <p:nvPr/>
        </p:nvSpPr>
        <p:spPr>
          <a:xfrm>
            <a:off x="2734056" y="3785616"/>
            <a:ext cx="1664208"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Methodology, notation &amp; FAIR data</a:t>
            </a:r>
            <a:endParaRPr lang="en-US" sz="1000" dirty="0"/>
          </a:p>
        </p:txBody>
      </p:sp>
      <p:sp>
        <p:nvSpPr>
          <p:cNvPr id="16" name="Shape 12"/>
          <p:cNvSpPr/>
          <p:nvPr/>
        </p:nvSpPr>
        <p:spPr>
          <a:xfrm>
            <a:off x="4709160" y="2560320"/>
            <a:ext cx="1920240" cy="1737360"/>
          </a:xfrm>
          <a:prstGeom prst="roundRect">
            <a:avLst>
              <a:gd name="adj" fmla="val 4737"/>
            </a:avLst>
          </a:prstGeom>
          <a:solidFill>
            <a:srgbClr val="1B4A38"/>
          </a:solidFill>
          <a:ln/>
          <a:effectLst>
            <a:outerShdw sx="100000" sy="100000" kx="0" ky="0" algn="bl" rotWithShape="0" blurRad="88900" dist="25400" dir="2700000">
              <a:srgbClr val="000000">
                <a:alpha val="14000"/>
              </a:srgbClr>
            </a:outerShdw>
          </a:effectLst>
        </p:spPr>
      </p:sp>
      <p:sp>
        <p:nvSpPr>
          <p:cNvPr id="17" name="Shape 13"/>
          <p:cNvSpPr/>
          <p:nvPr/>
        </p:nvSpPr>
        <p:spPr>
          <a:xfrm>
            <a:off x="5330952" y="2743200"/>
            <a:ext cx="658368" cy="658368"/>
          </a:xfrm>
          <a:prstGeom prst="ellipse">
            <a:avLst/>
          </a:prstGeom>
          <a:solidFill>
            <a:srgbClr val="1E5A3F"/>
          </a:solidFill>
          <a:ln/>
        </p:spPr>
      </p:sp>
      <p:pic>
        <p:nvPicPr>
          <p:cNvPr id="18" name="Image 2" descr="preencoded.png">    </p:cNvPr>
          <p:cNvPicPr>
            <a:picLocks noChangeAspect="1"/>
          </p:cNvPicPr>
          <p:nvPr/>
        </p:nvPicPr>
        <p:blipFill>
          <a:blip r:embed="rId3"/>
          <a:stretch>
            <a:fillRect/>
          </a:stretch>
        </p:blipFill>
        <p:spPr>
          <a:xfrm>
            <a:off x="5502128" y="2914376"/>
            <a:ext cx="316017" cy="316017"/>
          </a:xfrm>
          <a:prstGeom prst="rect">
            <a:avLst/>
          </a:prstGeom>
        </p:spPr>
      </p:pic>
      <p:sp>
        <p:nvSpPr>
          <p:cNvPr id="19" name="Text 14"/>
          <p:cNvSpPr/>
          <p:nvPr/>
        </p:nvSpPr>
        <p:spPr>
          <a:xfrm>
            <a:off x="4800600" y="3493008"/>
            <a:ext cx="1737360" cy="292608"/>
          </a:xfrm>
          <a:prstGeom prst="rect">
            <a:avLst/>
          </a:prstGeom>
          <a:noFill/>
          <a:ln/>
        </p:spPr>
        <p:txBody>
          <a:bodyPr wrap="square" lIns="0" tIns="0" rIns="0" bIns="0" rtlCol="0" anchor="ctr"/>
          <a:lstStyle/>
          <a:p>
            <a:pPr algn="ctr" indent="0" marL="0">
              <a:buNone/>
            </a:pPr>
            <a:r>
              <a:rPr lang="en-US" sz="1450" b="1" dirty="0">
                <a:solidFill>
                  <a:srgbClr val="E9B44C"/>
                </a:solidFill>
                <a:latin typeface="Cambria" pitchFamily="34" charset="0"/>
                <a:ea typeface="Cambria" pitchFamily="34" charset="-122"/>
                <a:cs typeface="Cambria" pitchFamily="34" charset="-120"/>
              </a:rPr>
              <a:t>3 · Impact</a:t>
            </a:r>
            <a:endParaRPr lang="en-US" sz="1450" dirty="0"/>
          </a:p>
        </p:txBody>
      </p:sp>
      <p:sp>
        <p:nvSpPr>
          <p:cNvPr id="20" name="Text 15"/>
          <p:cNvSpPr/>
          <p:nvPr/>
        </p:nvSpPr>
        <p:spPr>
          <a:xfrm>
            <a:off x="4837176" y="3785616"/>
            <a:ext cx="1664208"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Results &amp; publication-quality figures</a:t>
            </a:r>
            <a:endParaRPr lang="en-US" sz="1000" dirty="0"/>
          </a:p>
        </p:txBody>
      </p:sp>
      <p:sp>
        <p:nvSpPr>
          <p:cNvPr id="21" name="Shape 16"/>
          <p:cNvSpPr/>
          <p:nvPr/>
        </p:nvSpPr>
        <p:spPr>
          <a:xfrm>
            <a:off x="6812280" y="2560320"/>
            <a:ext cx="1920240" cy="1737360"/>
          </a:xfrm>
          <a:prstGeom prst="roundRect">
            <a:avLst>
              <a:gd name="adj" fmla="val 4737"/>
            </a:avLst>
          </a:prstGeom>
          <a:solidFill>
            <a:srgbClr val="1B4A38"/>
          </a:solidFill>
          <a:ln/>
          <a:effectLst>
            <a:outerShdw sx="100000" sy="100000" kx="0" ky="0" algn="bl" rotWithShape="0" blurRad="88900" dist="25400" dir="2700000">
              <a:srgbClr val="000000">
                <a:alpha val="14000"/>
              </a:srgbClr>
            </a:outerShdw>
          </a:effectLst>
        </p:spPr>
      </p:sp>
      <p:sp>
        <p:nvSpPr>
          <p:cNvPr id="22" name="Shape 17"/>
          <p:cNvSpPr/>
          <p:nvPr/>
        </p:nvSpPr>
        <p:spPr>
          <a:xfrm>
            <a:off x="7434072" y="2743200"/>
            <a:ext cx="658368" cy="658368"/>
          </a:xfrm>
          <a:prstGeom prst="ellipse">
            <a:avLst/>
          </a:prstGeom>
          <a:solidFill>
            <a:srgbClr val="1E5A3F"/>
          </a:solidFill>
          <a:ln/>
        </p:spPr>
      </p:sp>
      <p:pic>
        <p:nvPicPr>
          <p:cNvPr id="23" name="Image 3" descr="preencoded.png">    </p:cNvPr>
          <p:cNvPicPr>
            <a:picLocks noChangeAspect="1"/>
          </p:cNvPicPr>
          <p:nvPr/>
        </p:nvPicPr>
        <p:blipFill>
          <a:blip r:embed="rId4"/>
          <a:stretch>
            <a:fillRect/>
          </a:stretch>
        </p:blipFill>
        <p:spPr>
          <a:xfrm>
            <a:off x="7605248" y="2914376"/>
            <a:ext cx="316017" cy="316017"/>
          </a:xfrm>
          <a:prstGeom prst="rect">
            <a:avLst/>
          </a:prstGeom>
        </p:spPr>
      </p:pic>
      <p:sp>
        <p:nvSpPr>
          <p:cNvPr id="24" name="Text 18"/>
          <p:cNvSpPr/>
          <p:nvPr/>
        </p:nvSpPr>
        <p:spPr>
          <a:xfrm>
            <a:off x="6903720" y="3493008"/>
            <a:ext cx="1737360" cy="292608"/>
          </a:xfrm>
          <a:prstGeom prst="rect">
            <a:avLst/>
          </a:prstGeom>
          <a:noFill/>
          <a:ln/>
        </p:spPr>
        <p:txBody>
          <a:bodyPr wrap="square" lIns="0" tIns="0" rIns="0" bIns="0" rtlCol="0" anchor="ctr"/>
          <a:lstStyle/>
          <a:p>
            <a:pPr algn="ctr" indent="0" marL="0">
              <a:buNone/>
            </a:pPr>
            <a:r>
              <a:rPr lang="en-US" sz="1450" b="1" dirty="0">
                <a:solidFill>
                  <a:srgbClr val="E9B44C"/>
                </a:solidFill>
                <a:latin typeface="Cambria" pitchFamily="34" charset="0"/>
                <a:ea typeface="Cambria" pitchFamily="34" charset="-122"/>
                <a:cs typeface="Cambria" pitchFamily="34" charset="-120"/>
              </a:rPr>
              <a:t>4 · Honesty</a:t>
            </a:r>
            <a:endParaRPr lang="en-US" sz="1450" dirty="0"/>
          </a:p>
        </p:txBody>
      </p:sp>
      <p:sp>
        <p:nvSpPr>
          <p:cNvPr id="25" name="Text 19"/>
          <p:cNvSpPr/>
          <p:nvPr/>
        </p:nvSpPr>
        <p:spPr>
          <a:xfrm>
            <a:off x="6940296" y="3785616"/>
            <a:ext cx="1664208" cy="47548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Discussion, limitations, conclusion</a:t>
            </a:r>
            <a:endParaRPr lang="en-US" sz="1000" dirty="0"/>
          </a:p>
        </p:txBody>
      </p:sp>
      <p:sp>
        <p:nvSpPr>
          <p:cNvPr id="26" name="Text 20"/>
          <p:cNvSpPr/>
          <p:nvPr/>
        </p:nvSpPr>
        <p:spPr>
          <a:xfrm>
            <a:off x="502920" y="4526280"/>
            <a:ext cx="8138160" cy="320040"/>
          </a:xfrm>
          <a:prstGeom prst="rect">
            <a:avLst/>
          </a:prstGeom>
          <a:noFill/>
          <a:ln/>
        </p:spPr>
        <p:txBody>
          <a:bodyPr wrap="square" lIns="0" tIns="0" rIns="0" bIns="0" rtlCol="0" anchor="ctr"/>
          <a:lstStyle/>
          <a:p>
            <a:pPr algn="ctr" indent="0" marL="0">
              <a:buNone/>
            </a:pPr>
            <a:r>
              <a:rPr lang="en-US" sz="1200" i="1" dirty="0">
                <a:solidFill>
                  <a:srgbClr val="9CBFA7"/>
                </a:solidFill>
                <a:latin typeface="Calibri" pitchFamily="34" charset="0"/>
                <a:ea typeface="Calibri" pitchFamily="34" charset="-122"/>
                <a:cs typeface="Calibri" pitchFamily="34" charset="-120"/>
              </a:rPr>
              <a:t>Each step maps to a section of the Scientific Writing Checklist you take home.</a:t>
            </a:r>
            <a:endParaRPr lang="en-US" sz="1200" dirty="0"/>
          </a:p>
        </p:txBody>
      </p:sp>
      <p:pic>
        <p:nvPicPr>
          <p:cNvPr id="117" name="QR kit" descr="img"/>
          <p:cNvPicPr>
            <a:picLocks noChangeAspect="1"/>
          </p:cNvPicPr>
          <p:nvPr/>
        </p:nvPicPr>
        <p:blipFill>
          <a:blip r:embed="rId7"/>
          <a:stretch>
            <a:fillRect/>
          </a:stretch>
        </p:blipFill>
        <p:spPr>
          <a:xfrm>
            <a:off x="7699248" y="4672584"/>
            <a:ext cx="402336" cy="402336"/>
          </a:xfrm>
          <a:prstGeom prst="rect">
            <a:avLst/>
          </a:prstGeom>
        </p:spPr>
      </p:pic>
      <p:sp>
        <p:nvSpPr>
          <p:cNvPr id="118"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E9B44C"/>
                </a:solidFill>
                <a:latin typeface="Calibri" pitchFamily="34" charset="0"/>
                <a:ea typeface="Calibri" pitchFamily="34" charset="-122"/>
                <a:cs typeface="Calibri" pitchFamily="34" charset="-120"/>
              </a:rPr>
              <a:t>Resource Kit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1 — FRAMING</a:t>
            </a:r>
            <a:endParaRPr lang="en-US" sz="1100" dirty="0"/>
          </a:p>
        </p:txBody>
      </p:sp>
      <p:sp>
        <p:nvSpPr>
          <p:cNvPr id="5" name="Text 2"/>
          <p:cNvSpPr/>
          <p:nvPr/>
        </p:nvSpPr>
        <p:spPr>
          <a:xfrm>
            <a:off x="1051560" y="548640"/>
            <a:ext cx="658368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Titles: your 15-word promise</a:t>
            </a:r>
            <a:endParaRPr lang="en-US" sz="2600" dirty="0"/>
          </a:p>
        </p:txBody>
      </p:sp>
      <p:sp>
        <p:nvSpPr>
          <p:cNvPr id="6" name="Text 3"/>
          <p:cNvSpPr/>
          <p:nvPr/>
        </p:nvSpPr>
        <p:spPr>
          <a:xfrm>
            <a:off x="502920" y="1298448"/>
            <a:ext cx="402336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Formulas that work</a:t>
            </a:r>
            <a:endParaRPr lang="en-US" sz="1300" dirty="0"/>
          </a:p>
        </p:txBody>
      </p:sp>
      <p:sp>
        <p:nvSpPr>
          <p:cNvPr id="7" name="Shape 4"/>
          <p:cNvSpPr/>
          <p:nvPr/>
        </p:nvSpPr>
        <p:spPr>
          <a:xfrm>
            <a:off x="502920" y="1627632"/>
            <a:ext cx="4023360" cy="749808"/>
          </a:xfrm>
          <a:prstGeom prst="roundRect">
            <a:avLst>
              <a:gd name="adj" fmla="val 9756"/>
            </a:avLst>
          </a:prstGeom>
          <a:solidFill>
            <a:srgbClr val="EAF4EC"/>
          </a:solidFill>
          <a:ln/>
        </p:spPr>
      </p:sp>
      <p:sp>
        <p:nvSpPr>
          <p:cNvPr id="8" name="Text 5"/>
          <p:cNvSpPr/>
          <p:nvPr/>
        </p:nvSpPr>
        <p:spPr>
          <a:xfrm>
            <a:off x="658368" y="1700784"/>
            <a:ext cx="3749040" cy="640080"/>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[Method]: [What it does] for [Problem]</a:t>
            </a:r>
            <a:endParaRPr lang="en-US" sz="1150" dirty="0"/>
          </a:p>
          <a:p>
            <a:pPr indent="0" marL="0">
              <a:buNone/>
            </a:pPr>
            <a:r>
              <a:rPr lang="en-US" sz="1000" i="1" dirty="0">
                <a:solidFill>
                  <a:srgbClr val="5E6E66"/>
                </a:solidFill>
                <a:latin typeface="Calibri" pitchFamily="34" charset="0"/>
                <a:ea typeface="Calibri" pitchFamily="34" charset="-122"/>
                <a:cs typeface="Calibri" pitchFamily="34" charset="-120"/>
              </a:rPr>
              <a:t>“AgroNet: Lightweight Crop-Disease Detection for Offline Mobile Use”</a:t>
            </a:r>
            <a:endParaRPr lang="en-US" sz="1150" dirty="0"/>
          </a:p>
        </p:txBody>
      </p:sp>
      <p:sp>
        <p:nvSpPr>
          <p:cNvPr id="9" name="Shape 6"/>
          <p:cNvSpPr/>
          <p:nvPr/>
        </p:nvSpPr>
        <p:spPr>
          <a:xfrm>
            <a:off x="502920" y="2496312"/>
            <a:ext cx="4023360" cy="749808"/>
          </a:xfrm>
          <a:prstGeom prst="roundRect">
            <a:avLst>
              <a:gd name="adj" fmla="val 9756"/>
            </a:avLst>
          </a:prstGeom>
          <a:solidFill>
            <a:srgbClr val="EAF4EC"/>
          </a:solidFill>
          <a:ln/>
        </p:spPr>
      </p:sp>
      <p:sp>
        <p:nvSpPr>
          <p:cNvPr id="10" name="Text 7"/>
          <p:cNvSpPr/>
          <p:nvPr/>
        </p:nvSpPr>
        <p:spPr>
          <a:xfrm>
            <a:off x="658368" y="2569464"/>
            <a:ext cx="3749040" cy="640080"/>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[Question or claim as hook]</a:t>
            </a:r>
            <a:endParaRPr lang="en-US" sz="1150" dirty="0"/>
          </a:p>
          <a:p>
            <a:pPr indent="0" marL="0">
              <a:buNone/>
            </a:pPr>
            <a:r>
              <a:rPr lang="en-US" sz="1000" i="1" dirty="0">
                <a:solidFill>
                  <a:srgbClr val="5E6E66"/>
                </a:solidFill>
                <a:latin typeface="Calibri" pitchFamily="34" charset="0"/>
                <a:ea typeface="Calibri" pitchFamily="34" charset="-122"/>
                <a:cs typeface="Calibri" pitchFamily="34" charset="-120"/>
              </a:rPr>
              <a:t>“Do Multilingual Models Understand West African Languages?”</a:t>
            </a:r>
            <a:endParaRPr lang="en-US" sz="1150" dirty="0"/>
          </a:p>
        </p:txBody>
      </p:sp>
      <p:sp>
        <p:nvSpPr>
          <p:cNvPr id="11" name="Shape 8"/>
          <p:cNvSpPr/>
          <p:nvPr/>
        </p:nvSpPr>
        <p:spPr>
          <a:xfrm>
            <a:off x="502920" y="3364992"/>
            <a:ext cx="4023360" cy="749808"/>
          </a:xfrm>
          <a:prstGeom prst="roundRect">
            <a:avLst>
              <a:gd name="adj" fmla="val 9756"/>
            </a:avLst>
          </a:prstGeom>
          <a:solidFill>
            <a:srgbClr val="EAF4EC"/>
          </a:solidFill>
          <a:ln/>
        </p:spPr>
      </p:sp>
      <p:sp>
        <p:nvSpPr>
          <p:cNvPr id="12" name="Text 9"/>
          <p:cNvSpPr/>
          <p:nvPr/>
        </p:nvSpPr>
        <p:spPr>
          <a:xfrm>
            <a:off x="658368" y="3438144"/>
            <a:ext cx="3749040" cy="640080"/>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[Resource] + [scale/context]</a:t>
            </a:r>
            <a:endParaRPr lang="en-US" sz="1150" dirty="0"/>
          </a:p>
          <a:p>
            <a:pPr indent="0" marL="0">
              <a:buNone/>
            </a:pPr>
            <a:r>
              <a:rPr lang="en-US" sz="1000" i="1" dirty="0">
                <a:solidFill>
                  <a:srgbClr val="5E6E66"/>
                </a:solidFill>
                <a:latin typeface="Calibri" pitchFamily="34" charset="0"/>
                <a:ea typeface="Calibri" pitchFamily="34" charset="-122"/>
                <a:cs typeface="Calibri" pitchFamily="34" charset="-120"/>
              </a:rPr>
              <a:t>“NaijaVoices: a 500-Hour Speech Corpus for Nigerian Languages”</a:t>
            </a:r>
            <a:endParaRPr lang="en-US" sz="1150" dirty="0"/>
          </a:p>
        </p:txBody>
      </p:sp>
      <p:sp>
        <p:nvSpPr>
          <p:cNvPr id="13" name="Text 10"/>
          <p:cNvSpPr/>
          <p:nvPr/>
        </p:nvSpPr>
        <p:spPr>
          <a:xfrm>
            <a:off x="4800600" y="1298448"/>
            <a:ext cx="3840480" cy="274320"/>
          </a:xfrm>
          <a:prstGeom prst="rect">
            <a:avLst/>
          </a:prstGeom>
          <a:noFill/>
          <a:ln/>
        </p:spPr>
        <p:txBody>
          <a:bodyPr wrap="square" lIns="0" tIns="0" rIns="0" bIns="0" rtlCol="0" anchor="ctr"/>
          <a:lstStyle/>
          <a:p>
            <a:pPr indent="0" marL="0">
              <a:buNone/>
            </a:pPr>
            <a:r>
              <a:rPr lang="en-US" sz="1300" b="1" dirty="0">
                <a:solidFill>
                  <a:srgbClr val="B3402F"/>
                </a:solidFill>
                <a:latin typeface="Calibri" pitchFamily="34" charset="0"/>
                <a:ea typeface="Calibri" pitchFamily="34" charset="-122"/>
                <a:cs typeface="Calibri" pitchFamily="34" charset="-120"/>
              </a:rPr>
              <a:t>Traps to avoid</a:t>
            </a:r>
            <a:endParaRPr lang="en-US" sz="1300" dirty="0"/>
          </a:p>
        </p:txBody>
      </p:sp>
      <p:sp>
        <p:nvSpPr>
          <p:cNvPr id="14" name="Shape 11"/>
          <p:cNvSpPr/>
          <p:nvPr/>
        </p:nvSpPr>
        <p:spPr>
          <a:xfrm>
            <a:off x="4800600" y="1627632"/>
            <a:ext cx="3840480" cy="749808"/>
          </a:xfrm>
          <a:prstGeom prst="roundRect">
            <a:avLst>
              <a:gd name="adj" fmla="val 9756"/>
            </a:avLst>
          </a:prstGeom>
          <a:solidFill>
            <a:srgbClr val="F9EDEA"/>
          </a:solidFill>
          <a:ln/>
        </p:spPr>
      </p:sp>
      <p:sp>
        <p:nvSpPr>
          <p:cNvPr id="15" name="Text 12"/>
          <p:cNvSpPr/>
          <p:nvPr/>
        </p:nvSpPr>
        <p:spPr>
          <a:xfrm>
            <a:off x="4956048" y="1700784"/>
            <a:ext cx="3566160" cy="640080"/>
          </a:xfrm>
          <a:prstGeom prst="rect">
            <a:avLst/>
          </a:prstGeom>
          <a:noFill/>
          <a:ln/>
        </p:spPr>
        <p:txBody>
          <a:bodyPr wrap="square" lIns="0" tIns="0" rIns="0" bIns="0" rtlCol="0" anchor="ctr"/>
          <a:lstStyle/>
          <a:p>
            <a:pPr indent="0" marL="0">
              <a:buNone/>
            </a:pPr>
            <a:r>
              <a:rPr lang="en-US" sz="1150" b="1" dirty="0">
                <a:solidFill>
                  <a:srgbClr val="B3402F"/>
                </a:solidFill>
                <a:latin typeface="Calibri" pitchFamily="34" charset="0"/>
                <a:ea typeface="Calibri" pitchFamily="34" charset="-122"/>
                <a:cs typeface="Calibri" pitchFamily="34" charset="-120"/>
              </a:rPr>
              <a:t>Vague &amp; grand</a:t>
            </a:r>
            <a:endParaRPr lang="en-US" sz="1150" dirty="0"/>
          </a:p>
          <a:p>
            <a:pPr indent="0" marL="0">
              <a:buNone/>
            </a:pPr>
            <a:r>
              <a:rPr lang="en-US" sz="1000" i="1" dirty="0">
                <a:solidFill>
                  <a:srgbClr val="5E6E66"/>
                </a:solidFill>
                <a:latin typeface="Calibri" pitchFamily="34" charset="0"/>
                <a:ea typeface="Calibri" pitchFamily="34" charset="-122"/>
                <a:cs typeface="Calibri" pitchFamily="34" charset="-120"/>
              </a:rPr>
              <a:t>“A Novel Approach to Artificial Intelligence in Africa”</a:t>
            </a:r>
            <a:endParaRPr lang="en-US" sz="1150" dirty="0"/>
          </a:p>
        </p:txBody>
      </p:sp>
      <p:sp>
        <p:nvSpPr>
          <p:cNvPr id="16" name="Shape 13"/>
          <p:cNvSpPr/>
          <p:nvPr/>
        </p:nvSpPr>
        <p:spPr>
          <a:xfrm>
            <a:off x="4800600" y="2496312"/>
            <a:ext cx="3840480" cy="749808"/>
          </a:xfrm>
          <a:prstGeom prst="roundRect">
            <a:avLst>
              <a:gd name="adj" fmla="val 9756"/>
            </a:avLst>
          </a:prstGeom>
          <a:solidFill>
            <a:srgbClr val="F9EDEA"/>
          </a:solidFill>
          <a:ln/>
        </p:spPr>
      </p:sp>
      <p:sp>
        <p:nvSpPr>
          <p:cNvPr id="17" name="Text 14"/>
          <p:cNvSpPr/>
          <p:nvPr/>
        </p:nvSpPr>
        <p:spPr>
          <a:xfrm>
            <a:off x="4956048" y="2569464"/>
            <a:ext cx="3566160" cy="640080"/>
          </a:xfrm>
          <a:prstGeom prst="rect">
            <a:avLst/>
          </a:prstGeom>
          <a:noFill/>
          <a:ln/>
        </p:spPr>
        <p:txBody>
          <a:bodyPr wrap="square" lIns="0" tIns="0" rIns="0" bIns="0" rtlCol="0" anchor="ctr"/>
          <a:lstStyle/>
          <a:p>
            <a:pPr indent="0" marL="0">
              <a:buNone/>
            </a:pPr>
            <a:r>
              <a:rPr lang="en-US" sz="1150" b="1" dirty="0">
                <a:solidFill>
                  <a:srgbClr val="B3402F"/>
                </a:solidFill>
                <a:latin typeface="Calibri" pitchFamily="34" charset="0"/>
                <a:ea typeface="Calibri" pitchFamily="34" charset="-122"/>
                <a:cs typeface="Calibri" pitchFamily="34" charset="-120"/>
              </a:rPr>
              <a:t>Keyword-free</a:t>
            </a:r>
            <a:endParaRPr lang="en-US" sz="1150" dirty="0"/>
          </a:p>
          <a:p>
            <a:pPr indent="0" marL="0">
              <a:buNone/>
            </a:pPr>
            <a:r>
              <a:rPr lang="en-US" sz="1000" i="1" dirty="0">
                <a:solidFill>
                  <a:srgbClr val="5E6E66"/>
                </a:solidFill>
                <a:latin typeface="Calibri" pitchFamily="34" charset="0"/>
                <a:ea typeface="Calibri" pitchFamily="34" charset="-122"/>
                <a:cs typeface="Calibri" pitchFamily="34" charset="-120"/>
              </a:rPr>
              <a:t>reviewers &amp; search engines can't find or classify it</a:t>
            </a:r>
            <a:endParaRPr lang="en-US" sz="1150" dirty="0"/>
          </a:p>
        </p:txBody>
      </p:sp>
      <p:sp>
        <p:nvSpPr>
          <p:cNvPr id="18" name="Shape 15"/>
          <p:cNvSpPr/>
          <p:nvPr/>
        </p:nvSpPr>
        <p:spPr>
          <a:xfrm>
            <a:off x="4800600" y="3364992"/>
            <a:ext cx="3840480" cy="749808"/>
          </a:xfrm>
          <a:prstGeom prst="roundRect">
            <a:avLst>
              <a:gd name="adj" fmla="val 9756"/>
            </a:avLst>
          </a:prstGeom>
          <a:solidFill>
            <a:srgbClr val="F9EDEA"/>
          </a:solidFill>
          <a:ln/>
        </p:spPr>
      </p:sp>
      <p:sp>
        <p:nvSpPr>
          <p:cNvPr id="19" name="Text 16"/>
          <p:cNvSpPr/>
          <p:nvPr/>
        </p:nvSpPr>
        <p:spPr>
          <a:xfrm>
            <a:off x="4956048" y="3438144"/>
            <a:ext cx="3566160" cy="640080"/>
          </a:xfrm>
          <a:prstGeom prst="rect">
            <a:avLst/>
          </a:prstGeom>
          <a:noFill/>
          <a:ln/>
        </p:spPr>
        <p:txBody>
          <a:bodyPr wrap="square" lIns="0" tIns="0" rIns="0" bIns="0" rtlCol="0" anchor="ctr"/>
          <a:lstStyle/>
          <a:p>
            <a:pPr indent="0" marL="0">
              <a:buNone/>
            </a:pPr>
            <a:r>
              <a:rPr lang="en-US" sz="1150" b="1" dirty="0">
                <a:solidFill>
                  <a:srgbClr val="B3402F"/>
                </a:solidFill>
                <a:latin typeface="Calibri" pitchFamily="34" charset="0"/>
                <a:ea typeface="Calibri" pitchFamily="34" charset="-122"/>
                <a:cs typeface="Calibri" pitchFamily="34" charset="-120"/>
              </a:rPr>
              <a:t>Overclaiming</a:t>
            </a:r>
            <a:endParaRPr lang="en-US" sz="1150" dirty="0"/>
          </a:p>
          <a:p>
            <a:pPr indent="0" marL="0">
              <a:buNone/>
            </a:pPr>
            <a:r>
              <a:rPr lang="en-US" sz="1000" i="1" dirty="0">
                <a:solidFill>
                  <a:srgbClr val="5E6E66"/>
                </a:solidFill>
                <a:latin typeface="Calibri" pitchFamily="34" charset="0"/>
                <a:ea typeface="Calibri" pitchFamily="34" charset="-122"/>
                <a:cs typeface="Calibri" pitchFamily="34" charset="-120"/>
              </a:rPr>
              <a:t>“Solving Healthcare with Deep Learning” — no.</a:t>
            </a:r>
            <a:endParaRPr lang="en-US" sz="1150" dirty="0"/>
          </a:p>
        </p:txBody>
      </p:sp>
      <p:sp>
        <p:nvSpPr>
          <p:cNvPr id="20" name="Text 17"/>
          <p:cNvSpPr/>
          <p:nvPr/>
        </p:nvSpPr>
        <p:spPr>
          <a:xfrm>
            <a:off x="502920" y="4343400"/>
            <a:ext cx="8138160" cy="320040"/>
          </a:xfrm>
          <a:prstGeom prst="rect">
            <a:avLst/>
          </a:prstGeom>
          <a:noFill/>
          <a:ln/>
        </p:spPr>
        <p:txBody>
          <a:bodyPr wrap="square" lIns="0" tIns="0" rIns="0" bIns="0" rtlCol="0" anchor="ctr"/>
          <a:lstStyle/>
          <a:p>
            <a:pPr indent="0" marL="0">
              <a:buNone/>
            </a:pPr>
            <a:r>
              <a:rPr lang="en-US" sz="1250" i="1" dirty="0">
                <a:solidFill>
                  <a:srgbClr val="1E5A3F"/>
                </a:solidFill>
                <a:latin typeface="Calibri" pitchFamily="34" charset="0"/>
                <a:ea typeface="Calibri" pitchFamily="34" charset="-122"/>
                <a:cs typeface="Calibri" pitchFamily="34" charset="-120"/>
              </a:rPr>
              <a:t>Test: could a stranger guess your method, problem AND context from the title alone?</a:t>
            </a:r>
            <a:endParaRPr lang="en-US" sz="1250" dirty="0"/>
          </a:p>
        </p:txBody>
      </p:sp>
      <p:sp>
        <p:nvSpPr>
          <p:cNvPr id="21" name="Text 18"/>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2" name="Text 19"/>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22</a:t>
            </a:r>
            <a:endParaRPr lang="en-US" sz="850" dirty="0"/>
          </a:p>
        </p:txBody>
      </p:sp>
      <p:pic>
        <p:nvPicPr>
          <p:cNvPr id="119"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20"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1 — FRAMING</a:t>
            </a:r>
            <a:endParaRPr lang="en-US" sz="1100" dirty="0"/>
          </a:p>
        </p:txBody>
      </p:sp>
      <p:sp>
        <p:nvSpPr>
          <p:cNvPr id="5" name="Text 2"/>
          <p:cNvSpPr/>
          <p:nvPr/>
        </p:nvSpPr>
        <p:spPr>
          <a:xfrm>
            <a:off x="1051560" y="548640"/>
            <a:ext cx="658368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The Introduction funnel</a:t>
            </a:r>
            <a:endParaRPr lang="en-US" sz="2600" dirty="0"/>
          </a:p>
        </p:txBody>
      </p:sp>
      <p:sp>
        <p:nvSpPr>
          <p:cNvPr id="6" name="Shape 3"/>
          <p:cNvSpPr/>
          <p:nvPr/>
        </p:nvSpPr>
        <p:spPr>
          <a:xfrm>
            <a:off x="502920" y="1371600"/>
            <a:ext cx="4937760" cy="859536"/>
          </a:xfrm>
          <a:prstGeom prst="roundRect">
            <a:avLst>
              <a:gd name="adj" fmla="val 8511"/>
            </a:avLst>
          </a:prstGeom>
          <a:solidFill>
            <a:srgbClr val="EFF5F0"/>
          </a:solidFill>
          <a:ln/>
          <a:effectLst>
            <a:outerShdw sx="100000" sy="100000" kx="0" ky="0" algn="bl" rotWithShape="0" blurRad="88900" dist="25400" dir="2700000">
              <a:srgbClr val="000000">
                <a:alpha val="14000"/>
              </a:srgbClr>
            </a:outerShdw>
          </a:effectLst>
        </p:spPr>
      </p:sp>
      <p:sp>
        <p:nvSpPr>
          <p:cNvPr id="7" name="Text 4"/>
          <p:cNvSpPr/>
          <p:nvPr/>
        </p:nvSpPr>
        <p:spPr>
          <a:xfrm>
            <a:off x="685800" y="1453896"/>
            <a:ext cx="4572000" cy="731520"/>
          </a:xfrm>
          <a:prstGeom prst="rect">
            <a:avLst/>
          </a:prstGeom>
          <a:noFill/>
          <a:ln/>
        </p:spPr>
        <p:txBody>
          <a:bodyPr wrap="square" lIns="0" tIns="0" rIns="0" bIns="0" rtlCol="0" anchor="ctr"/>
          <a:lstStyle/>
          <a:p>
            <a:pPr indent="0" marL="0">
              <a:buNone/>
            </a:pPr>
            <a:r>
              <a:rPr lang="en-US" sz="1150" b="1" dirty="0">
                <a:solidFill>
                  <a:srgbClr val="1E5A3F"/>
                </a:solidFill>
                <a:latin typeface="Calibri" pitchFamily="34" charset="0"/>
                <a:ea typeface="Calibri" pitchFamily="34" charset="-122"/>
                <a:cs typeface="Calibri" pitchFamily="34" charset="-120"/>
              </a:rPr>
              <a:t>CONTEXT — the world</a:t>
            </a:r>
            <a:endParaRPr lang="en-US" sz="1150" dirty="0"/>
          </a:p>
          <a:p>
            <a:pPr indent="0" marL="0">
              <a:buNone/>
            </a:pPr>
            <a:r>
              <a:rPr lang="en-US" sz="1050" i="1" dirty="0">
                <a:solidFill>
                  <a:srgbClr val="23312B"/>
                </a:solidFill>
                <a:latin typeface="Calibri" pitchFamily="34" charset="0"/>
                <a:ea typeface="Calibri" pitchFamily="34" charset="-122"/>
                <a:cs typeface="Calibri" pitchFamily="34" charset="-120"/>
              </a:rPr>
              <a:t>Crop diseases threaten food security across West Africa…</a:t>
            </a:r>
            <a:endParaRPr lang="en-US" sz="1150" dirty="0"/>
          </a:p>
        </p:txBody>
      </p:sp>
      <p:sp>
        <p:nvSpPr>
          <p:cNvPr id="8" name="Shape 5"/>
          <p:cNvSpPr/>
          <p:nvPr/>
        </p:nvSpPr>
        <p:spPr>
          <a:xfrm>
            <a:off x="960120" y="2359152"/>
            <a:ext cx="4023360" cy="859536"/>
          </a:xfrm>
          <a:prstGeom prst="roundRect">
            <a:avLst>
              <a:gd name="adj" fmla="val 8511"/>
            </a:avLst>
          </a:prstGeom>
          <a:solidFill>
            <a:srgbClr val="EFF5F0"/>
          </a:solidFill>
          <a:ln/>
          <a:effectLst>
            <a:outerShdw sx="100000" sy="100000" kx="0" ky="0" algn="bl" rotWithShape="0" blurRad="88900" dist="25400" dir="2700000">
              <a:srgbClr val="000000">
                <a:alpha val="14000"/>
              </a:srgbClr>
            </a:outerShdw>
          </a:effectLst>
        </p:spPr>
      </p:sp>
      <p:sp>
        <p:nvSpPr>
          <p:cNvPr id="9" name="Text 6"/>
          <p:cNvSpPr/>
          <p:nvPr/>
        </p:nvSpPr>
        <p:spPr>
          <a:xfrm>
            <a:off x="1143000" y="2441448"/>
            <a:ext cx="3657600" cy="731520"/>
          </a:xfrm>
          <a:prstGeom prst="rect">
            <a:avLst/>
          </a:prstGeom>
          <a:noFill/>
          <a:ln/>
        </p:spPr>
        <p:txBody>
          <a:bodyPr wrap="square" lIns="0" tIns="0" rIns="0" bIns="0" rtlCol="0" anchor="ctr"/>
          <a:lstStyle/>
          <a:p>
            <a:pPr indent="0" marL="0">
              <a:buNone/>
            </a:pPr>
            <a:r>
              <a:rPr lang="en-US" sz="1150" b="1" dirty="0">
                <a:solidFill>
                  <a:srgbClr val="1E5A3F"/>
                </a:solidFill>
                <a:latin typeface="Calibri" pitchFamily="34" charset="0"/>
                <a:ea typeface="Calibri" pitchFamily="34" charset="-122"/>
                <a:cs typeface="Calibri" pitchFamily="34" charset="-120"/>
              </a:rPr>
              <a:t>GAP — what's missing</a:t>
            </a:r>
            <a:endParaRPr lang="en-US" sz="1150" dirty="0"/>
          </a:p>
          <a:p>
            <a:pPr indent="0" marL="0">
              <a:buNone/>
            </a:pPr>
            <a:r>
              <a:rPr lang="en-US" sz="1050" i="1" dirty="0">
                <a:solidFill>
                  <a:srgbClr val="23312B"/>
                </a:solidFill>
                <a:latin typeface="Calibri" pitchFamily="34" charset="0"/>
                <a:ea typeface="Calibri" pitchFamily="34" charset="-122"/>
                <a:cs typeface="Calibri" pitchFamily="34" charset="-120"/>
              </a:rPr>
              <a:t>…but existing vision models need cloud compute unavailable to rural farmers.</a:t>
            </a:r>
            <a:endParaRPr lang="en-US" sz="1150" dirty="0"/>
          </a:p>
        </p:txBody>
      </p:sp>
      <p:sp>
        <p:nvSpPr>
          <p:cNvPr id="10" name="Shape 7"/>
          <p:cNvSpPr/>
          <p:nvPr/>
        </p:nvSpPr>
        <p:spPr>
          <a:xfrm>
            <a:off x="1417320" y="3346704"/>
            <a:ext cx="3108960" cy="859536"/>
          </a:xfrm>
          <a:prstGeom prst="roundRect">
            <a:avLst>
              <a:gd name="adj" fmla="val 8511"/>
            </a:avLst>
          </a:prstGeom>
          <a:solidFill>
            <a:srgbClr val="1E5A3F"/>
          </a:solidFill>
          <a:ln/>
          <a:effectLst>
            <a:outerShdw sx="100000" sy="100000" kx="0" ky="0" algn="bl" rotWithShape="0" blurRad="88900" dist="25400" dir="2700000">
              <a:srgbClr val="000000">
                <a:alpha val="14000"/>
              </a:srgbClr>
            </a:outerShdw>
          </a:effectLst>
        </p:spPr>
      </p:sp>
      <p:sp>
        <p:nvSpPr>
          <p:cNvPr id="11" name="Text 8"/>
          <p:cNvSpPr/>
          <p:nvPr/>
        </p:nvSpPr>
        <p:spPr>
          <a:xfrm>
            <a:off x="1600200" y="3429000"/>
            <a:ext cx="2743200" cy="731520"/>
          </a:xfrm>
          <a:prstGeom prst="rect">
            <a:avLst/>
          </a:prstGeom>
          <a:noFill/>
          <a:ln/>
        </p:spPr>
        <p:txBody>
          <a:bodyPr wrap="square" lIns="0" tIns="0" rIns="0" bIns="0" rtlCol="0" anchor="ctr"/>
          <a:lstStyle/>
          <a:p>
            <a:pPr indent="0" marL="0">
              <a:buNone/>
            </a:pPr>
            <a:r>
              <a:rPr lang="en-US" sz="1150" b="1" dirty="0">
                <a:solidFill>
                  <a:srgbClr val="E9B44C"/>
                </a:solidFill>
                <a:latin typeface="Calibri" pitchFamily="34" charset="0"/>
                <a:ea typeface="Calibri" pitchFamily="34" charset="-122"/>
                <a:cs typeface="Calibri" pitchFamily="34" charset="-120"/>
              </a:rPr>
              <a:t>CONTRIBUTION — you</a:t>
            </a:r>
            <a:endParaRPr lang="en-US" sz="1150" dirty="0"/>
          </a:p>
          <a:p>
            <a:pPr indent="0" marL="0">
              <a:buNone/>
            </a:pPr>
            <a:r>
              <a:rPr lang="en-US" sz="1050" i="1" dirty="0">
                <a:solidFill>
                  <a:srgbClr val="FFFFFF"/>
                </a:solidFill>
                <a:latin typeface="Calibri" pitchFamily="34" charset="0"/>
                <a:ea typeface="Calibri" pitchFamily="34" charset="-122"/>
                <a:cs typeface="Calibri" pitchFamily="34" charset="-120"/>
              </a:rPr>
              <a:t>We introduce AgroNet, an offline, quantized detector for low-end phones.</a:t>
            </a:r>
            <a:endParaRPr lang="en-US" sz="1150" dirty="0"/>
          </a:p>
        </p:txBody>
      </p:sp>
      <p:sp>
        <p:nvSpPr>
          <p:cNvPr id="12" name="Text 9"/>
          <p:cNvSpPr/>
          <p:nvPr/>
        </p:nvSpPr>
        <p:spPr>
          <a:xfrm>
            <a:off x="502920" y="4434840"/>
            <a:ext cx="4937760" cy="32004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General → specific → YOU.  End with the contributions list (slide 8).</a:t>
            </a:r>
            <a:endParaRPr lang="en-US" sz="1150" dirty="0"/>
          </a:p>
        </p:txBody>
      </p:sp>
      <p:sp>
        <p:nvSpPr>
          <p:cNvPr id="13" name="Shape 10"/>
          <p:cNvSpPr/>
          <p:nvPr/>
        </p:nvSpPr>
        <p:spPr>
          <a:xfrm>
            <a:off x="5715000" y="1371600"/>
            <a:ext cx="2971800" cy="3017520"/>
          </a:xfrm>
          <a:prstGeom prst="roundRect">
            <a:avLst>
              <a:gd name="adj" fmla="val 2769"/>
            </a:avLst>
          </a:prstGeom>
          <a:solidFill>
            <a:srgbClr val="F7F4EC"/>
          </a:solidFill>
          <a:ln/>
          <a:effectLst>
            <a:outerShdw sx="100000" sy="100000" kx="0" ky="0" algn="bl" rotWithShape="0" blurRad="88900" dist="25400" dir="2700000">
              <a:srgbClr val="000000">
                <a:alpha val="14000"/>
              </a:srgbClr>
            </a:outerShdw>
          </a:effectLst>
        </p:spPr>
      </p:sp>
      <p:sp>
        <p:nvSpPr>
          <p:cNvPr id="14" name="Text 11"/>
          <p:cNvSpPr/>
          <p:nvPr/>
        </p:nvSpPr>
        <p:spPr>
          <a:xfrm>
            <a:off x="5897880" y="1517904"/>
            <a:ext cx="2651760" cy="292608"/>
          </a:xfrm>
          <a:prstGeom prst="rect">
            <a:avLst/>
          </a:prstGeom>
          <a:noFill/>
          <a:ln/>
        </p:spPr>
        <p:txBody>
          <a:bodyPr wrap="square" lIns="0" tIns="0" rIns="0" bIns="0" rtlCol="0" anchor="ctr"/>
          <a:lstStyle/>
          <a:p>
            <a:pPr indent="0" marL="0">
              <a:buNone/>
            </a:pPr>
            <a:r>
              <a:rPr lang="en-US" sz="1250" b="1" dirty="0">
                <a:solidFill>
                  <a:srgbClr val="C9922F"/>
                </a:solidFill>
                <a:latin typeface="Calibri" pitchFamily="34" charset="0"/>
                <a:ea typeface="Calibri" pitchFamily="34" charset="-122"/>
                <a:cs typeface="Calibri" pitchFamily="34" charset="-120"/>
              </a:rPr>
              <a:t>Heilmeier Catechism (extract)</a:t>
            </a:r>
            <a:endParaRPr lang="en-US" sz="1250" dirty="0"/>
          </a:p>
        </p:txBody>
      </p:sp>
      <p:sp>
        <p:nvSpPr>
          <p:cNvPr id="15" name="Text 12"/>
          <p:cNvSpPr/>
          <p:nvPr/>
        </p:nvSpPr>
        <p:spPr>
          <a:xfrm>
            <a:off x="5943600" y="1874520"/>
            <a:ext cx="2651760" cy="1920240"/>
          </a:xfrm>
          <a:prstGeom prst="rect">
            <a:avLst/>
          </a:prstGeom>
          <a:noFill/>
          <a:ln/>
        </p:spPr>
        <p:txBody>
          <a:bodyPr wrap="square" rtlCol="0" anchor="ctr"/>
          <a:lstStyle/>
          <a:p>
            <a:pPr marL="342900" indent="-342900">
              <a:spcAft>
                <a:spcPts val="700"/>
              </a:spcAft>
              <a:buSzPct val="100000"/>
              <a:buChar char="•"/>
            </a:pPr>
            <a:r>
              <a:rPr lang="en-US" sz="1150" dirty="0">
                <a:solidFill>
                  <a:srgbClr val="23312B"/>
                </a:solidFill>
                <a:latin typeface="Calibri" pitchFamily="34" charset="0"/>
                <a:ea typeface="Calibri" pitchFamily="34" charset="-122"/>
                <a:cs typeface="Calibri" pitchFamily="34" charset="-120"/>
              </a:rPr>
              <a:t>What are you trying to do? (no jargon)</a:t>
            </a:r>
            <a:endParaRPr lang="en-US" sz="1150" dirty="0"/>
          </a:p>
          <a:p>
            <a:pPr marL="342900" indent="-342900">
              <a:spcAft>
                <a:spcPts val="700"/>
              </a:spcAft>
              <a:buSzPct val="100000"/>
              <a:buChar char="•"/>
            </a:pPr>
            <a:r>
              <a:rPr lang="en-US" sz="1150" dirty="0">
                <a:solidFill>
                  <a:srgbClr val="23312B"/>
                </a:solidFill>
                <a:latin typeface="Calibri" pitchFamily="34" charset="0"/>
                <a:ea typeface="Calibri" pitchFamily="34" charset="-122"/>
                <a:cs typeface="Calibri" pitchFamily="34" charset="-120"/>
              </a:rPr>
              <a:t>How is it done today, and what are the limits?</a:t>
            </a:r>
            <a:endParaRPr lang="en-US" sz="1150" dirty="0"/>
          </a:p>
          <a:p>
            <a:pPr marL="342900" indent="-342900">
              <a:spcAft>
                <a:spcPts val="700"/>
              </a:spcAft>
              <a:buSzPct val="100000"/>
              <a:buChar char="•"/>
            </a:pPr>
            <a:r>
              <a:rPr lang="en-US" sz="1150" dirty="0">
                <a:solidFill>
                  <a:srgbClr val="23312B"/>
                </a:solidFill>
                <a:latin typeface="Calibri" pitchFamily="34" charset="0"/>
                <a:ea typeface="Calibri" pitchFamily="34" charset="-122"/>
                <a:cs typeface="Calibri" pitchFamily="34" charset="-120"/>
              </a:rPr>
              <a:t>What is new in your approach?</a:t>
            </a:r>
            <a:endParaRPr lang="en-US" sz="1150" dirty="0"/>
          </a:p>
          <a:p>
            <a:pPr marL="342900" indent="-342900">
              <a:spcAft>
                <a:spcPts val="700"/>
              </a:spcAft>
              <a:buSzPct val="100000"/>
              <a:buChar char="•"/>
            </a:pPr>
            <a:r>
              <a:rPr lang="en-US" sz="1150" dirty="0">
                <a:solidFill>
                  <a:srgbClr val="23312B"/>
                </a:solidFill>
                <a:latin typeface="Calibri" pitchFamily="34" charset="0"/>
                <a:ea typeface="Calibri" pitchFamily="34" charset="-122"/>
                <a:cs typeface="Calibri" pitchFamily="34" charset="-120"/>
              </a:rPr>
              <a:t>Who cares — locally and globally?</a:t>
            </a:r>
            <a:endParaRPr lang="en-US" sz="1150" dirty="0"/>
          </a:p>
        </p:txBody>
      </p:sp>
      <p:sp>
        <p:nvSpPr>
          <p:cNvPr id="16" name="Text 13"/>
          <p:cNvSpPr/>
          <p:nvPr/>
        </p:nvSpPr>
        <p:spPr>
          <a:xfrm>
            <a:off x="5897880" y="3977640"/>
            <a:ext cx="2697480" cy="457200"/>
          </a:xfrm>
          <a:prstGeom prst="rect">
            <a:avLst/>
          </a:prstGeom>
          <a:noFill/>
          <a:ln/>
        </p:spPr>
        <p:txBody>
          <a:bodyPr wrap="square" lIns="0" tIns="0" rIns="0" bIns="0" rtlCol="0" anchor="ctr"/>
          <a:lstStyle/>
          <a:p>
            <a:pPr indent="0" marL="0">
              <a:buNone/>
            </a:pPr>
            <a:r>
              <a:rPr lang="en-US" sz="1050" i="1" dirty="0">
                <a:solidFill>
                  <a:srgbClr val="5E6E66"/>
                </a:solidFill>
                <a:latin typeface="Calibri" pitchFamily="34" charset="0"/>
                <a:ea typeface="Calibri" pitchFamily="34" charset="-122"/>
                <a:cs typeface="Calibri" pitchFamily="34" charset="-120"/>
              </a:rPr>
              <a:t>Answer these 4 → your Introduction writes itself.</a:t>
            </a:r>
            <a:endParaRPr lang="en-US" sz="1050" dirty="0"/>
          </a:p>
        </p:txBody>
      </p:sp>
      <p:sp>
        <p:nvSpPr>
          <p:cNvPr id="17" name="Text 14"/>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8" name="Text 15"/>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23</a:t>
            </a:r>
            <a:endParaRPr lang="en-US" sz="850" dirty="0"/>
          </a:p>
        </p:txBody>
      </p:sp>
      <p:pic>
        <p:nvPicPr>
          <p:cNvPr id="123"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24"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1 — FRAMING</a:t>
            </a:r>
            <a:endParaRPr lang="en-US" sz="1100" dirty="0"/>
          </a:p>
        </p:txBody>
      </p:sp>
      <p:sp>
        <p:nvSpPr>
          <p:cNvPr id="5" name="Text 2"/>
          <p:cNvSpPr/>
          <p:nvPr/>
        </p:nvSpPr>
        <p:spPr>
          <a:xfrm>
            <a:off x="1051560" y="548640"/>
            <a:ext cx="7498080" cy="502920"/>
          </a:xfrm>
          <a:prstGeom prst="rect">
            <a:avLst/>
          </a:prstGeom>
          <a:noFill/>
          <a:ln/>
        </p:spPr>
        <p:txBody>
          <a:bodyPr wrap="square" lIns="0" tIns="0" rIns="0" bIns="0" rtlCol="0" anchor="ctr"/>
          <a:lstStyle/>
          <a:p>
            <a:pPr indent="0" marL="0">
              <a:buNone/>
            </a:pPr>
            <a:r>
              <a:rPr lang="en-US" sz="2400" b="1" dirty="0">
                <a:solidFill>
                  <a:srgbClr val="12362A"/>
                </a:solidFill>
                <a:latin typeface="Cambria" pitchFamily="34" charset="0"/>
                <a:ea typeface="Cambria" pitchFamily="34" charset="-122"/>
                <a:cs typeface="Cambria" pitchFamily="34" charset="-120"/>
              </a:rPr>
              <a:t>Before / after: the same research, two stories</a:t>
            </a:r>
            <a:endParaRPr lang="en-US" sz="2400" dirty="0"/>
          </a:p>
        </p:txBody>
      </p:sp>
      <p:sp>
        <p:nvSpPr>
          <p:cNvPr id="6" name="Shape 3"/>
          <p:cNvSpPr/>
          <p:nvPr/>
        </p:nvSpPr>
        <p:spPr>
          <a:xfrm>
            <a:off x="502920" y="1371600"/>
            <a:ext cx="3977640" cy="2880360"/>
          </a:xfrm>
          <a:prstGeom prst="roundRect">
            <a:avLst>
              <a:gd name="adj" fmla="val 2857"/>
            </a:avLst>
          </a:prstGeom>
          <a:solidFill>
            <a:srgbClr val="F9EDEA"/>
          </a:solidFill>
          <a:ln/>
          <a:effectLst>
            <a:outerShdw sx="100000" sy="100000" kx="0" ky="0" algn="bl" rotWithShape="0" blurRad="88900" dist="25400" dir="2700000">
              <a:srgbClr val="000000">
                <a:alpha val="14000"/>
              </a:srgbClr>
            </a:outerShdw>
          </a:effectLst>
        </p:spPr>
      </p:sp>
      <p:pic>
        <p:nvPicPr>
          <p:cNvPr id="7" name="Image 1" descr="preencoded.png">    </p:cNvPr>
          <p:cNvPicPr>
            <a:picLocks noChangeAspect="1"/>
          </p:cNvPicPr>
          <p:nvPr/>
        </p:nvPicPr>
        <p:blipFill>
          <a:blip r:embed="rId2"/>
          <a:stretch>
            <a:fillRect/>
          </a:stretch>
        </p:blipFill>
        <p:spPr>
          <a:xfrm>
            <a:off x="731520" y="1554480"/>
            <a:ext cx="310896" cy="310896"/>
          </a:xfrm>
          <a:prstGeom prst="rect">
            <a:avLst/>
          </a:prstGeom>
        </p:spPr>
      </p:pic>
      <p:sp>
        <p:nvSpPr>
          <p:cNvPr id="8" name="Text 4"/>
          <p:cNvSpPr/>
          <p:nvPr/>
        </p:nvSpPr>
        <p:spPr>
          <a:xfrm>
            <a:off x="1143000" y="1572768"/>
            <a:ext cx="3200400" cy="274320"/>
          </a:xfrm>
          <a:prstGeom prst="rect">
            <a:avLst/>
          </a:prstGeom>
          <a:noFill/>
          <a:ln/>
        </p:spPr>
        <p:txBody>
          <a:bodyPr wrap="square" lIns="0" tIns="0" rIns="0" bIns="0" rtlCol="0" anchor="ctr"/>
          <a:lstStyle/>
          <a:p>
            <a:pPr indent="0" marL="0">
              <a:buNone/>
            </a:pPr>
            <a:r>
              <a:rPr lang="en-US" sz="1250" b="1" dirty="0">
                <a:solidFill>
                  <a:srgbClr val="B3402F"/>
                </a:solidFill>
                <a:latin typeface="Calibri" pitchFamily="34" charset="0"/>
                <a:ea typeface="Calibri" pitchFamily="34" charset="-122"/>
                <a:cs typeface="Calibri" pitchFamily="34" charset="-120"/>
              </a:rPr>
              <a:t>BEFORE — activity report</a:t>
            </a:r>
            <a:endParaRPr lang="en-US" sz="1250" dirty="0"/>
          </a:p>
        </p:txBody>
      </p:sp>
      <p:sp>
        <p:nvSpPr>
          <p:cNvPr id="9" name="Text 5"/>
          <p:cNvSpPr/>
          <p:nvPr/>
        </p:nvSpPr>
        <p:spPr>
          <a:xfrm>
            <a:off x="777240" y="1965960"/>
            <a:ext cx="3474720" cy="1463040"/>
          </a:xfrm>
          <a:prstGeom prst="rect">
            <a:avLst/>
          </a:prstGeom>
          <a:noFill/>
          <a:ln/>
        </p:spPr>
        <p:txBody>
          <a:bodyPr wrap="square" lIns="0" tIns="0" rIns="0" bIns="0" rtlCol="0" anchor="ctr"/>
          <a:lstStyle/>
          <a:p>
            <a:pPr indent="0" marL="0">
              <a:buNone/>
            </a:pPr>
            <a:r>
              <a:rPr lang="en-US" sz="1150" i="1" dirty="0">
                <a:solidFill>
                  <a:srgbClr val="23312B"/>
                </a:solidFill>
                <a:latin typeface="Calibri" pitchFamily="34" charset="0"/>
                <a:ea typeface="Calibri" pitchFamily="34" charset="-122"/>
                <a:cs typeface="Calibri" pitchFamily="34" charset="-120"/>
              </a:rPr>
              <a:t>“In this work we used a CNN to classify images of cassava leaves. We collected data and trained the model with Keras. Deep learning is a powerful technique that has many applications. Our results are presented below.”</a:t>
            </a:r>
            <a:endParaRPr lang="en-US" sz="1150" dirty="0"/>
          </a:p>
        </p:txBody>
      </p:sp>
      <p:sp>
        <p:nvSpPr>
          <p:cNvPr id="10" name="Text 6"/>
          <p:cNvSpPr/>
          <p:nvPr/>
        </p:nvSpPr>
        <p:spPr>
          <a:xfrm>
            <a:off x="777240" y="3611880"/>
            <a:ext cx="3474720" cy="548640"/>
          </a:xfrm>
          <a:prstGeom prst="rect">
            <a:avLst/>
          </a:prstGeom>
          <a:noFill/>
          <a:ln/>
        </p:spPr>
        <p:txBody>
          <a:bodyPr wrap="square" lIns="0" tIns="0" rIns="0" bIns="0" rtlCol="0" anchor="ctr"/>
          <a:lstStyle/>
          <a:p>
            <a:pPr indent="0" marL="0">
              <a:buNone/>
            </a:pPr>
            <a:r>
              <a:rPr lang="en-US" sz="1050" dirty="0">
                <a:solidFill>
                  <a:srgbClr val="B3402F"/>
                </a:solidFill>
                <a:latin typeface="Calibri" pitchFamily="34" charset="0"/>
                <a:ea typeface="Calibri" pitchFamily="34" charset="-122"/>
                <a:cs typeface="Calibri" pitchFamily="34" charset="-120"/>
              </a:rPr>
              <a:t>No stakes, no gap, no claim — the reader has no reason to continue.</a:t>
            </a:r>
            <a:endParaRPr lang="en-US" sz="1050" dirty="0"/>
          </a:p>
        </p:txBody>
      </p:sp>
      <p:sp>
        <p:nvSpPr>
          <p:cNvPr id="11" name="Shape 7"/>
          <p:cNvSpPr/>
          <p:nvPr/>
        </p:nvSpPr>
        <p:spPr>
          <a:xfrm>
            <a:off x="4663440" y="1371600"/>
            <a:ext cx="3977640" cy="2880360"/>
          </a:xfrm>
          <a:prstGeom prst="roundRect">
            <a:avLst>
              <a:gd name="adj" fmla="val 2857"/>
            </a:avLst>
          </a:prstGeom>
          <a:solidFill>
            <a:srgbClr val="EAF4EC"/>
          </a:solidFill>
          <a:ln/>
          <a:effectLst>
            <a:outerShdw sx="100000" sy="100000" kx="0" ky="0" algn="bl" rotWithShape="0" blurRad="88900" dist="25400" dir="2700000">
              <a:srgbClr val="000000">
                <a:alpha val="14000"/>
              </a:srgbClr>
            </a:outerShdw>
          </a:effectLst>
        </p:spPr>
      </p:sp>
      <p:pic>
        <p:nvPicPr>
          <p:cNvPr id="12" name="Image 2" descr="preencoded.png">    </p:cNvPr>
          <p:cNvPicPr>
            <a:picLocks noChangeAspect="1"/>
          </p:cNvPicPr>
          <p:nvPr/>
        </p:nvPicPr>
        <p:blipFill>
          <a:blip r:embed="rId3"/>
          <a:stretch>
            <a:fillRect/>
          </a:stretch>
        </p:blipFill>
        <p:spPr>
          <a:xfrm>
            <a:off x="4892040" y="1554480"/>
            <a:ext cx="310896" cy="310896"/>
          </a:xfrm>
          <a:prstGeom prst="rect">
            <a:avLst/>
          </a:prstGeom>
        </p:spPr>
      </p:pic>
      <p:sp>
        <p:nvSpPr>
          <p:cNvPr id="13" name="Text 8"/>
          <p:cNvSpPr/>
          <p:nvPr/>
        </p:nvSpPr>
        <p:spPr>
          <a:xfrm>
            <a:off x="5303520" y="1572768"/>
            <a:ext cx="3200400" cy="274320"/>
          </a:xfrm>
          <a:prstGeom prst="rect">
            <a:avLst/>
          </a:prstGeom>
          <a:noFill/>
          <a:ln/>
        </p:spPr>
        <p:txBody>
          <a:bodyPr wrap="square" lIns="0" tIns="0" rIns="0" bIns="0" rtlCol="0" anchor="ctr"/>
          <a:lstStyle/>
          <a:p>
            <a:pPr indent="0" marL="0">
              <a:buNone/>
            </a:pPr>
            <a:r>
              <a:rPr lang="en-US" sz="1250" b="1" dirty="0">
                <a:solidFill>
                  <a:srgbClr val="1E5A3F"/>
                </a:solidFill>
                <a:latin typeface="Calibri" pitchFamily="34" charset="0"/>
                <a:ea typeface="Calibri" pitchFamily="34" charset="-122"/>
                <a:cs typeface="Calibri" pitchFamily="34" charset="-120"/>
              </a:rPr>
              <a:t>AFTER — scientific story</a:t>
            </a:r>
            <a:endParaRPr lang="en-US" sz="1250" dirty="0"/>
          </a:p>
        </p:txBody>
      </p:sp>
      <p:sp>
        <p:nvSpPr>
          <p:cNvPr id="14" name="Text 9"/>
          <p:cNvSpPr/>
          <p:nvPr/>
        </p:nvSpPr>
        <p:spPr>
          <a:xfrm>
            <a:off x="4937760" y="1965960"/>
            <a:ext cx="3520440" cy="1600200"/>
          </a:xfrm>
          <a:prstGeom prst="rect">
            <a:avLst/>
          </a:prstGeom>
          <a:noFill/>
          <a:ln/>
        </p:spPr>
        <p:txBody>
          <a:bodyPr wrap="square" lIns="0" tIns="0" rIns="0" bIns="0" rtlCol="0" anchor="ctr"/>
          <a:lstStyle/>
          <a:p>
            <a:pPr indent="0" marL="0">
              <a:buNone/>
            </a:pPr>
            <a:r>
              <a:rPr lang="en-US" sz="1150" i="1" dirty="0">
                <a:solidFill>
                  <a:srgbClr val="23312B"/>
                </a:solidFill>
                <a:latin typeface="Calibri" pitchFamily="34" charset="0"/>
                <a:ea typeface="Calibri" pitchFamily="34" charset="-122"/>
                <a:cs typeface="Calibri" pitchFamily="34" charset="-120"/>
              </a:rPr>
              <a:t>“Cassava feeds 500M Africans, yet mosaic disease destroys up to 40% of yields [context]. Existing detectors require cloud connectivity absent in rural areas [gap]. We introduce an offline detector that reaches 91% accuracy on-device, enabling diagnosis where it matters [contribution].”</a:t>
            </a:r>
            <a:endParaRPr lang="en-US" sz="1150" dirty="0"/>
          </a:p>
        </p:txBody>
      </p:sp>
      <p:sp>
        <p:nvSpPr>
          <p:cNvPr id="15" name="Text 10"/>
          <p:cNvSpPr/>
          <p:nvPr/>
        </p:nvSpPr>
        <p:spPr>
          <a:xfrm>
            <a:off x="4937760" y="3611880"/>
            <a:ext cx="3520440" cy="548640"/>
          </a:xfrm>
          <a:prstGeom prst="rect">
            <a:avLst/>
          </a:prstGeom>
          <a:noFill/>
          <a:ln/>
        </p:spPr>
        <p:txBody>
          <a:bodyPr wrap="square" lIns="0" tIns="0" rIns="0" bIns="0" rtlCol="0" anchor="ctr"/>
          <a:lstStyle/>
          <a:p>
            <a:pPr indent="0" marL="0">
              <a:buNone/>
            </a:pPr>
            <a:r>
              <a:rPr lang="en-US" sz="1050" dirty="0">
                <a:solidFill>
                  <a:srgbClr val="1E5A3F"/>
                </a:solidFill>
                <a:latin typeface="Calibri" pitchFamily="34" charset="0"/>
                <a:ea typeface="Calibri" pitchFamily="34" charset="-122"/>
                <a:cs typeface="Calibri" pitchFamily="34" charset="-120"/>
              </a:rPr>
              <a:t>Stakes → gap → measurable claim. Same project, publishable frame.</a:t>
            </a:r>
            <a:endParaRPr lang="en-US" sz="1050" dirty="0"/>
          </a:p>
        </p:txBody>
      </p:sp>
      <p:sp>
        <p:nvSpPr>
          <p:cNvPr id="16" name="Text 11"/>
          <p:cNvSpPr/>
          <p:nvPr/>
        </p:nvSpPr>
        <p:spPr>
          <a:xfrm>
            <a:off x="502920" y="4434840"/>
            <a:ext cx="8138160" cy="320040"/>
          </a:xfrm>
          <a:prstGeom prst="rect">
            <a:avLst/>
          </a:prstGeom>
          <a:noFill/>
          <a:ln/>
        </p:spPr>
        <p:txBody>
          <a:bodyPr wrap="square" lIns="0" tIns="0" rIns="0" bIns="0" rtlCol="0" anchor="ctr"/>
          <a:lstStyle/>
          <a:p>
            <a:pPr indent="0" marL="0">
              <a:buNone/>
            </a:pPr>
            <a:r>
              <a:rPr lang="en-US" sz="1200" i="1" dirty="0">
                <a:solidFill>
                  <a:srgbClr val="1E5A3F"/>
                </a:solidFill>
                <a:latin typeface="Calibri" pitchFamily="34" charset="0"/>
                <a:ea typeface="Calibri" pitchFamily="34" charset="-122"/>
                <a:cs typeface="Calibri" pitchFamily="34" charset="-120"/>
              </a:rPr>
              <a:t>Notice: the 'after' version is also the skeleton of a perfect abstract — keep it in mind for the exercise.</a:t>
            </a:r>
            <a:endParaRPr lang="en-US" sz="1200" dirty="0"/>
          </a:p>
        </p:txBody>
      </p:sp>
      <p:sp>
        <p:nvSpPr>
          <p:cNvPr id="17" name="Text 12"/>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8" name="Text 13"/>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24</a:t>
            </a:r>
            <a:endParaRPr lang="en-US" sz="850" dirty="0"/>
          </a:p>
        </p:txBody>
      </p:sp>
      <p:pic>
        <p:nvPicPr>
          <p:cNvPr id="125"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26"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2 — THE CORE</a:t>
            </a:r>
            <a:endParaRPr lang="en-US" sz="1100" dirty="0"/>
          </a:p>
        </p:txBody>
      </p:sp>
      <p:sp>
        <p:nvSpPr>
          <p:cNvPr id="5" name="Text 2"/>
          <p:cNvSpPr/>
          <p:nvPr/>
        </p:nvSpPr>
        <p:spPr>
          <a:xfrm>
            <a:off x="1051560" y="548640"/>
            <a:ext cx="7315200" cy="502920"/>
          </a:xfrm>
          <a:prstGeom prst="rect">
            <a:avLst/>
          </a:prstGeom>
          <a:noFill/>
          <a:ln/>
        </p:spPr>
        <p:txBody>
          <a:bodyPr wrap="square" lIns="0" tIns="0" rIns="0" bIns="0" rtlCol="0" anchor="ctr"/>
          <a:lstStyle/>
          <a:p>
            <a:pPr indent="0" marL="0">
              <a:buNone/>
            </a:pPr>
            <a:r>
              <a:rPr lang="en-US" sz="2500" b="1" dirty="0">
                <a:solidFill>
                  <a:srgbClr val="12362A"/>
                </a:solidFill>
                <a:latin typeface="Cambria" pitchFamily="34" charset="0"/>
                <a:ea typeface="Cambria" pitchFamily="34" charset="-122"/>
                <a:cs typeface="Cambria" pitchFamily="34" charset="-120"/>
              </a:rPr>
              <a:t>Methodology: write for re-implementation</a:t>
            </a:r>
            <a:endParaRPr lang="en-US" sz="2500" dirty="0"/>
          </a:p>
        </p:txBody>
      </p:sp>
      <p:sp>
        <p:nvSpPr>
          <p:cNvPr id="6" name="Text 3"/>
          <p:cNvSpPr/>
          <p:nvPr/>
        </p:nvSpPr>
        <p:spPr>
          <a:xfrm>
            <a:off x="502920" y="1298448"/>
            <a:ext cx="8138160" cy="320040"/>
          </a:xfrm>
          <a:prstGeom prst="rect">
            <a:avLst/>
          </a:prstGeom>
          <a:noFill/>
          <a:ln/>
        </p:spPr>
        <p:txBody>
          <a:bodyPr wrap="square" lIns="0" tIns="0" rIns="0" bIns="0" rtlCol="0" anchor="ctr"/>
          <a:lstStyle/>
          <a:p>
            <a:pPr indent="0" marL="0">
              <a:buNone/>
            </a:pPr>
            <a:r>
              <a:rPr lang="en-US" sz="1350" b="1" dirty="0">
                <a:solidFill>
                  <a:srgbClr val="23312B"/>
                </a:solidFill>
                <a:latin typeface="Calibri" pitchFamily="34" charset="0"/>
                <a:ea typeface="Calibri" pitchFamily="34" charset="-122"/>
                <a:cs typeface="Calibri" pitchFamily="34" charset="-120"/>
              </a:rPr>
              <a:t>The gold standard: a competent reader could rebuild your system from your text alone.</a:t>
            </a:r>
            <a:endParaRPr lang="en-US" sz="1350" dirty="0"/>
          </a:p>
        </p:txBody>
      </p:sp>
      <p:sp>
        <p:nvSpPr>
          <p:cNvPr id="7" name="Shape 4"/>
          <p:cNvSpPr/>
          <p:nvPr/>
        </p:nvSpPr>
        <p:spPr>
          <a:xfrm>
            <a:off x="502920" y="1783080"/>
            <a:ext cx="2606040" cy="2148840"/>
          </a:xfrm>
          <a:prstGeom prst="roundRect">
            <a:avLst>
              <a:gd name="adj" fmla="val 3830"/>
            </a:avLst>
          </a:prstGeom>
          <a:solidFill>
            <a:srgbClr val="EFF5F0"/>
          </a:solidFill>
          <a:ln/>
          <a:effectLst>
            <a:outerShdw sx="100000" sy="100000" kx="0" ky="0" algn="bl" rotWithShape="0" blurRad="88900" dist="25400" dir="2700000">
              <a:srgbClr val="000000">
                <a:alpha val="14000"/>
              </a:srgbClr>
            </a:outerShdw>
          </a:effectLst>
        </p:spPr>
      </p:sp>
      <p:sp>
        <p:nvSpPr>
          <p:cNvPr id="8" name="Shape 5"/>
          <p:cNvSpPr/>
          <p:nvPr/>
        </p:nvSpPr>
        <p:spPr>
          <a:xfrm>
            <a:off x="685800" y="1947672"/>
            <a:ext cx="402336" cy="402336"/>
          </a:xfrm>
          <a:prstGeom prst="ellipse">
            <a:avLst/>
          </a:prstGeom>
          <a:solidFill>
            <a:srgbClr val="1E5A3F"/>
          </a:solidFill>
          <a:ln/>
        </p:spPr>
      </p:sp>
      <p:sp>
        <p:nvSpPr>
          <p:cNvPr id="9" name="Text 6"/>
          <p:cNvSpPr/>
          <p:nvPr/>
        </p:nvSpPr>
        <p:spPr>
          <a:xfrm>
            <a:off x="685800" y="19476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p:nvPr/>
        </p:nvSpPr>
        <p:spPr>
          <a:xfrm>
            <a:off x="1188720" y="2011680"/>
            <a:ext cx="1828800" cy="5029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Consistent notation</a:t>
            </a:r>
            <a:endParaRPr lang="en-US" sz="1250" dirty="0"/>
          </a:p>
        </p:txBody>
      </p:sp>
      <p:sp>
        <p:nvSpPr>
          <p:cNvPr id="11" name="Text 8"/>
          <p:cNvSpPr/>
          <p:nvPr/>
        </p:nvSpPr>
        <p:spPr>
          <a:xfrm>
            <a:off x="685800" y="2560320"/>
            <a:ext cx="2240280" cy="1280160"/>
          </a:xfrm>
          <a:prstGeom prst="rect">
            <a:avLst/>
          </a:prstGeom>
          <a:noFill/>
          <a:ln/>
        </p:spPr>
        <p:txBody>
          <a:bodyPr wrap="square" lIns="0" tIns="0" rIns="0" bIns="0" rtlCol="0" anchor="ctr"/>
          <a:lstStyle/>
          <a:p>
            <a:pPr indent="0" marL="0">
              <a:buNone/>
            </a:pPr>
            <a:r>
              <a:rPr lang="en-US" sz="1050" dirty="0">
                <a:solidFill>
                  <a:srgbClr val="23312B"/>
                </a:solidFill>
                <a:latin typeface="Calibri" pitchFamily="34" charset="0"/>
                <a:ea typeface="Calibri" pitchFamily="34" charset="-122"/>
                <a:cs typeface="Calibri" pitchFamily="34" charset="-120"/>
              </a:rPr>
              <a:t>scalars x, vectors x (bold), matrices X (bold caps); define EVERY symbol at first use — one notation table saves reviewers.</a:t>
            </a:r>
            <a:endParaRPr lang="en-US" sz="1050" dirty="0"/>
          </a:p>
        </p:txBody>
      </p:sp>
      <p:sp>
        <p:nvSpPr>
          <p:cNvPr id="12" name="Shape 9"/>
          <p:cNvSpPr/>
          <p:nvPr/>
        </p:nvSpPr>
        <p:spPr>
          <a:xfrm>
            <a:off x="3291840" y="1783080"/>
            <a:ext cx="2606040" cy="2148840"/>
          </a:xfrm>
          <a:prstGeom prst="roundRect">
            <a:avLst>
              <a:gd name="adj" fmla="val 3830"/>
            </a:avLst>
          </a:prstGeom>
          <a:solidFill>
            <a:srgbClr val="EFF5F0"/>
          </a:solidFill>
          <a:ln/>
          <a:effectLst>
            <a:outerShdw sx="100000" sy="100000" kx="0" ky="0" algn="bl" rotWithShape="0" blurRad="88900" dist="25400" dir="2700000">
              <a:srgbClr val="000000">
                <a:alpha val="14000"/>
              </a:srgbClr>
            </a:outerShdw>
          </a:effectLst>
        </p:spPr>
      </p:sp>
      <p:sp>
        <p:nvSpPr>
          <p:cNvPr id="13" name="Shape 10"/>
          <p:cNvSpPr/>
          <p:nvPr/>
        </p:nvSpPr>
        <p:spPr>
          <a:xfrm>
            <a:off x="3474720" y="1947672"/>
            <a:ext cx="402336" cy="402336"/>
          </a:xfrm>
          <a:prstGeom prst="ellipse">
            <a:avLst/>
          </a:prstGeom>
          <a:solidFill>
            <a:srgbClr val="1E5A3F"/>
          </a:solidFill>
          <a:ln/>
        </p:spPr>
      </p:sp>
      <p:sp>
        <p:nvSpPr>
          <p:cNvPr id="14" name="Text 11"/>
          <p:cNvSpPr/>
          <p:nvPr/>
        </p:nvSpPr>
        <p:spPr>
          <a:xfrm>
            <a:off x="3474720" y="19476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2"/>
          <p:cNvSpPr/>
          <p:nvPr/>
        </p:nvSpPr>
        <p:spPr>
          <a:xfrm>
            <a:off x="3977640" y="2011680"/>
            <a:ext cx="1828800" cy="5029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Architecture &amp; training</a:t>
            </a:r>
            <a:endParaRPr lang="en-US" sz="1250" dirty="0"/>
          </a:p>
        </p:txBody>
      </p:sp>
      <p:sp>
        <p:nvSpPr>
          <p:cNvPr id="16" name="Text 13"/>
          <p:cNvSpPr/>
          <p:nvPr/>
        </p:nvSpPr>
        <p:spPr>
          <a:xfrm>
            <a:off x="3474720" y="2560320"/>
            <a:ext cx="2240280" cy="1280160"/>
          </a:xfrm>
          <a:prstGeom prst="rect">
            <a:avLst/>
          </a:prstGeom>
          <a:noFill/>
          <a:ln/>
        </p:spPr>
        <p:txBody>
          <a:bodyPr wrap="square" lIns="0" tIns="0" rIns="0" bIns="0" rtlCol="0" anchor="ctr"/>
          <a:lstStyle/>
          <a:p>
            <a:pPr indent="0" marL="0">
              <a:buNone/>
            </a:pPr>
            <a:r>
              <a:rPr lang="en-US" sz="1050" dirty="0">
                <a:solidFill>
                  <a:srgbClr val="23312B"/>
                </a:solidFill>
                <a:latin typeface="Calibri" pitchFamily="34" charset="0"/>
                <a:ea typeface="Calibri" pitchFamily="34" charset="-122"/>
                <a:cs typeface="Calibri" pitchFamily="34" charset="-120"/>
              </a:rPr>
              <a:t>layers, losses, optimizer, learning-rate schedule, hardware; hyperparameters in a table, search space stated.</a:t>
            </a:r>
            <a:endParaRPr lang="en-US" sz="1050" dirty="0"/>
          </a:p>
        </p:txBody>
      </p:sp>
      <p:sp>
        <p:nvSpPr>
          <p:cNvPr id="17" name="Shape 14"/>
          <p:cNvSpPr/>
          <p:nvPr/>
        </p:nvSpPr>
        <p:spPr>
          <a:xfrm>
            <a:off x="6080760" y="1783080"/>
            <a:ext cx="2606040" cy="2148840"/>
          </a:xfrm>
          <a:prstGeom prst="roundRect">
            <a:avLst>
              <a:gd name="adj" fmla="val 3830"/>
            </a:avLst>
          </a:prstGeom>
          <a:solidFill>
            <a:srgbClr val="EFF5F0"/>
          </a:solidFill>
          <a:ln/>
          <a:effectLst>
            <a:outerShdw sx="100000" sy="100000" kx="0" ky="0" algn="bl" rotWithShape="0" blurRad="88900" dist="25400" dir="2700000">
              <a:srgbClr val="000000">
                <a:alpha val="14000"/>
              </a:srgbClr>
            </a:outerShdw>
          </a:effectLst>
        </p:spPr>
      </p:sp>
      <p:sp>
        <p:nvSpPr>
          <p:cNvPr id="18" name="Shape 15"/>
          <p:cNvSpPr/>
          <p:nvPr/>
        </p:nvSpPr>
        <p:spPr>
          <a:xfrm>
            <a:off x="6263640" y="1947672"/>
            <a:ext cx="402336" cy="402336"/>
          </a:xfrm>
          <a:prstGeom prst="ellipse">
            <a:avLst/>
          </a:prstGeom>
          <a:solidFill>
            <a:srgbClr val="1E5A3F"/>
          </a:solidFill>
          <a:ln/>
        </p:spPr>
      </p:sp>
      <p:sp>
        <p:nvSpPr>
          <p:cNvPr id="19" name="Text 16"/>
          <p:cNvSpPr/>
          <p:nvPr/>
        </p:nvSpPr>
        <p:spPr>
          <a:xfrm>
            <a:off x="6263640" y="19476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7"/>
          <p:cNvSpPr/>
          <p:nvPr/>
        </p:nvSpPr>
        <p:spPr>
          <a:xfrm>
            <a:off x="6766560" y="2011680"/>
            <a:ext cx="1828800" cy="5029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Evaluation protocol</a:t>
            </a:r>
            <a:endParaRPr lang="en-US" sz="1250" dirty="0"/>
          </a:p>
        </p:txBody>
      </p:sp>
      <p:sp>
        <p:nvSpPr>
          <p:cNvPr id="21" name="Text 18"/>
          <p:cNvSpPr/>
          <p:nvPr/>
        </p:nvSpPr>
        <p:spPr>
          <a:xfrm>
            <a:off x="6263640" y="2560320"/>
            <a:ext cx="2240280" cy="1280160"/>
          </a:xfrm>
          <a:prstGeom prst="rect">
            <a:avLst/>
          </a:prstGeom>
          <a:noFill/>
          <a:ln/>
        </p:spPr>
        <p:txBody>
          <a:bodyPr wrap="square" lIns="0" tIns="0" rIns="0" bIns="0" rtlCol="0" anchor="ctr"/>
          <a:lstStyle/>
          <a:p>
            <a:pPr indent="0" marL="0">
              <a:buNone/>
            </a:pPr>
            <a:r>
              <a:rPr lang="en-US" sz="1050" dirty="0">
                <a:solidFill>
                  <a:srgbClr val="23312B"/>
                </a:solidFill>
                <a:latin typeface="Calibri" pitchFamily="34" charset="0"/>
                <a:ea typeface="Calibri" pitchFamily="34" charset="-122"/>
                <a:cs typeface="Calibri" pitchFamily="34" charset="-120"/>
              </a:rPr>
              <a:t>metrics with formulas, train/val/test splits, number of seeds, and the baselines you compare against — chosen fairly.</a:t>
            </a:r>
            <a:endParaRPr lang="en-US" sz="1050" dirty="0"/>
          </a:p>
        </p:txBody>
      </p:sp>
      <p:sp>
        <p:nvSpPr>
          <p:cNvPr id="22" name="Shape 19"/>
          <p:cNvSpPr/>
          <p:nvPr/>
        </p:nvSpPr>
        <p:spPr>
          <a:xfrm>
            <a:off x="502920" y="4114800"/>
            <a:ext cx="8138160" cy="566928"/>
          </a:xfrm>
          <a:prstGeom prst="roundRect">
            <a:avLst>
              <a:gd name="adj" fmla="val 14516"/>
            </a:avLst>
          </a:prstGeom>
          <a:solidFill>
            <a:srgbClr val="F7F4EC"/>
          </a:solidFill>
          <a:ln/>
        </p:spPr>
      </p:sp>
      <p:pic>
        <p:nvPicPr>
          <p:cNvPr id="23" name="Image 1" descr="preencoded.png">    </p:cNvPr>
          <p:cNvPicPr>
            <a:picLocks noChangeAspect="1"/>
          </p:cNvPicPr>
          <p:nvPr/>
        </p:nvPicPr>
        <p:blipFill>
          <a:blip r:embed="rId2"/>
          <a:stretch>
            <a:fillRect/>
          </a:stretch>
        </p:blipFill>
        <p:spPr>
          <a:xfrm>
            <a:off x="685800" y="4242816"/>
            <a:ext cx="310896" cy="310896"/>
          </a:xfrm>
          <a:prstGeom prst="rect">
            <a:avLst/>
          </a:prstGeom>
        </p:spPr>
      </p:pic>
      <p:sp>
        <p:nvSpPr>
          <p:cNvPr id="24" name="Text 20"/>
          <p:cNvSpPr/>
          <p:nvPr/>
        </p:nvSpPr>
        <p:spPr>
          <a:xfrm>
            <a:off x="1097280" y="4114800"/>
            <a:ext cx="7452360" cy="566928"/>
          </a:xfrm>
          <a:prstGeom prst="rect">
            <a:avLst/>
          </a:prstGeom>
          <a:noFill/>
          <a:ln/>
        </p:spPr>
        <p:txBody>
          <a:bodyPr wrap="square" lIns="0" tIns="0" rIns="0" bIns="0" rtlCol="0" anchor="ctr"/>
          <a:lstStyle/>
          <a:p>
            <a:pPr indent="0" marL="0">
              <a:buNone/>
            </a:pPr>
            <a:r>
              <a:rPr lang="en-US" sz="1250" b="1" dirty="0">
                <a:solidFill>
                  <a:srgbClr val="C9922F"/>
                </a:solidFill>
                <a:latin typeface="Calibri" pitchFamily="34" charset="0"/>
                <a:ea typeface="Calibri" pitchFamily="34" charset="-122"/>
                <a:cs typeface="Calibri" pitchFamily="34" charset="-120"/>
              </a:rPr>
              <a:t>Reviewer heuristic: </a:t>
            </a:r>
            <a:pPr indent="0" marL="0">
              <a:buNone/>
            </a:pPr>
            <a:r>
              <a:rPr lang="en-US" sz="1250" dirty="0">
                <a:solidFill>
                  <a:srgbClr val="23312B"/>
                </a:solidFill>
                <a:latin typeface="Calibri" pitchFamily="34" charset="0"/>
                <a:ea typeface="Calibri" pitchFamily="34" charset="-122"/>
                <a:cs typeface="Calibri" pitchFamily="34" charset="-120"/>
              </a:rPr>
              <a:t>a Methodology I cannot re-implement is a Methodology I cannot trust — and cannot accept.</a:t>
            </a:r>
            <a:endParaRPr lang="en-US" sz="1250" dirty="0"/>
          </a:p>
        </p:txBody>
      </p:sp>
      <p:sp>
        <p:nvSpPr>
          <p:cNvPr id="25" name="Text 21"/>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6" name="Text 22"/>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25</a:t>
            </a:r>
            <a:endParaRPr lang="en-US" sz="850" dirty="0"/>
          </a:p>
        </p:txBody>
      </p:sp>
      <p:pic>
        <p:nvPicPr>
          <p:cNvPr id="127" name="QR kit" descr="img"/>
          <p:cNvPicPr>
            <a:picLocks noChangeAspect="1"/>
          </p:cNvPicPr>
          <p:nvPr/>
        </p:nvPicPr>
        <p:blipFill>
          <a:blip r:embed="rId5"/>
          <a:stretch>
            <a:fillRect/>
          </a:stretch>
        </p:blipFill>
        <p:spPr>
          <a:xfrm>
            <a:off x="7699248" y="4672584"/>
            <a:ext cx="402336" cy="402336"/>
          </a:xfrm>
          <a:prstGeom prst="rect">
            <a:avLst/>
          </a:prstGeom>
        </p:spPr>
      </p:pic>
      <p:sp>
        <p:nvSpPr>
          <p:cNvPr id="128"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2 — THE CORE</a:t>
            </a:r>
            <a:endParaRPr lang="en-US" sz="1100" dirty="0"/>
          </a:p>
        </p:txBody>
      </p:sp>
      <p:sp>
        <p:nvSpPr>
          <p:cNvPr id="5" name="Text 2"/>
          <p:cNvSpPr/>
          <p:nvPr/>
        </p:nvSpPr>
        <p:spPr>
          <a:xfrm>
            <a:off x="1051560" y="548640"/>
            <a:ext cx="7132320" cy="502920"/>
          </a:xfrm>
          <a:prstGeom prst="rect">
            <a:avLst/>
          </a:prstGeom>
          <a:noFill/>
          <a:ln/>
        </p:spPr>
        <p:txBody>
          <a:bodyPr wrap="square" lIns="0" tIns="0" rIns="0" bIns="0" rtlCol="0" anchor="ctr"/>
          <a:lstStyle/>
          <a:p>
            <a:pPr indent="0" marL="0">
              <a:buNone/>
            </a:pPr>
            <a:r>
              <a:rPr lang="en-US" sz="2500" b="1" dirty="0">
                <a:solidFill>
                  <a:srgbClr val="12362A"/>
                </a:solidFill>
                <a:latin typeface="Cambria" pitchFamily="34" charset="0"/>
                <a:ea typeface="Cambria" pitchFamily="34" charset="-122"/>
                <a:cs typeface="Cambria" pitchFamily="34" charset="-120"/>
              </a:rPr>
              <a:t>Your dataset deserves a full biography</a:t>
            </a:r>
            <a:endParaRPr lang="en-US" sz="2500" dirty="0"/>
          </a:p>
        </p:txBody>
      </p:sp>
      <p:sp>
        <p:nvSpPr>
          <p:cNvPr id="6" name="Text 3"/>
          <p:cNvSpPr/>
          <p:nvPr/>
        </p:nvSpPr>
        <p:spPr>
          <a:xfrm>
            <a:off x="502920" y="1298448"/>
            <a:ext cx="8138160" cy="320040"/>
          </a:xfrm>
          <a:prstGeom prst="rect">
            <a:avLst/>
          </a:prstGeom>
          <a:noFill/>
          <a:ln/>
        </p:spPr>
        <p:txBody>
          <a:bodyPr wrap="square" lIns="0" tIns="0" rIns="0" bIns="0" rtlCol="0" anchor="ctr"/>
          <a:lstStyle/>
          <a:p>
            <a:pPr indent="0" marL="0">
              <a:buNone/>
            </a:pPr>
            <a:r>
              <a:rPr lang="en-US" sz="1350" dirty="0">
                <a:solidFill>
                  <a:srgbClr val="23312B"/>
                </a:solidFill>
                <a:latin typeface="Calibri" pitchFamily="34" charset="0"/>
                <a:ea typeface="Calibri" pitchFamily="34" charset="-122"/>
                <a:cs typeface="Calibri" pitchFamily="34" charset="-120"/>
              </a:rPr>
              <a:t>African datasets are scientific treasures — describe them like one:</a:t>
            </a:r>
            <a:endParaRPr lang="en-US" sz="1350" dirty="0"/>
          </a:p>
        </p:txBody>
      </p:sp>
      <p:sp>
        <p:nvSpPr>
          <p:cNvPr id="7" name="Shape 4"/>
          <p:cNvSpPr/>
          <p:nvPr/>
        </p:nvSpPr>
        <p:spPr>
          <a:xfrm>
            <a:off x="502920" y="1737360"/>
            <a:ext cx="3931920" cy="731520"/>
          </a:xfrm>
          <a:prstGeom prst="roundRect">
            <a:avLst>
              <a:gd name="adj" fmla="val 10000"/>
            </a:avLst>
          </a:prstGeom>
          <a:solidFill>
            <a:srgbClr val="EFF5F0"/>
          </a:solidFill>
          <a:ln/>
        </p:spPr>
      </p:sp>
      <p:sp>
        <p:nvSpPr>
          <p:cNvPr id="8" name="Text 5"/>
          <p:cNvSpPr/>
          <p:nvPr/>
        </p:nvSpPr>
        <p:spPr>
          <a:xfrm>
            <a:off x="667512" y="1801368"/>
            <a:ext cx="3657600" cy="621792"/>
          </a:xfrm>
          <a:prstGeom prst="rect">
            <a:avLst/>
          </a:prstGeom>
          <a:noFill/>
          <a:ln/>
        </p:spPr>
        <p:txBody>
          <a:bodyPr wrap="square" lIns="0" tIns="0" rIns="0" bIns="0" rtlCol="0" anchor="ctr"/>
          <a:lstStyle/>
          <a:p>
            <a:pPr indent="0" marL="0">
              <a:buNone/>
            </a:pPr>
            <a:r>
              <a:rPr lang="en-US" sz="1200" b="1" dirty="0">
                <a:solidFill>
                  <a:srgbClr val="1E5A3F"/>
                </a:solidFill>
                <a:latin typeface="Calibri" pitchFamily="34" charset="0"/>
                <a:ea typeface="Calibri" pitchFamily="34" charset="-122"/>
                <a:cs typeface="Calibri" pitchFamily="34" charset="-120"/>
              </a:rPr>
              <a:t>Provenance</a:t>
            </a:r>
            <a:endParaRPr lang="en-US" sz="1200" dirty="0"/>
          </a:p>
          <a:p>
            <a:pPr indent="0" marL="0">
              <a:buNone/>
            </a:pPr>
            <a:r>
              <a:rPr lang="en-US" sz="1050" dirty="0">
                <a:solidFill>
                  <a:srgbClr val="5E6E66"/>
                </a:solidFill>
                <a:latin typeface="Calibri" pitchFamily="34" charset="0"/>
                <a:ea typeface="Calibri" pitchFamily="34" charset="-122"/>
                <a:cs typeface="Calibri" pitchFamily="34" charset="-120"/>
              </a:rPr>
              <a:t>where, when, by whom, with what consent and ethics approval</a:t>
            </a:r>
            <a:endParaRPr lang="en-US" sz="1200" dirty="0"/>
          </a:p>
        </p:txBody>
      </p:sp>
      <p:sp>
        <p:nvSpPr>
          <p:cNvPr id="9" name="Shape 6"/>
          <p:cNvSpPr/>
          <p:nvPr/>
        </p:nvSpPr>
        <p:spPr>
          <a:xfrm>
            <a:off x="4709160" y="1737360"/>
            <a:ext cx="3931920" cy="731520"/>
          </a:xfrm>
          <a:prstGeom prst="roundRect">
            <a:avLst>
              <a:gd name="adj" fmla="val 10000"/>
            </a:avLst>
          </a:prstGeom>
          <a:solidFill>
            <a:srgbClr val="EFF5F0"/>
          </a:solidFill>
          <a:ln/>
        </p:spPr>
      </p:sp>
      <p:sp>
        <p:nvSpPr>
          <p:cNvPr id="10" name="Text 7"/>
          <p:cNvSpPr/>
          <p:nvPr/>
        </p:nvSpPr>
        <p:spPr>
          <a:xfrm>
            <a:off x="4873752" y="1801368"/>
            <a:ext cx="3657600" cy="621792"/>
          </a:xfrm>
          <a:prstGeom prst="rect">
            <a:avLst/>
          </a:prstGeom>
          <a:noFill/>
          <a:ln/>
        </p:spPr>
        <p:txBody>
          <a:bodyPr wrap="square" lIns="0" tIns="0" rIns="0" bIns="0" rtlCol="0" anchor="ctr"/>
          <a:lstStyle/>
          <a:p>
            <a:pPr indent="0" marL="0">
              <a:buNone/>
            </a:pPr>
            <a:r>
              <a:rPr lang="en-US" sz="1200" b="1" dirty="0">
                <a:solidFill>
                  <a:srgbClr val="1E5A3F"/>
                </a:solidFill>
                <a:latin typeface="Calibri" pitchFamily="34" charset="0"/>
                <a:ea typeface="Calibri" pitchFamily="34" charset="-122"/>
                <a:cs typeface="Calibri" pitchFamily="34" charset="-120"/>
              </a:rPr>
              <a:t>Size &amp; composition</a:t>
            </a:r>
            <a:endParaRPr lang="en-US" sz="1200" dirty="0"/>
          </a:p>
          <a:p>
            <a:pPr indent="0" marL="0">
              <a:buNone/>
            </a:pPr>
            <a:r>
              <a:rPr lang="en-US" sz="1050" dirty="0">
                <a:solidFill>
                  <a:srgbClr val="5E6E66"/>
                </a:solidFill>
                <a:latin typeface="Calibri" pitchFamily="34" charset="0"/>
                <a:ea typeface="Calibri" pitchFamily="34" charset="-122"/>
                <a:cs typeface="Calibri" pitchFamily="34" charset="-120"/>
              </a:rPr>
              <a:t>N samples, class balance, languages/regions covered</a:t>
            </a:r>
            <a:endParaRPr lang="en-US" sz="1200" dirty="0"/>
          </a:p>
        </p:txBody>
      </p:sp>
      <p:sp>
        <p:nvSpPr>
          <p:cNvPr id="11" name="Shape 8"/>
          <p:cNvSpPr/>
          <p:nvPr/>
        </p:nvSpPr>
        <p:spPr>
          <a:xfrm>
            <a:off x="502920" y="2578608"/>
            <a:ext cx="3931920" cy="731520"/>
          </a:xfrm>
          <a:prstGeom prst="roundRect">
            <a:avLst>
              <a:gd name="adj" fmla="val 10000"/>
            </a:avLst>
          </a:prstGeom>
          <a:solidFill>
            <a:srgbClr val="EFF5F0"/>
          </a:solidFill>
          <a:ln/>
        </p:spPr>
      </p:sp>
      <p:sp>
        <p:nvSpPr>
          <p:cNvPr id="12" name="Text 9"/>
          <p:cNvSpPr/>
          <p:nvPr/>
        </p:nvSpPr>
        <p:spPr>
          <a:xfrm>
            <a:off x="667512" y="2642616"/>
            <a:ext cx="3657600" cy="621792"/>
          </a:xfrm>
          <a:prstGeom prst="rect">
            <a:avLst/>
          </a:prstGeom>
          <a:noFill/>
          <a:ln/>
        </p:spPr>
        <p:txBody>
          <a:bodyPr wrap="square" lIns="0" tIns="0" rIns="0" bIns="0" rtlCol="0" anchor="ctr"/>
          <a:lstStyle/>
          <a:p>
            <a:pPr indent="0" marL="0">
              <a:buNone/>
            </a:pPr>
            <a:r>
              <a:rPr lang="en-US" sz="1200" b="1" dirty="0">
                <a:solidFill>
                  <a:srgbClr val="1E5A3F"/>
                </a:solidFill>
                <a:latin typeface="Calibri" pitchFamily="34" charset="0"/>
                <a:ea typeface="Calibri" pitchFamily="34" charset="-122"/>
                <a:cs typeface="Calibri" pitchFamily="34" charset="-120"/>
              </a:rPr>
              <a:t>Preprocessing</a:t>
            </a:r>
            <a:endParaRPr lang="en-US" sz="1200" dirty="0"/>
          </a:p>
          <a:p>
            <a:pPr indent="0" marL="0">
              <a:buNone/>
            </a:pPr>
            <a:r>
              <a:rPr lang="en-US" sz="1050" dirty="0">
                <a:solidFill>
                  <a:srgbClr val="5E6E66"/>
                </a:solidFill>
                <a:latin typeface="Calibri" pitchFamily="34" charset="0"/>
                <a:ea typeface="Calibri" pitchFamily="34" charset="-122"/>
                <a:cs typeface="Calibri" pitchFamily="34" charset="-120"/>
              </a:rPr>
              <a:t>cleaning, filtering, augmentation — every transformation stated</a:t>
            </a:r>
            <a:endParaRPr lang="en-US" sz="1200" dirty="0"/>
          </a:p>
        </p:txBody>
      </p:sp>
      <p:sp>
        <p:nvSpPr>
          <p:cNvPr id="13" name="Shape 10"/>
          <p:cNvSpPr/>
          <p:nvPr/>
        </p:nvSpPr>
        <p:spPr>
          <a:xfrm>
            <a:off x="4709160" y="2578608"/>
            <a:ext cx="3931920" cy="731520"/>
          </a:xfrm>
          <a:prstGeom prst="roundRect">
            <a:avLst>
              <a:gd name="adj" fmla="val 10000"/>
            </a:avLst>
          </a:prstGeom>
          <a:solidFill>
            <a:srgbClr val="EFF5F0"/>
          </a:solidFill>
          <a:ln/>
        </p:spPr>
      </p:sp>
      <p:sp>
        <p:nvSpPr>
          <p:cNvPr id="14" name="Text 11"/>
          <p:cNvSpPr/>
          <p:nvPr/>
        </p:nvSpPr>
        <p:spPr>
          <a:xfrm>
            <a:off x="4873752" y="2642616"/>
            <a:ext cx="3657600" cy="621792"/>
          </a:xfrm>
          <a:prstGeom prst="rect">
            <a:avLst/>
          </a:prstGeom>
          <a:noFill/>
          <a:ln/>
        </p:spPr>
        <p:txBody>
          <a:bodyPr wrap="square" lIns="0" tIns="0" rIns="0" bIns="0" rtlCol="0" anchor="ctr"/>
          <a:lstStyle/>
          <a:p>
            <a:pPr indent="0" marL="0">
              <a:buNone/>
            </a:pPr>
            <a:r>
              <a:rPr lang="en-US" sz="1200" b="1" dirty="0">
                <a:solidFill>
                  <a:srgbClr val="1E5A3F"/>
                </a:solidFill>
                <a:latin typeface="Calibri" pitchFamily="34" charset="0"/>
                <a:ea typeface="Calibri" pitchFamily="34" charset="-122"/>
                <a:cs typeface="Calibri" pitchFamily="34" charset="-120"/>
              </a:rPr>
              <a:t>Splits &amp; leakage control</a:t>
            </a:r>
            <a:endParaRPr lang="en-US" sz="1200" dirty="0"/>
          </a:p>
          <a:p>
            <a:pPr indent="0" marL="0">
              <a:buNone/>
            </a:pPr>
            <a:r>
              <a:rPr lang="en-US" sz="1050" dirty="0">
                <a:solidFill>
                  <a:srgbClr val="5E6E66"/>
                </a:solidFill>
                <a:latin typeface="Calibri" pitchFamily="34" charset="0"/>
                <a:ea typeface="Calibri" pitchFamily="34" charset="-122"/>
                <a:cs typeface="Calibri" pitchFamily="34" charset="-120"/>
              </a:rPr>
              <a:t>how train/val/test were separated (by farm, by speaker…)</a:t>
            </a:r>
            <a:endParaRPr lang="en-US" sz="1200" dirty="0"/>
          </a:p>
        </p:txBody>
      </p:sp>
      <p:sp>
        <p:nvSpPr>
          <p:cNvPr id="15" name="Shape 12"/>
          <p:cNvSpPr/>
          <p:nvPr/>
        </p:nvSpPr>
        <p:spPr>
          <a:xfrm>
            <a:off x="502920" y="3419856"/>
            <a:ext cx="3931920" cy="731520"/>
          </a:xfrm>
          <a:prstGeom prst="roundRect">
            <a:avLst>
              <a:gd name="adj" fmla="val 10000"/>
            </a:avLst>
          </a:prstGeom>
          <a:solidFill>
            <a:srgbClr val="EFF5F0"/>
          </a:solidFill>
          <a:ln/>
        </p:spPr>
      </p:sp>
      <p:sp>
        <p:nvSpPr>
          <p:cNvPr id="16" name="Text 13"/>
          <p:cNvSpPr/>
          <p:nvPr/>
        </p:nvSpPr>
        <p:spPr>
          <a:xfrm>
            <a:off x="667512" y="3483864"/>
            <a:ext cx="3657600" cy="621792"/>
          </a:xfrm>
          <a:prstGeom prst="rect">
            <a:avLst/>
          </a:prstGeom>
          <a:noFill/>
          <a:ln/>
        </p:spPr>
        <p:txBody>
          <a:bodyPr wrap="square" lIns="0" tIns="0" rIns="0" bIns="0" rtlCol="0" anchor="ctr"/>
          <a:lstStyle/>
          <a:p>
            <a:pPr indent="0" marL="0">
              <a:buNone/>
            </a:pPr>
            <a:r>
              <a:rPr lang="en-US" sz="1200" b="1" dirty="0">
                <a:solidFill>
                  <a:srgbClr val="1E5A3F"/>
                </a:solidFill>
                <a:latin typeface="Calibri" pitchFamily="34" charset="0"/>
                <a:ea typeface="Calibri" pitchFamily="34" charset="-122"/>
                <a:cs typeface="Calibri" pitchFamily="34" charset="-120"/>
              </a:rPr>
              <a:t>Known biases</a:t>
            </a:r>
            <a:endParaRPr lang="en-US" sz="1200" dirty="0"/>
          </a:p>
          <a:p>
            <a:pPr indent="0" marL="0">
              <a:buNone/>
            </a:pPr>
            <a:r>
              <a:rPr lang="en-US" sz="1050" dirty="0">
                <a:solidFill>
                  <a:srgbClr val="5E6E66"/>
                </a:solidFill>
                <a:latin typeface="Calibri" pitchFamily="34" charset="0"/>
                <a:ea typeface="Calibri" pitchFamily="34" charset="-122"/>
                <a:cs typeface="Calibri" pitchFamily="34" charset="-120"/>
              </a:rPr>
              <a:t>urban vs rural coverage, device quality, seasonal effects</a:t>
            </a:r>
            <a:endParaRPr lang="en-US" sz="1200" dirty="0"/>
          </a:p>
        </p:txBody>
      </p:sp>
      <p:sp>
        <p:nvSpPr>
          <p:cNvPr id="17" name="Shape 14"/>
          <p:cNvSpPr/>
          <p:nvPr/>
        </p:nvSpPr>
        <p:spPr>
          <a:xfrm>
            <a:off x="4709160" y="3419856"/>
            <a:ext cx="3931920" cy="731520"/>
          </a:xfrm>
          <a:prstGeom prst="roundRect">
            <a:avLst>
              <a:gd name="adj" fmla="val 10000"/>
            </a:avLst>
          </a:prstGeom>
          <a:solidFill>
            <a:srgbClr val="EFF5F0"/>
          </a:solidFill>
          <a:ln/>
        </p:spPr>
      </p:sp>
      <p:sp>
        <p:nvSpPr>
          <p:cNvPr id="18" name="Text 15"/>
          <p:cNvSpPr/>
          <p:nvPr/>
        </p:nvSpPr>
        <p:spPr>
          <a:xfrm>
            <a:off x="4873752" y="3483864"/>
            <a:ext cx="3657600" cy="621792"/>
          </a:xfrm>
          <a:prstGeom prst="rect">
            <a:avLst/>
          </a:prstGeom>
          <a:noFill/>
          <a:ln/>
        </p:spPr>
        <p:txBody>
          <a:bodyPr wrap="square" lIns="0" tIns="0" rIns="0" bIns="0" rtlCol="0" anchor="ctr"/>
          <a:lstStyle/>
          <a:p>
            <a:pPr indent="0" marL="0">
              <a:buNone/>
            </a:pPr>
            <a:r>
              <a:rPr lang="en-US" sz="1200" b="1" dirty="0">
                <a:solidFill>
                  <a:srgbClr val="1E5A3F"/>
                </a:solidFill>
                <a:latin typeface="Calibri" pitchFamily="34" charset="0"/>
                <a:ea typeface="Calibri" pitchFamily="34" charset="-122"/>
                <a:cs typeface="Calibri" pitchFamily="34" charset="-120"/>
              </a:rPr>
              <a:t>Access &amp; license</a:t>
            </a:r>
            <a:endParaRPr lang="en-US" sz="1200" dirty="0"/>
          </a:p>
          <a:p>
            <a:pPr indent="0" marL="0">
              <a:buNone/>
            </a:pPr>
            <a:r>
              <a:rPr lang="en-US" sz="1050" dirty="0">
                <a:solidFill>
                  <a:srgbClr val="5E6E66"/>
                </a:solidFill>
                <a:latin typeface="Calibri" pitchFamily="34" charset="0"/>
                <a:ea typeface="Calibri" pitchFamily="34" charset="-122"/>
                <a:cs typeface="Calibri" pitchFamily="34" charset="-120"/>
              </a:rPr>
              <a:t>where others can find it and under which terms</a:t>
            </a:r>
            <a:endParaRPr lang="en-US" sz="1200" dirty="0"/>
          </a:p>
        </p:txBody>
      </p:sp>
      <p:sp>
        <p:nvSpPr>
          <p:cNvPr id="19" name="Text 16"/>
          <p:cNvSpPr/>
          <p:nvPr/>
        </p:nvSpPr>
        <p:spPr>
          <a:xfrm>
            <a:off x="502920" y="4434840"/>
            <a:ext cx="8138160" cy="320040"/>
          </a:xfrm>
          <a:prstGeom prst="rect">
            <a:avLst/>
          </a:prstGeom>
          <a:noFill/>
          <a:ln/>
        </p:spPr>
        <p:txBody>
          <a:bodyPr wrap="square" lIns="0" tIns="0" rIns="0" bIns="0" rtlCol="0" anchor="ctr"/>
          <a:lstStyle/>
          <a:p>
            <a:pPr indent="0" marL="0">
              <a:buNone/>
            </a:pPr>
            <a:r>
              <a:rPr lang="en-US" sz="1200" i="1" dirty="0">
                <a:solidFill>
                  <a:srgbClr val="1E5A3F"/>
                </a:solidFill>
                <a:latin typeface="Calibri" pitchFamily="34" charset="0"/>
                <a:ea typeface="Calibri" pitchFamily="34" charset="-122"/>
                <a:cs typeface="Calibri" pitchFamily="34" charset="-120"/>
              </a:rPr>
              <a:t>Best practice: publish a “dataset card / datasheet” alongside the paper — template included in your kit.</a:t>
            </a:r>
            <a:endParaRPr lang="en-US" sz="1200" dirty="0"/>
          </a:p>
        </p:txBody>
      </p:sp>
      <p:sp>
        <p:nvSpPr>
          <p:cNvPr id="20" name="Text 17"/>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1" name="Text 18"/>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26</a:t>
            </a:r>
            <a:endParaRPr lang="en-US" sz="850" dirty="0"/>
          </a:p>
        </p:txBody>
      </p:sp>
      <p:pic>
        <p:nvPicPr>
          <p:cNvPr id="129"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30"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2 — THE CORE</a:t>
            </a:r>
            <a:endParaRPr lang="en-US" sz="1100" dirty="0"/>
          </a:p>
        </p:txBody>
      </p:sp>
      <p:sp>
        <p:nvSpPr>
          <p:cNvPr id="5" name="Text 2"/>
          <p:cNvSpPr/>
          <p:nvPr/>
        </p:nvSpPr>
        <p:spPr>
          <a:xfrm>
            <a:off x="1051560" y="548640"/>
            <a:ext cx="7498080" cy="502920"/>
          </a:xfrm>
          <a:prstGeom prst="rect">
            <a:avLst/>
          </a:prstGeom>
          <a:noFill/>
          <a:ln/>
        </p:spPr>
        <p:txBody>
          <a:bodyPr wrap="square" lIns="0" tIns="0" rIns="0" bIns="0" rtlCol="0" anchor="ctr"/>
          <a:lstStyle/>
          <a:p>
            <a:pPr indent="0" marL="0">
              <a:buNone/>
            </a:pPr>
            <a:r>
              <a:rPr lang="en-US" sz="2400" b="1" dirty="0">
                <a:solidFill>
                  <a:srgbClr val="12362A"/>
                </a:solidFill>
                <a:latin typeface="Cambria" pitchFamily="34" charset="0"/>
                <a:ea typeface="Cambria" pitchFamily="34" charset="-122"/>
                <a:cs typeface="Cambria" pitchFamily="34" charset="-120"/>
              </a:rPr>
              <a:t>FAIR data — turning local data into global assets</a:t>
            </a:r>
            <a:endParaRPr lang="en-US" sz="2400" dirty="0"/>
          </a:p>
        </p:txBody>
      </p:sp>
      <p:sp>
        <p:nvSpPr>
          <p:cNvPr id="6" name="Shape 3"/>
          <p:cNvSpPr/>
          <p:nvPr/>
        </p:nvSpPr>
        <p:spPr>
          <a:xfrm>
            <a:off x="502920" y="1371600"/>
            <a:ext cx="1920240" cy="2331720"/>
          </a:xfrm>
          <a:prstGeom prst="roundRect">
            <a:avLst>
              <a:gd name="adj" fmla="val 4286"/>
            </a:avLst>
          </a:prstGeom>
          <a:solidFill>
            <a:srgbClr val="EFF5F0"/>
          </a:solidFill>
          <a:ln/>
          <a:effectLst>
            <a:outerShdw sx="100000" sy="100000" kx="0" ky="0" algn="bl" rotWithShape="0" blurRad="88900" dist="25400" dir="2700000">
              <a:srgbClr val="000000">
                <a:alpha val="14000"/>
              </a:srgbClr>
            </a:outerShdw>
          </a:effectLst>
        </p:spPr>
      </p:sp>
      <p:sp>
        <p:nvSpPr>
          <p:cNvPr id="7" name="Shape 4"/>
          <p:cNvSpPr/>
          <p:nvPr/>
        </p:nvSpPr>
        <p:spPr>
          <a:xfrm>
            <a:off x="1106424" y="1554480"/>
            <a:ext cx="713232" cy="713232"/>
          </a:xfrm>
          <a:prstGeom prst="ellipse">
            <a:avLst/>
          </a:prstGeom>
          <a:solidFill>
            <a:srgbClr val="1E5A3F"/>
          </a:solidFill>
          <a:ln/>
        </p:spPr>
      </p:sp>
      <p:pic>
        <p:nvPicPr>
          <p:cNvPr id="8" name="Image 1" descr="preencoded.png">    </p:cNvPr>
          <p:cNvPicPr>
            <a:picLocks noChangeAspect="1"/>
          </p:cNvPicPr>
          <p:nvPr/>
        </p:nvPicPr>
        <p:blipFill>
          <a:blip r:embed="rId2"/>
          <a:stretch>
            <a:fillRect/>
          </a:stretch>
        </p:blipFill>
        <p:spPr>
          <a:xfrm>
            <a:off x="1291864" y="1739920"/>
            <a:ext cx="342351" cy="342351"/>
          </a:xfrm>
          <a:prstGeom prst="rect">
            <a:avLst/>
          </a:prstGeom>
        </p:spPr>
      </p:pic>
      <p:sp>
        <p:nvSpPr>
          <p:cNvPr id="9" name="Text 5"/>
          <p:cNvSpPr/>
          <p:nvPr/>
        </p:nvSpPr>
        <p:spPr>
          <a:xfrm>
            <a:off x="576072" y="2359152"/>
            <a:ext cx="1773936" cy="292608"/>
          </a:xfrm>
          <a:prstGeom prst="rect">
            <a:avLst/>
          </a:prstGeom>
          <a:noFill/>
          <a:ln/>
        </p:spPr>
        <p:txBody>
          <a:bodyPr wrap="square" lIns="0" tIns="0" rIns="0" bIns="0" rtlCol="0" anchor="ctr"/>
          <a:lstStyle/>
          <a:p>
            <a:pPr algn="ctr" indent="0" marL="0">
              <a:buNone/>
            </a:pPr>
            <a:r>
              <a:rPr lang="en-US" sz="1300" b="1" dirty="0">
                <a:solidFill>
                  <a:srgbClr val="12362A"/>
                </a:solidFill>
                <a:latin typeface="Calibri" pitchFamily="34" charset="0"/>
                <a:ea typeface="Calibri" pitchFamily="34" charset="-122"/>
                <a:cs typeface="Calibri" pitchFamily="34" charset="-120"/>
              </a:rPr>
              <a:t>F · Findable</a:t>
            </a:r>
            <a:endParaRPr lang="en-US" sz="1300" dirty="0"/>
          </a:p>
        </p:txBody>
      </p:sp>
      <p:sp>
        <p:nvSpPr>
          <p:cNvPr id="10" name="Text 6"/>
          <p:cNvSpPr/>
          <p:nvPr/>
        </p:nvSpPr>
        <p:spPr>
          <a:xfrm>
            <a:off x="640080" y="2670048"/>
            <a:ext cx="1645920" cy="960120"/>
          </a:xfrm>
          <a:prstGeom prst="rect">
            <a:avLst/>
          </a:prstGeom>
          <a:noFill/>
          <a:ln/>
        </p:spPr>
        <p:txBody>
          <a:bodyPr wrap="square" lIns="0" tIns="0" rIns="0" bIns="0" rtlCol="0" anchor="ctr"/>
          <a:lstStyle/>
          <a:p>
            <a:pPr algn="ctr" indent="0" marL="0">
              <a:buNone/>
            </a:pPr>
            <a:r>
              <a:rPr lang="en-US" sz="950" dirty="0">
                <a:solidFill>
                  <a:srgbClr val="23312B"/>
                </a:solidFill>
                <a:latin typeface="Calibri" pitchFamily="34" charset="0"/>
                <a:ea typeface="Calibri" pitchFamily="34" charset="-122"/>
                <a:cs typeface="Calibri" pitchFamily="34" charset="-120"/>
              </a:rPr>
              <a:t>DOI + rich metadata; indexed on Zenodo, HuggingFace Hub, or an institutional repository.</a:t>
            </a:r>
            <a:endParaRPr lang="en-US" sz="950" dirty="0"/>
          </a:p>
        </p:txBody>
      </p:sp>
      <p:sp>
        <p:nvSpPr>
          <p:cNvPr id="11" name="Shape 7"/>
          <p:cNvSpPr/>
          <p:nvPr/>
        </p:nvSpPr>
        <p:spPr>
          <a:xfrm>
            <a:off x="2606040" y="1371600"/>
            <a:ext cx="1920240" cy="2331720"/>
          </a:xfrm>
          <a:prstGeom prst="roundRect">
            <a:avLst>
              <a:gd name="adj" fmla="val 4286"/>
            </a:avLst>
          </a:prstGeom>
          <a:solidFill>
            <a:srgbClr val="EFF5F0"/>
          </a:solidFill>
          <a:ln/>
          <a:effectLst>
            <a:outerShdw sx="100000" sy="100000" kx="0" ky="0" algn="bl" rotWithShape="0" blurRad="88900" dist="25400" dir="2700000">
              <a:srgbClr val="000000">
                <a:alpha val="14000"/>
              </a:srgbClr>
            </a:outerShdw>
          </a:effectLst>
        </p:spPr>
      </p:sp>
      <p:sp>
        <p:nvSpPr>
          <p:cNvPr id="12" name="Shape 8"/>
          <p:cNvSpPr/>
          <p:nvPr/>
        </p:nvSpPr>
        <p:spPr>
          <a:xfrm>
            <a:off x="3209544" y="1554480"/>
            <a:ext cx="713232" cy="713232"/>
          </a:xfrm>
          <a:prstGeom prst="ellipse">
            <a:avLst/>
          </a:prstGeom>
          <a:solidFill>
            <a:srgbClr val="1E5A3F"/>
          </a:solidFill>
          <a:ln/>
        </p:spPr>
      </p:sp>
      <p:pic>
        <p:nvPicPr>
          <p:cNvPr id="13" name="Image 2" descr="preencoded.png">    </p:cNvPr>
          <p:cNvPicPr>
            <a:picLocks noChangeAspect="1"/>
          </p:cNvPicPr>
          <p:nvPr/>
        </p:nvPicPr>
        <p:blipFill>
          <a:blip r:embed="rId3"/>
          <a:stretch>
            <a:fillRect/>
          </a:stretch>
        </p:blipFill>
        <p:spPr>
          <a:xfrm>
            <a:off x="3394984" y="1739920"/>
            <a:ext cx="342351" cy="342351"/>
          </a:xfrm>
          <a:prstGeom prst="rect">
            <a:avLst/>
          </a:prstGeom>
        </p:spPr>
      </p:pic>
      <p:sp>
        <p:nvSpPr>
          <p:cNvPr id="14" name="Text 9"/>
          <p:cNvSpPr/>
          <p:nvPr/>
        </p:nvSpPr>
        <p:spPr>
          <a:xfrm>
            <a:off x="2679192" y="2359152"/>
            <a:ext cx="1773936" cy="292608"/>
          </a:xfrm>
          <a:prstGeom prst="rect">
            <a:avLst/>
          </a:prstGeom>
          <a:noFill/>
          <a:ln/>
        </p:spPr>
        <p:txBody>
          <a:bodyPr wrap="square" lIns="0" tIns="0" rIns="0" bIns="0" rtlCol="0" anchor="ctr"/>
          <a:lstStyle/>
          <a:p>
            <a:pPr algn="ctr" indent="0" marL="0">
              <a:buNone/>
            </a:pPr>
            <a:r>
              <a:rPr lang="en-US" sz="1300" b="1" dirty="0">
                <a:solidFill>
                  <a:srgbClr val="12362A"/>
                </a:solidFill>
                <a:latin typeface="Calibri" pitchFamily="34" charset="0"/>
                <a:ea typeface="Calibri" pitchFamily="34" charset="-122"/>
                <a:cs typeface="Calibri" pitchFamily="34" charset="-120"/>
              </a:rPr>
              <a:t>A · Accessible</a:t>
            </a:r>
            <a:endParaRPr lang="en-US" sz="1300" dirty="0"/>
          </a:p>
        </p:txBody>
      </p:sp>
      <p:sp>
        <p:nvSpPr>
          <p:cNvPr id="15" name="Text 10"/>
          <p:cNvSpPr/>
          <p:nvPr/>
        </p:nvSpPr>
        <p:spPr>
          <a:xfrm>
            <a:off x="2743200" y="2670048"/>
            <a:ext cx="1645920" cy="960120"/>
          </a:xfrm>
          <a:prstGeom prst="rect">
            <a:avLst/>
          </a:prstGeom>
          <a:noFill/>
          <a:ln/>
        </p:spPr>
        <p:txBody>
          <a:bodyPr wrap="square" lIns="0" tIns="0" rIns="0" bIns="0" rtlCol="0" anchor="ctr"/>
          <a:lstStyle/>
          <a:p>
            <a:pPr algn="ctr" indent="0" marL="0">
              <a:buNone/>
            </a:pPr>
            <a:r>
              <a:rPr lang="en-US" sz="950" dirty="0">
                <a:solidFill>
                  <a:srgbClr val="23312B"/>
                </a:solidFill>
                <a:latin typeface="Calibri" pitchFamily="34" charset="0"/>
                <a:ea typeface="Calibri" pitchFamily="34" charset="-122"/>
                <a:cs typeface="Calibri" pitchFamily="34" charset="-120"/>
              </a:rPr>
              <a:t>clear retrieval protocol — open where possible, controlled where ethics requires (e.g., health data).</a:t>
            </a:r>
            <a:endParaRPr lang="en-US" sz="950" dirty="0"/>
          </a:p>
        </p:txBody>
      </p:sp>
      <p:sp>
        <p:nvSpPr>
          <p:cNvPr id="16" name="Shape 11"/>
          <p:cNvSpPr/>
          <p:nvPr/>
        </p:nvSpPr>
        <p:spPr>
          <a:xfrm>
            <a:off x="4709160" y="1371600"/>
            <a:ext cx="1920240" cy="2331720"/>
          </a:xfrm>
          <a:prstGeom prst="roundRect">
            <a:avLst>
              <a:gd name="adj" fmla="val 4286"/>
            </a:avLst>
          </a:prstGeom>
          <a:solidFill>
            <a:srgbClr val="EFF5F0"/>
          </a:solidFill>
          <a:ln/>
          <a:effectLst>
            <a:outerShdw sx="100000" sy="100000" kx="0" ky="0" algn="bl" rotWithShape="0" blurRad="88900" dist="25400" dir="2700000">
              <a:srgbClr val="000000">
                <a:alpha val="14000"/>
              </a:srgbClr>
            </a:outerShdw>
          </a:effectLst>
        </p:spPr>
      </p:sp>
      <p:sp>
        <p:nvSpPr>
          <p:cNvPr id="17" name="Shape 12"/>
          <p:cNvSpPr/>
          <p:nvPr/>
        </p:nvSpPr>
        <p:spPr>
          <a:xfrm>
            <a:off x="5312664" y="1554480"/>
            <a:ext cx="713232" cy="713232"/>
          </a:xfrm>
          <a:prstGeom prst="ellipse">
            <a:avLst/>
          </a:prstGeom>
          <a:solidFill>
            <a:srgbClr val="1E5A3F"/>
          </a:solidFill>
          <a:ln/>
        </p:spPr>
      </p:sp>
      <p:pic>
        <p:nvPicPr>
          <p:cNvPr id="18" name="Image 3" descr="preencoded.png">    </p:cNvPr>
          <p:cNvPicPr>
            <a:picLocks noChangeAspect="1"/>
          </p:cNvPicPr>
          <p:nvPr/>
        </p:nvPicPr>
        <p:blipFill>
          <a:blip r:embed="rId4"/>
          <a:stretch>
            <a:fillRect/>
          </a:stretch>
        </p:blipFill>
        <p:spPr>
          <a:xfrm>
            <a:off x="5498104" y="1739920"/>
            <a:ext cx="342351" cy="342351"/>
          </a:xfrm>
          <a:prstGeom prst="rect">
            <a:avLst/>
          </a:prstGeom>
        </p:spPr>
      </p:pic>
      <p:sp>
        <p:nvSpPr>
          <p:cNvPr id="19" name="Text 13"/>
          <p:cNvSpPr/>
          <p:nvPr/>
        </p:nvSpPr>
        <p:spPr>
          <a:xfrm>
            <a:off x="4782312" y="2359152"/>
            <a:ext cx="1773936" cy="292608"/>
          </a:xfrm>
          <a:prstGeom prst="rect">
            <a:avLst/>
          </a:prstGeom>
          <a:noFill/>
          <a:ln/>
        </p:spPr>
        <p:txBody>
          <a:bodyPr wrap="square" lIns="0" tIns="0" rIns="0" bIns="0" rtlCol="0" anchor="ctr"/>
          <a:lstStyle/>
          <a:p>
            <a:pPr algn="ctr" indent="0" marL="0">
              <a:buNone/>
            </a:pPr>
            <a:r>
              <a:rPr lang="en-US" sz="1300" b="1" dirty="0">
                <a:solidFill>
                  <a:srgbClr val="12362A"/>
                </a:solidFill>
                <a:latin typeface="Calibri" pitchFamily="34" charset="0"/>
                <a:ea typeface="Calibri" pitchFamily="34" charset="-122"/>
                <a:cs typeface="Calibri" pitchFamily="34" charset="-120"/>
              </a:rPr>
              <a:t>I · Interoperable</a:t>
            </a:r>
            <a:endParaRPr lang="en-US" sz="1300" dirty="0"/>
          </a:p>
        </p:txBody>
      </p:sp>
      <p:sp>
        <p:nvSpPr>
          <p:cNvPr id="20" name="Text 14"/>
          <p:cNvSpPr/>
          <p:nvPr/>
        </p:nvSpPr>
        <p:spPr>
          <a:xfrm>
            <a:off x="4846320" y="2670048"/>
            <a:ext cx="1645920" cy="960120"/>
          </a:xfrm>
          <a:prstGeom prst="rect">
            <a:avLst/>
          </a:prstGeom>
          <a:noFill/>
          <a:ln/>
        </p:spPr>
        <p:txBody>
          <a:bodyPr wrap="square" lIns="0" tIns="0" rIns="0" bIns="0" rtlCol="0" anchor="ctr"/>
          <a:lstStyle/>
          <a:p>
            <a:pPr algn="ctr" indent="0" marL="0">
              <a:buNone/>
            </a:pPr>
            <a:r>
              <a:rPr lang="en-US" sz="950" dirty="0">
                <a:solidFill>
                  <a:srgbClr val="23312B"/>
                </a:solidFill>
                <a:latin typeface="Calibri" pitchFamily="34" charset="0"/>
                <a:ea typeface="Calibri" pitchFamily="34" charset="-122"/>
                <a:cs typeface="Calibri" pitchFamily="34" charset="-120"/>
              </a:rPr>
              <a:t>standard formats (CSV, JSON, HF datasets), documented schemas, standard vocabularies.</a:t>
            </a:r>
            <a:endParaRPr lang="en-US" sz="950" dirty="0"/>
          </a:p>
        </p:txBody>
      </p:sp>
      <p:sp>
        <p:nvSpPr>
          <p:cNvPr id="21" name="Shape 15"/>
          <p:cNvSpPr/>
          <p:nvPr/>
        </p:nvSpPr>
        <p:spPr>
          <a:xfrm>
            <a:off x="6812280" y="1371600"/>
            <a:ext cx="1920240" cy="2331720"/>
          </a:xfrm>
          <a:prstGeom prst="roundRect">
            <a:avLst>
              <a:gd name="adj" fmla="val 4286"/>
            </a:avLst>
          </a:prstGeom>
          <a:solidFill>
            <a:srgbClr val="EFF5F0"/>
          </a:solidFill>
          <a:ln/>
          <a:effectLst>
            <a:outerShdw sx="100000" sy="100000" kx="0" ky="0" algn="bl" rotWithShape="0" blurRad="88900" dist="25400" dir="2700000">
              <a:srgbClr val="000000">
                <a:alpha val="14000"/>
              </a:srgbClr>
            </a:outerShdw>
          </a:effectLst>
        </p:spPr>
      </p:sp>
      <p:sp>
        <p:nvSpPr>
          <p:cNvPr id="22" name="Shape 16"/>
          <p:cNvSpPr/>
          <p:nvPr/>
        </p:nvSpPr>
        <p:spPr>
          <a:xfrm>
            <a:off x="7415784" y="1554480"/>
            <a:ext cx="713232" cy="713232"/>
          </a:xfrm>
          <a:prstGeom prst="ellipse">
            <a:avLst/>
          </a:prstGeom>
          <a:solidFill>
            <a:srgbClr val="1E5A3F"/>
          </a:solidFill>
          <a:ln/>
        </p:spPr>
      </p:sp>
      <p:pic>
        <p:nvPicPr>
          <p:cNvPr id="23" name="Image 4" descr="preencoded.png">    </p:cNvPr>
          <p:cNvPicPr>
            <a:picLocks noChangeAspect="1"/>
          </p:cNvPicPr>
          <p:nvPr/>
        </p:nvPicPr>
        <p:blipFill>
          <a:blip r:embed="rId5"/>
          <a:stretch>
            <a:fillRect/>
          </a:stretch>
        </p:blipFill>
        <p:spPr>
          <a:xfrm>
            <a:off x="7601224" y="1739920"/>
            <a:ext cx="342351" cy="342351"/>
          </a:xfrm>
          <a:prstGeom prst="rect">
            <a:avLst/>
          </a:prstGeom>
        </p:spPr>
      </p:pic>
      <p:sp>
        <p:nvSpPr>
          <p:cNvPr id="24" name="Text 17"/>
          <p:cNvSpPr/>
          <p:nvPr/>
        </p:nvSpPr>
        <p:spPr>
          <a:xfrm>
            <a:off x="6885432" y="2359152"/>
            <a:ext cx="1773936" cy="292608"/>
          </a:xfrm>
          <a:prstGeom prst="rect">
            <a:avLst/>
          </a:prstGeom>
          <a:noFill/>
          <a:ln/>
        </p:spPr>
        <p:txBody>
          <a:bodyPr wrap="square" lIns="0" tIns="0" rIns="0" bIns="0" rtlCol="0" anchor="ctr"/>
          <a:lstStyle/>
          <a:p>
            <a:pPr algn="ctr" indent="0" marL="0">
              <a:buNone/>
            </a:pPr>
            <a:r>
              <a:rPr lang="en-US" sz="1300" b="1" dirty="0">
                <a:solidFill>
                  <a:srgbClr val="12362A"/>
                </a:solidFill>
                <a:latin typeface="Calibri" pitchFamily="34" charset="0"/>
                <a:ea typeface="Calibri" pitchFamily="34" charset="-122"/>
                <a:cs typeface="Calibri" pitchFamily="34" charset="-120"/>
              </a:rPr>
              <a:t>R · Reusable</a:t>
            </a:r>
            <a:endParaRPr lang="en-US" sz="1300" dirty="0"/>
          </a:p>
        </p:txBody>
      </p:sp>
      <p:sp>
        <p:nvSpPr>
          <p:cNvPr id="25" name="Text 18"/>
          <p:cNvSpPr/>
          <p:nvPr/>
        </p:nvSpPr>
        <p:spPr>
          <a:xfrm>
            <a:off x="6949440" y="2670048"/>
            <a:ext cx="1645920" cy="960120"/>
          </a:xfrm>
          <a:prstGeom prst="rect">
            <a:avLst/>
          </a:prstGeom>
          <a:noFill/>
          <a:ln/>
        </p:spPr>
        <p:txBody>
          <a:bodyPr wrap="square" lIns="0" tIns="0" rIns="0" bIns="0" rtlCol="0" anchor="ctr"/>
          <a:lstStyle/>
          <a:p>
            <a:pPr algn="ctr" indent="0" marL="0">
              <a:buNone/>
            </a:pPr>
            <a:r>
              <a:rPr lang="en-US" sz="950" dirty="0">
                <a:solidFill>
                  <a:srgbClr val="23312B"/>
                </a:solidFill>
                <a:latin typeface="Calibri" pitchFamily="34" charset="0"/>
                <a:ea typeface="Calibri" pitchFamily="34" charset="-122"/>
                <a:cs typeface="Calibri" pitchFamily="34" charset="-120"/>
              </a:rPr>
              <a:t>explicit license (CC-BY, CC-BY-NC…), dataset card, provenance — so others can build on it, citing YOU.</a:t>
            </a:r>
            <a:endParaRPr lang="en-US" sz="950" dirty="0"/>
          </a:p>
        </p:txBody>
      </p:sp>
      <p:sp>
        <p:nvSpPr>
          <p:cNvPr id="26" name="Shape 19"/>
          <p:cNvSpPr/>
          <p:nvPr/>
        </p:nvSpPr>
        <p:spPr>
          <a:xfrm>
            <a:off x="502920" y="3913632"/>
            <a:ext cx="8138160" cy="777240"/>
          </a:xfrm>
          <a:prstGeom prst="roundRect">
            <a:avLst>
              <a:gd name="adj" fmla="val 10588"/>
            </a:avLst>
          </a:prstGeom>
          <a:solidFill>
            <a:srgbClr val="12362A"/>
          </a:solidFill>
          <a:ln/>
        </p:spPr>
      </p:sp>
      <p:sp>
        <p:nvSpPr>
          <p:cNvPr id="27" name="Text 20"/>
          <p:cNvSpPr/>
          <p:nvPr/>
        </p:nvSpPr>
        <p:spPr>
          <a:xfrm>
            <a:off x="777240" y="3913632"/>
            <a:ext cx="7589520" cy="777240"/>
          </a:xfrm>
          <a:prstGeom prst="rect">
            <a:avLst/>
          </a:prstGeom>
          <a:noFill/>
          <a:ln/>
        </p:spPr>
        <p:txBody>
          <a:bodyPr wrap="square" lIns="0" tIns="0" rIns="0" bIns="0" rtlCol="0" anchor="ctr"/>
          <a:lstStyle/>
          <a:p>
            <a:pPr indent="0" marL="0">
              <a:buNone/>
            </a:pPr>
            <a:r>
              <a:rPr lang="en-US" sz="1250" b="1" dirty="0">
                <a:solidFill>
                  <a:srgbClr val="E9B44C"/>
                </a:solidFill>
                <a:latin typeface="Calibri" pitchFamily="34" charset="0"/>
                <a:ea typeface="Calibri" pitchFamily="34" charset="-122"/>
                <a:cs typeface="Calibri" pitchFamily="34" charset="-120"/>
              </a:rPr>
              <a:t>Sovereignty in practice: </a:t>
            </a:r>
            <a:pPr indent="0" marL="0">
              <a:buNone/>
            </a:pPr>
            <a:r>
              <a:rPr lang="en-US" sz="1250" dirty="0">
                <a:solidFill>
                  <a:srgbClr val="FFFFFF"/>
                </a:solidFill>
                <a:latin typeface="Calibri" pitchFamily="34" charset="0"/>
                <a:ea typeface="Calibri" pitchFamily="34" charset="-122"/>
                <a:cs typeface="Calibri" pitchFamily="34" charset="-120"/>
              </a:rPr>
              <a:t>a FAIR African dataset gets cited, benchmarked, and becomes infrastructure the global community depends on — with African authors on every citation.</a:t>
            </a:r>
            <a:endParaRPr lang="en-US" sz="1250" dirty="0"/>
          </a:p>
        </p:txBody>
      </p:sp>
      <p:sp>
        <p:nvSpPr>
          <p:cNvPr id="28" name="Text 21"/>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9" name="Text 22"/>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27</a:t>
            </a:r>
            <a:endParaRPr lang="en-US" sz="850" dirty="0"/>
          </a:p>
        </p:txBody>
      </p:sp>
      <p:pic>
        <p:nvPicPr>
          <p:cNvPr id="131" name="QR kit" descr="img"/>
          <p:cNvPicPr>
            <a:picLocks noChangeAspect="1"/>
          </p:cNvPicPr>
          <p:nvPr/>
        </p:nvPicPr>
        <p:blipFill>
          <a:blip r:embed="rId8"/>
          <a:stretch>
            <a:fillRect/>
          </a:stretch>
        </p:blipFill>
        <p:spPr>
          <a:xfrm>
            <a:off x="7699248" y="4672584"/>
            <a:ext cx="402336" cy="402336"/>
          </a:xfrm>
          <a:prstGeom prst="rect">
            <a:avLst/>
          </a:prstGeom>
        </p:spPr>
      </p:pic>
      <p:sp>
        <p:nvSpPr>
          <p:cNvPr id="13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2 — THE CORE</a:t>
            </a:r>
            <a:endParaRPr lang="en-US" sz="1100" dirty="0"/>
          </a:p>
        </p:txBody>
      </p:sp>
      <p:sp>
        <p:nvSpPr>
          <p:cNvPr id="5" name="Text 2"/>
          <p:cNvSpPr/>
          <p:nvPr/>
        </p:nvSpPr>
        <p:spPr>
          <a:xfrm>
            <a:off x="1051560" y="548640"/>
            <a:ext cx="7498080" cy="502920"/>
          </a:xfrm>
          <a:prstGeom prst="rect">
            <a:avLst/>
          </a:prstGeom>
          <a:noFill/>
          <a:ln/>
        </p:spPr>
        <p:txBody>
          <a:bodyPr wrap="square" lIns="0" tIns="0" rIns="0" bIns="0" rtlCol="0" anchor="ctr"/>
          <a:lstStyle/>
          <a:p>
            <a:pPr indent="0" marL="0">
              <a:buNone/>
            </a:pPr>
            <a:r>
              <a:rPr lang="en-US" sz="2400" b="1" dirty="0">
                <a:solidFill>
                  <a:srgbClr val="12362A"/>
                </a:solidFill>
                <a:latin typeface="Cambria" pitchFamily="34" charset="0"/>
                <a:ea typeface="Cambria" pitchFamily="34" charset="-122"/>
                <a:cs typeface="Cambria" pitchFamily="34" charset="-120"/>
              </a:rPr>
              <a:t>Reproducibility: your repo is part of the paper</a:t>
            </a:r>
            <a:endParaRPr lang="en-US" sz="2400" dirty="0"/>
          </a:p>
        </p:txBody>
      </p:sp>
      <p:sp>
        <p:nvSpPr>
          <p:cNvPr id="6" name="Shape 3"/>
          <p:cNvSpPr/>
          <p:nvPr/>
        </p:nvSpPr>
        <p:spPr>
          <a:xfrm>
            <a:off x="502920" y="1371600"/>
            <a:ext cx="3657600" cy="3017520"/>
          </a:xfrm>
          <a:prstGeom prst="roundRect">
            <a:avLst>
              <a:gd name="adj" fmla="val 2727"/>
            </a:avLst>
          </a:prstGeom>
          <a:solidFill>
            <a:srgbClr val="12362A"/>
          </a:solidFill>
          <a:ln/>
          <a:effectLst>
            <a:outerShdw sx="100000" sy="100000" kx="0" ky="0" algn="bl" rotWithShape="0" blurRad="88900" dist="25400" dir="2700000">
              <a:srgbClr val="000000">
                <a:alpha val="14000"/>
              </a:srgbClr>
            </a:outerShdw>
          </a:effectLst>
        </p:spPr>
      </p:sp>
      <p:sp>
        <p:nvSpPr>
          <p:cNvPr id="7" name="Text 4"/>
          <p:cNvSpPr/>
          <p:nvPr/>
        </p:nvSpPr>
        <p:spPr>
          <a:xfrm>
            <a:off x="777240" y="1600200"/>
            <a:ext cx="3200400" cy="2560320"/>
          </a:xfrm>
          <a:prstGeom prst="rect">
            <a:avLst/>
          </a:prstGeom>
          <a:noFill/>
          <a:ln/>
        </p:spPr>
        <p:txBody>
          <a:bodyPr wrap="square" lIns="0" tIns="0" rIns="0" bIns="0" rtlCol="0" anchor="ctr"/>
          <a:lstStyle/>
          <a:p>
            <a:pPr indent="0" marL="0">
              <a:buNone/>
            </a:pPr>
            <a:r>
              <a:rPr lang="en-US" sz="1100" b="1" dirty="0">
                <a:solidFill>
                  <a:srgbClr val="E9B44C"/>
                </a:solidFill>
                <a:latin typeface="Courier New" pitchFamily="34" charset="0"/>
                <a:ea typeface="Courier New" pitchFamily="34" charset="-122"/>
                <a:cs typeface="Courier New" pitchFamily="34" charset="-120"/>
              </a:rPr>
              <a:t>agronet/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README.md        ← start here</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requirements.txt ← exact versions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data/            ← or download script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src/             ← clean, commented</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configs/         ← all hyperparams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scripts/run.sh   ← one-command repro</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results/         ← logs &amp; figures</a:t>
            </a:r>
            <a:endParaRPr lang="en-US" sz="1100" dirty="0"/>
          </a:p>
        </p:txBody>
      </p:sp>
      <p:sp>
        <p:nvSpPr>
          <p:cNvPr id="8" name="Shape 5"/>
          <p:cNvSpPr/>
          <p:nvPr/>
        </p:nvSpPr>
        <p:spPr>
          <a:xfrm>
            <a:off x="4434840" y="1371600"/>
            <a:ext cx="4206240" cy="896112"/>
          </a:xfrm>
          <a:prstGeom prst="roundRect">
            <a:avLst>
              <a:gd name="adj" fmla="val 8163"/>
            </a:avLst>
          </a:prstGeom>
          <a:solidFill>
            <a:srgbClr val="EFF5F0"/>
          </a:solidFill>
          <a:ln/>
          <a:effectLst>
            <a:outerShdw sx="100000" sy="100000" kx="0" ky="0" algn="bl" rotWithShape="0" blurRad="88900" dist="25400" dir="2700000">
              <a:srgbClr val="000000">
                <a:alpha val="14000"/>
              </a:srgbClr>
            </a:outerShdw>
          </a:effectLst>
        </p:spPr>
      </p:sp>
      <p:sp>
        <p:nvSpPr>
          <p:cNvPr id="9" name="Text 6"/>
          <p:cNvSpPr/>
          <p:nvPr/>
        </p:nvSpPr>
        <p:spPr>
          <a:xfrm>
            <a:off x="4617720" y="1463040"/>
            <a:ext cx="3840480" cy="731520"/>
          </a:xfrm>
          <a:prstGeom prst="rect">
            <a:avLst/>
          </a:prstGeom>
          <a:noFill/>
          <a:ln/>
        </p:spPr>
        <p:txBody>
          <a:bodyPr wrap="square" lIns="0" tIns="0" rIns="0" bIns="0" rtlCol="0" anchor="ctr"/>
          <a:lstStyle/>
          <a:p>
            <a:pPr indent="0" marL="0">
              <a:buNone/>
            </a:pPr>
            <a:r>
              <a:rPr lang="en-US" sz="1250" b="1" dirty="0">
                <a:solidFill>
                  <a:srgbClr val="1E5A3F"/>
                </a:solidFill>
                <a:latin typeface="Calibri" pitchFamily="34" charset="0"/>
                <a:ea typeface="Calibri" pitchFamily="34" charset="-122"/>
                <a:cs typeface="Calibri" pitchFamily="34" charset="-120"/>
              </a:rPr>
              <a:t>Pin everything</a:t>
            </a:r>
            <a:endParaRPr lang="en-US" sz="1250" dirty="0"/>
          </a:p>
          <a:p>
            <a:pPr indent="0" marL="0">
              <a:buNone/>
            </a:pPr>
            <a:r>
              <a:rPr lang="en-US" sz="1100" dirty="0">
                <a:solidFill>
                  <a:srgbClr val="23312B"/>
                </a:solidFill>
                <a:latin typeface="Calibri" pitchFamily="34" charset="0"/>
                <a:ea typeface="Calibri" pitchFamily="34" charset="-122"/>
                <a:cs typeface="Calibri" pitchFamily="34" charset="-120"/>
              </a:rPr>
              <a:t>library versions, random seeds, hardware noted in the paper</a:t>
            </a:r>
            <a:endParaRPr lang="en-US" sz="1250" dirty="0"/>
          </a:p>
        </p:txBody>
      </p:sp>
      <p:sp>
        <p:nvSpPr>
          <p:cNvPr id="10" name="Shape 7"/>
          <p:cNvSpPr/>
          <p:nvPr/>
        </p:nvSpPr>
        <p:spPr>
          <a:xfrm>
            <a:off x="4434840" y="2395728"/>
            <a:ext cx="4206240" cy="896112"/>
          </a:xfrm>
          <a:prstGeom prst="roundRect">
            <a:avLst>
              <a:gd name="adj" fmla="val 8163"/>
            </a:avLst>
          </a:prstGeom>
          <a:solidFill>
            <a:srgbClr val="EFF5F0"/>
          </a:solidFill>
          <a:ln/>
          <a:effectLst>
            <a:outerShdw sx="100000" sy="100000" kx="0" ky="0" algn="bl" rotWithShape="0" blurRad="88900" dist="25400" dir="2700000">
              <a:srgbClr val="000000">
                <a:alpha val="14000"/>
              </a:srgbClr>
            </a:outerShdw>
          </a:effectLst>
        </p:spPr>
      </p:sp>
      <p:sp>
        <p:nvSpPr>
          <p:cNvPr id="11" name="Text 8"/>
          <p:cNvSpPr/>
          <p:nvPr/>
        </p:nvSpPr>
        <p:spPr>
          <a:xfrm>
            <a:off x="4617720" y="2487168"/>
            <a:ext cx="3840480" cy="731520"/>
          </a:xfrm>
          <a:prstGeom prst="rect">
            <a:avLst/>
          </a:prstGeom>
          <a:noFill/>
          <a:ln/>
        </p:spPr>
        <p:txBody>
          <a:bodyPr wrap="square" lIns="0" tIns="0" rIns="0" bIns="0" rtlCol="0" anchor="ctr"/>
          <a:lstStyle/>
          <a:p>
            <a:pPr indent="0" marL="0">
              <a:buNone/>
            </a:pPr>
            <a:r>
              <a:rPr lang="en-US" sz="1250" b="1" dirty="0">
                <a:solidFill>
                  <a:srgbClr val="1E5A3F"/>
                </a:solidFill>
                <a:latin typeface="Calibri" pitchFamily="34" charset="0"/>
                <a:ea typeface="Calibri" pitchFamily="34" charset="-122"/>
                <a:cs typeface="Calibri" pitchFamily="34" charset="-120"/>
              </a:rPr>
              <a:t>One command to reproduce</a:t>
            </a:r>
            <a:endParaRPr lang="en-US" sz="1250" dirty="0"/>
          </a:p>
          <a:p>
            <a:pPr indent="0" marL="0">
              <a:buNone/>
            </a:pPr>
            <a:r>
              <a:rPr lang="en-US" sz="1100" dirty="0">
                <a:solidFill>
                  <a:srgbClr val="23312B"/>
                </a:solidFill>
                <a:latin typeface="Calibri" pitchFamily="34" charset="0"/>
                <a:ea typeface="Calibri" pitchFamily="34" charset="-122"/>
                <a:cs typeface="Calibri" pitchFamily="34" charset="-120"/>
              </a:rPr>
              <a:t>if a reviewer can run run.sh, you've won their trust</a:t>
            </a:r>
            <a:endParaRPr lang="en-US" sz="1250" dirty="0"/>
          </a:p>
        </p:txBody>
      </p:sp>
      <p:sp>
        <p:nvSpPr>
          <p:cNvPr id="12" name="Shape 9"/>
          <p:cNvSpPr/>
          <p:nvPr/>
        </p:nvSpPr>
        <p:spPr>
          <a:xfrm>
            <a:off x="4434840" y="3419856"/>
            <a:ext cx="4206240" cy="896112"/>
          </a:xfrm>
          <a:prstGeom prst="roundRect">
            <a:avLst>
              <a:gd name="adj" fmla="val 8163"/>
            </a:avLst>
          </a:prstGeom>
          <a:solidFill>
            <a:srgbClr val="EFF5F0"/>
          </a:solidFill>
          <a:ln/>
          <a:effectLst>
            <a:outerShdw sx="100000" sy="100000" kx="0" ky="0" algn="bl" rotWithShape="0" blurRad="88900" dist="25400" dir="2700000">
              <a:srgbClr val="000000">
                <a:alpha val="14000"/>
              </a:srgbClr>
            </a:outerShdw>
          </a:effectLst>
        </p:spPr>
      </p:sp>
      <p:sp>
        <p:nvSpPr>
          <p:cNvPr id="13" name="Text 10"/>
          <p:cNvSpPr/>
          <p:nvPr/>
        </p:nvSpPr>
        <p:spPr>
          <a:xfrm>
            <a:off x="4617720" y="3511296"/>
            <a:ext cx="3840480" cy="731520"/>
          </a:xfrm>
          <a:prstGeom prst="rect">
            <a:avLst/>
          </a:prstGeom>
          <a:noFill/>
          <a:ln/>
        </p:spPr>
        <p:txBody>
          <a:bodyPr wrap="square" lIns="0" tIns="0" rIns="0" bIns="0" rtlCol="0" anchor="ctr"/>
          <a:lstStyle/>
          <a:p>
            <a:pPr indent="0" marL="0">
              <a:buNone/>
            </a:pPr>
            <a:r>
              <a:rPr lang="en-US" sz="1250" b="1" dirty="0">
                <a:solidFill>
                  <a:srgbClr val="1E5A3F"/>
                </a:solidFill>
                <a:latin typeface="Calibri" pitchFamily="34" charset="0"/>
                <a:ea typeface="Calibri" pitchFamily="34" charset="-122"/>
                <a:cs typeface="Calibri" pitchFamily="34" charset="-120"/>
              </a:rPr>
              <a:t>Link it</a:t>
            </a:r>
            <a:endParaRPr lang="en-US" sz="1250" dirty="0"/>
          </a:p>
          <a:p>
            <a:pPr indent="0" marL="0">
              <a:buNone/>
            </a:pPr>
            <a:r>
              <a:rPr lang="en-US" sz="1100" dirty="0">
                <a:solidFill>
                  <a:srgbClr val="23312B"/>
                </a:solidFill>
                <a:latin typeface="Calibri" pitchFamily="34" charset="0"/>
                <a:ea typeface="Calibri" pitchFamily="34" charset="-122"/>
                <a:cs typeface="Calibri" pitchFamily="34" charset="-120"/>
              </a:rPr>
              <a:t>anonymized repo for review; public + archived (Zenodo DOI) at camera-ready</a:t>
            </a:r>
            <a:endParaRPr lang="en-US" sz="1250" dirty="0"/>
          </a:p>
        </p:txBody>
      </p:sp>
      <p:sp>
        <p:nvSpPr>
          <p:cNvPr id="14" name="Text 11"/>
          <p:cNvSpPr/>
          <p:nvPr/>
        </p:nvSpPr>
        <p:spPr>
          <a:xfrm>
            <a:off x="502920" y="4526280"/>
            <a:ext cx="8138160" cy="32004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Reproducibility is doubly strategic for African labs: it neutralizes skepticism and showcases engineering quality.</a:t>
            </a:r>
            <a:endParaRPr lang="en-US" sz="1150" dirty="0"/>
          </a:p>
        </p:txBody>
      </p:sp>
      <p:sp>
        <p:nvSpPr>
          <p:cNvPr id="15" name="Text 12"/>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6" name="Text 13"/>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28</a:t>
            </a:r>
            <a:endParaRPr lang="en-US" sz="850" dirty="0"/>
          </a:p>
        </p:txBody>
      </p:sp>
      <p:pic>
        <p:nvPicPr>
          <p:cNvPr id="133"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34"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3 — IMPACT</a:t>
            </a:r>
            <a:endParaRPr lang="en-US" sz="1100" dirty="0"/>
          </a:p>
        </p:txBody>
      </p:sp>
      <p:sp>
        <p:nvSpPr>
          <p:cNvPr id="5" name="Text 2"/>
          <p:cNvSpPr/>
          <p:nvPr/>
        </p:nvSpPr>
        <p:spPr>
          <a:xfrm>
            <a:off x="1051560" y="548640"/>
            <a:ext cx="7315200" cy="502920"/>
          </a:xfrm>
          <a:prstGeom prst="rect">
            <a:avLst/>
          </a:prstGeom>
          <a:noFill/>
          <a:ln/>
        </p:spPr>
        <p:txBody>
          <a:bodyPr wrap="square" lIns="0" tIns="0" rIns="0" bIns="0" rtlCol="0" anchor="ctr"/>
          <a:lstStyle/>
          <a:p>
            <a:pPr indent="0" marL="0">
              <a:buNone/>
            </a:pPr>
            <a:r>
              <a:rPr lang="en-US" sz="2500" b="1" dirty="0">
                <a:solidFill>
                  <a:srgbClr val="12362A"/>
                </a:solidFill>
                <a:latin typeface="Cambria" pitchFamily="34" charset="0"/>
                <a:ea typeface="Cambria" pitchFamily="34" charset="-122"/>
                <a:cs typeface="Cambria" pitchFamily="34" charset="-120"/>
              </a:rPr>
              <a:t>Choose the chart that carries your claim</a:t>
            </a:r>
            <a:endParaRPr lang="en-US" sz="2500" dirty="0"/>
          </a:p>
        </p:txBody>
      </p:sp>
      <p:sp>
        <p:nvSpPr>
          <p:cNvPr id="6" name="Shape 3"/>
          <p:cNvSpPr/>
          <p:nvPr/>
        </p:nvSpPr>
        <p:spPr>
          <a:xfrm>
            <a:off x="502920" y="1371600"/>
            <a:ext cx="2606040" cy="1325880"/>
          </a:xfrm>
          <a:prstGeom prst="roundRect">
            <a:avLst>
              <a:gd name="adj" fmla="val 6207"/>
            </a:avLst>
          </a:prstGeom>
          <a:solidFill>
            <a:srgbClr val="EFF5F0"/>
          </a:solidFill>
          <a:ln/>
          <a:effectLst>
            <a:outerShdw sx="100000" sy="100000" kx="0" ky="0" algn="bl" rotWithShape="0" blurRad="88900" dist="25400" dir="2700000">
              <a:srgbClr val="000000">
                <a:alpha val="14000"/>
              </a:srgbClr>
            </a:outerShdw>
          </a:effectLst>
        </p:spPr>
      </p:sp>
      <p:sp>
        <p:nvSpPr>
          <p:cNvPr id="7" name="Text 4"/>
          <p:cNvSpPr/>
          <p:nvPr/>
        </p:nvSpPr>
        <p:spPr>
          <a:xfrm>
            <a:off x="667512" y="1481328"/>
            <a:ext cx="228600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Line curves</a:t>
            </a:r>
            <a:endParaRPr lang="en-US" sz="1300" dirty="0"/>
          </a:p>
        </p:txBody>
      </p:sp>
      <p:sp>
        <p:nvSpPr>
          <p:cNvPr id="8" name="Text 5"/>
          <p:cNvSpPr/>
          <p:nvPr/>
        </p:nvSpPr>
        <p:spPr>
          <a:xfrm>
            <a:off x="667512" y="1773936"/>
            <a:ext cx="2331720" cy="868680"/>
          </a:xfrm>
          <a:prstGeom prst="rect">
            <a:avLst/>
          </a:prstGeom>
          <a:noFill/>
          <a:ln/>
        </p:spPr>
        <p:txBody>
          <a:bodyPr wrap="square" lIns="0" tIns="0" rIns="0" bIns="0" rtlCol="0" anchor="ctr"/>
          <a:lstStyle/>
          <a:p>
            <a:pPr indent="0" marL="0">
              <a:buNone/>
            </a:pPr>
            <a:r>
              <a:rPr lang="en-US" sz="1050" b="1" i="1" dirty="0">
                <a:solidFill>
                  <a:srgbClr val="C9922F"/>
                </a:solidFill>
                <a:latin typeface="Calibri" pitchFamily="34" charset="0"/>
                <a:ea typeface="Calibri" pitchFamily="34" charset="-122"/>
                <a:cs typeface="Calibri" pitchFamily="34" charset="-120"/>
              </a:rPr>
              <a:t>evolution &amp; convergence</a:t>
            </a:r>
            <a:endParaRPr lang="en-US" sz="1050" dirty="0"/>
          </a:p>
          <a:p>
            <a:pPr indent="0" marL="0">
              <a:buNone/>
            </a:pPr>
            <a:r>
              <a:rPr lang="en-US" sz="1000" dirty="0">
                <a:solidFill>
                  <a:srgbClr val="23312B"/>
                </a:solidFill>
                <a:latin typeface="Calibri" pitchFamily="34" charset="0"/>
                <a:ea typeface="Calibri" pitchFamily="34" charset="-122"/>
                <a:cs typeface="Calibri" pitchFamily="34" charset="-120"/>
              </a:rPr>
              <a:t>training loss, accuracy vs. epochs, scaling laws</a:t>
            </a:r>
            <a:endParaRPr lang="en-US" sz="1050" dirty="0"/>
          </a:p>
        </p:txBody>
      </p:sp>
      <p:sp>
        <p:nvSpPr>
          <p:cNvPr id="9" name="Shape 6"/>
          <p:cNvSpPr/>
          <p:nvPr/>
        </p:nvSpPr>
        <p:spPr>
          <a:xfrm>
            <a:off x="3291840" y="1371600"/>
            <a:ext cx="2606040" cy="1325880"/>
          </a:xfrm>
          <a:prstGeom prst="roundRect">
            <a:avLst>
              <a:gd name="adj" fmla="val 6207"/>
            </a:avLst>
          </a:prstGeom>
          <a:solidFill>
            <a:srgbClr val="EFF5F0"/>
          </a:solidFill>
          <a:ln/>
          <a:effectLst>
            <a:outerShdw sx="100000" sy="100000" kx="0" ky="0" algn="bl" rotWithShape="0" blurRad="88900" dist="25400" dir="2700000">
              <a:srgbClr val="000000">
                <a:alpha val="14000"/>
              </a:srgbClr>
            </a:outerShdw>
          </a:effectLst>
        </p:spPr>
      </p:sp>
      <p:sp>
        <p:nvSpPr>
          <p:cNvPr id="10" name="Text 7"/>
          <p:cNvSpPr/>
          <p:nvPr/>
        </p:nvSpPr>
        <p:spPr>
          <a:xfrm>
            <a:off x="3456432" y="1481328"/>
            <a:ext cx="228600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Bar charts</a:t>
            </a:r>
            <a:endParaRPr lang="en-US" sz="1300" dirty="0"/>
          </a:p>
        </p:txBody>
      </p:sp>
      <p:sp>
        <p:nvSpPr>
          <p:cNvPr id="11" name="Text 8"/>
          <p:cNvSpPr/>
          <p:nvPr/>
        </p:nvSpPr>
        <p:spPr>
          <a:xfrm>
            <a:off x="3456432" y="1773936"/>
            <a:ext cx="2331720" cy="868680"/>
          </a:xfrm>
          <a:prstGeom prst="rect">
            <a:avLst/>
          </a:prstGeom>
          <a:noFill/>
          <a:ln/>
        </p:spPr>
        <p:txBody>
          <a:bodyPr wrap="square" lIns="0" tIns="0" rIns="0" bIns="0" rtlCol="0" anchor="ctr"/>
          <a:lstStyle/>
          <a:p>
            <a:pPr indent="0" marL="0">
              <a:buNone/>
            </a:pPr>
            <a:r>
              <a:rPr lang="en-US" sz="1050" b="1" i="1" dirty="0">
                <a:solidFill>
                  <a:srgbClr val="C9922F"/>
                </a:solidFill>
                <a:latin typeface="Calibri" pitchFamily="34" charset="0"/>
                <a:ea typeface="Calibri" pitchFamily="34" charset="-122"/>
                <a:cs typeface="Calibri" pitchFamily="34" charset="-120"/>
              </a:rPr>
              <a:t>comparing methods</a:t>
            </a:r>
            <a:endParaRPr lang="en-US" sz="1050" dirty="0"/>
          </a:p>
          <a:p>
            <a:pPr indent="0" marL="0">
              <a:buNone/>
            </a:pPr>
            <a:r>
              <a:rPr lang="en-US" sz="1000" dirty="0">
                <a:solidFill>
                  <a:srgbClr val="23312B"/>
                </a:solidFill>
                <a:latin typeface="Calibri" pitchFamily="34" charset="0"/>
                <a:ea typeface="Calibri" pitchFamily="34" charset="-122"/>
                <a:cs typeface="Calibri" pitchFamily="34" charset="-120"/>
              </a:rPr>
              <a:t>your model vs. baselines on each benchmark</a:t>
            </a:r>
            <a:endParaRPr lang="en-US" sz="1050" dirty="0"/>
          </a:p>
        </p:txBody>
      </p:sp>
      <p:sp>
        <p:nvSpPr>
          <p:cNvPr id="12" name="Shape 9"/>
          <p:cNvSpPr/>
          <p:nvPr/>
        </p:nvSpPr>
        <p:spPr>
          <a:xfrm>
            <a:off x="6080760" y="1371600"/>
            <a:ext cx="2606040" cy="1325880"/>
          </a:xfrm>
          <a:prstGeom prst="roundRect">
            <a:avLst>
              <a:gd name="adj" fmla="val 6207"/>
            </a:avLst>
          </a:prstGeom>
          <a:solidFill>
            <a:srgbClr val="EFF5F0"/>
          </a:solidFill>
          <a:ln/>
          <a:effectLst>
            <a:outerShdw sx="100000" sy="100000" kx="0" ky="0" algn="bl" rotWithShape="0" blurRad="88900" dist="25400" dir="2700000">
              <a:srgbClr val="000000">
                <a:alpha val="14000"/>
              </a:srgbClr>
            </a:outerShdw>
          </a:effectLst>
        </p:spPr>
      </p:sp>
      <p:sp>
        <p:nvSpPr>
          <p:cNvPr id="13" name="Text 10"/>
          <p:cNvSpPr/>
          <p:nvPr/>
        </p:nvSpPr>
        <p:spPr>
          <a:xfrm>
            <a:off x="6245352" y="1481328"/>
            <a:ext cx="228600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Confusion matrix</a:t>
            </a:r>
            <a:endParaRPr lang="en-US" sz="1300" dirty="0"/>
          </a:p>
        </p:txBody>
      </p:sp>
      <p:sp>
        <p:nvSpPr>
          <p:cNvPr id="14" name="Text 11"/>
          <p:cNvSpPr/>
          <p:nvPr/>
        </p:nvSpPr>
        <p:spPr>
          <a:xfrm>
            <a:off x="6245352" y="1773936"/>
            <a:ext cx="2331720" cy="868680"/>
          </a:xfrm>
          <a:prstGeom prst="rect">
            <a:avLst/>
          </a:prstGeom>
          <a:noFill/>
          <a:ln/>
        </p:spPr>
        <p:txBody>
          <a:bodyPr wrap="square" lIns="0" tIns="0" rIns="0" bIns="0" rtlCol="0" anchor="ctr"/>
          <a:lstStyle/>
          <a:p>
            <a:pPr indent="0" marL="0">
              <a:buNone/>
            </a:pPr>
            <a:r>
              <a:rPr lang="en-US" sz="1050" b="1" i="1" dirty="0">
                <a:solidFill>
                  <a:srgbClr val="C9922F"/>
                </a:solidFill>
                <a:latin typeface="Calibri" pitchFamily="34" charset="0"/>
                <a:ea typeface="Calibri" pitchFamily="34" charset="-122"/>
                <a:cs typeface="Calibri" pitchFamily="34" charset="-120"/>
              </a:rPr>
              <a:t>where the model fails</a:t>
            </a:r>
            <a:endParaRPr lang="en-US" sz="1050" dirty="0"/>
          </a:p>
          <a:p>
            <a:pPr indent="0" marL="0">
              <a:buNone/>
            </a:pPr>
            <a:r>
              <a:rPr lang="en-US" sz="1000" dirty="0">
                <a:solidFill>
                  <a:srgbClr val="23312B"/>
                </a:solidFill>
                <a:latin typeface="Calibri" pitchFamily="34" charset="0"/>
                <a:ea typeface="Calibri" pitchFamily="34" charset="-122"/>
                <a:cs typeface="Calibri" pitchFamily="34" charset="-120"/>
              </a:rPr>
              <a:t>per-class errors — vital in health applications</a:t>
            </a:r>
            <a:endParaRPr lang="en-US" sz="1050" dirty="0"/>
          </a:p>
        </p:txBody>
      </p:sp>
      <p:sp>
        <p:nvSpPr>
          <p:cNvPr id="15" name="Shape 12"/>
          <p:cNvSpPr/>
          <p:nvPr/>
        </p:nvSpPr>
        <p:spPr>
          <a:xfrm>
            <a:off x="502920" y="2834640"/>
            <a:ext cx="2606040" cy="1325880"/>
          </a:xfrm>
          <a:prstGeom prst="roundRect">
            <a:avLst>
              <a:gd name="adj" fmla="val 6207"/>
            </a:avLst>
          </a:prstGeom>
          <a:solidFill>
            <a:srgbClr val="EFF5F0"/>
          </a:solidFill>
          <a:ln/>
          <a:effectLst>
            <a:outerShdw sx="100000" sy="100000" kx="0" ky="0" algn="bl" rotWithShape="0" blurRad="88900" dist="25400" dir="2700000">
              <a:srgbClr val="000000">
                <a:alpha val="14000"/>
              </a:srgbClr>
            </a:outerShdw>
          </a:effectLst>
        </p:spPr>
      </p:sp>
      <p:sp>
        <p:nvSpPr>
          <p:cNvPr id="16" name="Text 13"/>
          <p:cNvSpPr/>
          <p:nvPr/>
        </p:nvSpPr>
        <p:spPr>
          <a:xfrm>
            <a:off x="667512" y="2944368"/>
            <a:ext cx="228600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Scatter / Pareto</a:t>
            </a:r>
            <a:endParaRPr lang="en-US" sz="1300" dirty="0"/>
          </a:p>
        </p:txBody>
      </p:sp>
      <p:sp>
        <p:nvSpPr>
          <p:cNvPr id="17" name="Text 14"/>
          <p:cNvSpPr/>
          <p:nvPr/>
        </p:nvSpPr>
        <p:spPr>
          <a:xfrm>
            <a:off x="667512" y="3236976"/>
            <a:ext cx="2331720" cy="868680"/>
          </a:xfrm>
          <a:prstGeom prst="rect">
            <a:avLst/>
          </a:prstGeom>
          <a:noFill/>
          <a:ln/>
        </p:spPr>
        <p:txBody>
          <a:bodyPr wrap="square" lIns="0" tIns="0" rIns="0" bIns="0" rtlCol="0" anchor="ctr"/>
          <a:lstStyle/>
          <a:p>
            <a:pPr indent="0" marL="0">
              <a:buNone/>
            </a:pPr>
            <a:r>
              <a:rPr lang="en-US" sz="1050" b="1" i="1" dirty="0">
                <a:solidFill>
                  <a:srgbClr val="C9922F"/>
                </a:solidFill>
                <a:latin typeface="Calibri" pitchFamily="34" charset="0"/>
                <a:ea typeface="Calibri" pitchFamily="34" charset="-122"/>
                <a:cs typeface="Calibri" pitchFamily="34" charset="-120"/>
              </a:rPr>
              <a:t>trade-offs</a:t>
            </a:r>
            <a:endParaRPr lang="en-US" sz="1050" dirty="0"/>
          </a:p>
          <a:p>
            <a:pPr indent="0" marL="0">
              <a:buNone/>
            </a:pPr>
            <a:r>
              <a:rPr lang="en-US" sz="1000" dirty="0">
                <a:solidFill>
                  <a:srgbClr val="23312B"/>
                </a:solidFill>
                <a:latin typeface="Calibri" pitchFamily="34" charset="0"/>
                <a:ea typeface="Calibri" pitchFamily="34" charset="-122"/>
                <a:cs typeface="Calibri" pitchFamily="34" charset="-120"/>
              </a:rPr>
              <a:t>accuracy vs. latency on low-end devices</a:t>
            </a:r>
            <a:endParaRPr lang="en-US" sz="1050" dirty="0"/>
          </a:p>
        </p:txBody>
      </p:sp>
      <p:sp>
        <p:nvSpPr>
          <p:cNvPr id="18" name="Shape 15"/>
          <p:cNvSpPr/>
          <p:nvPr/>
        </p:nvSpPr>
        <p:spPr>
          <a:xfrm>
            <a:off x="3291840" y="2834640"/>
            <a:ext cx="2606040" cy="1325880"/>
          </a:xfrm>
          <a:prstGeom prst="roundRect">
            <a:avLst>
              <a:gd name="adj" fmla="val 6207"/>
            </a:avLst>
          </a:prstGeom>
          <a:solidFill>
            <a:srgbClr val="EFF5F0"/>
          </a:solidFill>
          <a:ln/>
          <a:effectLst>
            <a:outerShdw sx="100000" sy="100000" kx="0" ky="0" algn="bl" rotWithShape="0" blurRad="88900" dist="25400" dir="2700000">
              <a:srgbClr val="000000">
                <a:alpha val="14000"/>
              </a:srgbClr>
            </a:outerShdw>
          </a:effectLst>
        </p:spPr>
      </p:sp>
      <p:sp>
        <p:nvSpPr>
          <p:cNvPr id="19" name="Text 16"/>
          <p:cNvSpPr/>
          <p:nvPr/>
        </p:nvSpPr>
        <p:spPr>
          <a:xfrm>
            <a:off x="3456432" y="2944368"/>
            <a:ext cx="228600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Box plots</a:t>
            </a:r>
            <a:endParaRPr lang="en-US" sz="1300" dirty="0"/>
          </a:p>
        </p:txBody>
      </p:sp>
      <p:sp>
        <p:nvSpPr>
          <p:cNvPr id="20" name="Text 17"/>
          <p:cNvSpPr/>
          <p:nvPr/>
        </p:nvSpPr>
        <p:spPr>
          <a:xfrm>
            <a:off x="3456432" y="3236976"/>
            <a:ext cx="2331720" cy="868680"/>
          </a:xfrm>
          <a:prstGeom prst="rect">
            <a:avLst/>
          </a:prstGeom>
          <a:noFill/>
          <a:ln/>
        </p:spPr>
        <p:txBody>
          <a:bodyPr wrap="square" lIns="0" tIns="0" rIns="0" bIns="0" rtlCol="0" anchor="ctr"/>
          <a:lstStyle/>
          <a:p>
            <a:pPr indent="0" marL="0">
              <a:buNone/>
            </a:pPr>
            <a:r>
              <a:rPr lang="en-US" sz="1050" b="1" i="1" dirty="0">
                <a:solidFill>
                  <a:srgbClr val="C9922F"/>
                </a:solidFill>
                <a:latin typeface="Calibri" pitchFamily="34" charset="0"/>
                <a:ea typeface="Calibri" pitchFamily="34" charset="-122"/>
                <a:cs typeface="Calibri" pitchFamily="34" charset="-120"/>
              </a:rPr>
              <a:t>variance across seeds</a:t>
            </a:r>
            <a:endParaRPr lang="en-US" sz="1050" dirty="0"/>
          </a:p>
          <a:p>
            <a:pPr indent="0" marL="0">
              <a:buNone/>
            </a:pPr>
            <a:r>
              <a:rPr lang="en-US" sz="1000" dirty="0">
                <a:solidFill>
                  <a:srgbClr val="23312B"/>
                </a:solidFill>
                <a:latin typeface="Calibri" pitchFamily="34" charset="0"/>
                <a:ea typeface="Calibri" pitchFamily="34" charset="-122"/>
                <a:cs typeface="Calibri" pitchFamily="34" charset="-120"/>
              </a:rPr>
              <a:t>honest reporting: mean ± std over ≥3 runs</a:t>
            </a:r>
            <a:endParaRPr lang="en-US" sz="1050" dirty="0"/>
          </a:p>
        </p:txBody>
      </p:sp>
      <p:sp>
        <p:nvSpPr>
          <p:cNvPr id="21" name="Shape 18"/>
          <p:cNvSpPr/>
          <p:nvPr/>
        </p:nvSpPr>
        <p:spPr>
          <a:xfrm>
            <a:off x="6080760" y="2834640"/>
            <a:ext cx="2606040" cy="1325880"/>
          </a:xfrm>
          <a:prstGeom prst="roundRect">
            <a:avLst>
              <a:gd name="adj" fmla="val 6207"/>
            </a:avLst>
          </a:prstGeom>
          <a:solidFill>
            <a:srgbClr val="EFF5F0"/>
          </a:solidFill>
          <a:ln/>
          <a:effectLst>
            <a:outerShdw sx="100000" sy="100000" kx="0" ky="0" algn="bl" rotWithShape="0" blurRad="88900" dist="25400" dir="2700000">
              <a:srgbClr val="000000">
                <a:alpha val="14000"/>
              </a:srgbClr>
            </a:outerShdw>
          </a:effectLst>
        </p:spPr>
      </p:sp>
      <p:sp>
        <p:nvSpPr>
          <p:cNvPr id="22" name="Text 19"/>
          <p:cNvSpPr/>
          <p:nvPr/>
        </p:nvSpPr>
        <p:spPr>
          <a:xfrm>
            <a:off x="6245352" y="2944368"/>
            <a:ext cx="228600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Qualitative panels</a:t>
            </a:r>
            <a:endParaRPr lang="en-US" sz="1300" dirty="0"/>
          </a:p>
        </p:txBody>
      </p:sp>
      <p:sp>
        <p:nvSpPr>
          <p:cNvPr id="23" name="Text 20"/>
          <p:cNvSpPr/>
          <p:nvPr/>
        </p:nvSpPr>
        <p:spPr>
          <a:xfrm>
            <a:off x="6245352" y="3236976"/>
            <a:ext cx="2331720" cy="868680"/>
          </a:xfrm>
          <a:prstGeom prst="rect">
            <a:avLst/>
          </a:prstGeom>
          <a:noFill/>
          <a:ln/>
        </p:spPr>
        <p:txBody>
          <a:bodyPr wrap="square" lIns="0" tIns="0" rIns="0" bIns="0" rtlCol="0" anchor="ctr"/>
          <a:lstStyle/>
          <a:p>
            <a:pPr indent="0" marL="0">
              <a:buNone/>
            </a:pPr>
            <a:r>
              <a:rPr lang="en-US" sz="1050" b="1" i="1" dirty="0">
                <a:solidFill>
                  <a:srgbClr val="C9922F"/>
                </a:solidFill>
                <a:latin typeface="Calibri" pitchFamily="34" charset="0"/>
                <a:ea typeface="Calibri" pitchFamily="34" charset="-122"/>
                <a:cs typeface="Calibri" pitchFamily="34" charset="-120"/>
              </a:rPr>
              <a:t>showing, not telling</a:t>
            </a:r>
            <a:endParaRPr lang="en-US" sz="1050" dirty="0"/>
          </a:p>
          <a:p>
            <a:pPr indent="0" marL="0">
              <a:buNone/>
            </a:pPr>
            <a:r>
              <a:rPr lang="en-US" sz="1000" dirty="0">
                <a:solidFill>
                  <a:srgbClr val="23312B"/>
                </a:solidFill>
                <a:latin typeface="Calibri" pitchFamily="34" charset="0"/>
                <a:ea typeface="Calibri" pitchFamily="34" charset="-122"/>
                <a:cs typeface="Calibri" pitchFamily="34" charset="-120"/>
              </a:rPr>
              <a:t>example predictions, attention maps, error cases</a:t>
            </a:r>
            <a:endParaRPr lang="en-US" sz="1050" dirty="0"/>
          </a:p>
        </p:txBody>
      </p:sp>
      <p:sp>
        <p:nvSpPr>
          <p:cNvPr id="24" name="Text 21"/>
          <p:cNvSpPr/>
          <p:nvPr/>
        </p:nvSpPr>
        <p:spPr>
          <a:xfrm>
            <a:off x="502920" y="4434840"/>
            <a:ext cx="8138160" cy="320040"/>
          </a:xfrm>
          <a:prstGeom prst="rect">
            <a:avLst/>
          </a:prstGeom>
          <a:noFill/>
          <a:ln/>
        </p:spPr>
        <p:txBody>
          <a:bodyPr wrap="square" lIns="0" tIns="0" rIns="0" bIns="0" rtlCol="0" anchor="ctr"/>
          <a:lstStyle/>
          <a:p>
            <a:pPr indent="0" marL="0">
              <a:buNone/>
            </a:pPr>
            <a:r>
              <a:rPr lang="en-US" sz="1200" i="1" dirty="0">
                <a:solidFill>
                  <a:srgbClr val="1E5A3F"/>
                </a:solidFill>
                <a:latin typeface="Calibri" pitchFamily="34" charset="0"/>
                <a:ea typeface="Calibri" pitchFamily="34" charset="-122"/>
                <a:cs typeface="Calibri" pitchFamily="34" charset="-120"/>
              </a:rPr>
              <a:t>One figure = one message. If you must explain a figure for 2 minutes, it is the wrong figure.</a:t>
            </a:r>
            <a:endParaRPr lang="en-US" sz="1200" dirty="0"/>
          </a:p>
        </p:txBody>
      </p:sp>
      <p:sp>
        <p:nvSpPr>
          <p:cNvPr id="25" name="Text 22"/>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6" name="Text 23"/>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29</a:t>
            </a:r>
            <a:endParaRPr lang="en-US" sz="850" dirty="0"/>
          </a:p>
        </p:txBody>
      </p:sp>
      <p:pic>
        <p:nvPicPr>
          <p:cNvPr id="135"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36"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3 — IMPACT</a:t>
            </a:r>
            <a:endParaRPr lang="en-US" sz="1100" dirty="0"/>
          </a:p>
        </p:txBody>
      </p:sp>
      <p:sp>
        <p:nvSpPr>
          <p:cNvPr id="5" name="Text 2"/>
          <p:cNvSpPr/>
          <p:nvPr/>
        </p:nvSpPr>
        <p:spPr>
          <a:xfrm>
            <a:off x="1051560" y="548640"/>
            <a:ext cx="7498080" cy="502920"/>
          </a:xfrm>
          <a:prstGeom prst="rect">
            <a:avLst/>
          </a:prstGeom>
          <a:noFill/>
          <a:ln/>
        </p:spPr>
        <p:txBody>
          <a:bodyPr wrap="square" lIns="0" tIns="0" rIns="0" bIns="0" rtlCol="0" anchor="ctr"/>
          <a:lstStyle/>
          <a:p>
            <a:pPr indent="0" marL="0">
              <a:buNone/>
            </a:pPr>
            <a:r>
              <a:rPr lang="en-US" sz="2400" b="1" dirty="0">
                <a:solidFill>
                  <a:srgbClr val="12362A"/>
                </a:solidFill>
                <a:latin typeface="Cambria" pitchFamily="34" charset="0"/>
                <a:ea typeface="Cambria" pitchFamily="34" charset="-122"/>
                <a:cs typeface="Cambria" pitchFamily="34" charset="-120"/>
              </a:rPr>
              <a:t>The four figures of a strong Results section</a:t>
            </a:r>
            <a:endParaRPr lang="en-US" sz="2400" dirty="0"/>
          </a:p>
        </p:txBody>
      </p:sp>
      <p:pic>
        <p:nvPicPr>
          <p:cNvPr id="6" name="Image 1" descr="assets/fig_curves.png">    </p:cNvPr>
          <p:cNvPicPr>
            <a:picLocks noChangeAspect="1"/>
          </p:cNvPicPr>
          <p:nvPr/>
        </p:nvPicPr>
        <p:blipFill>
          <a:blip r:embed="rId2"/>
          <a:stretch>
            <a:fillRect/>
          </a:stretch>
        </p:blipFill>
        <p:spPr>
          <a:xfrm>
            <a:off x="502920" y="1298448"/>
            <a:ext cx="2286000" cy="1636776"/>
          </a:xfrm>
          <a:prstGeom prst="rect">
            <a:avLst/>
          </a:prstGeom>
        </p:spPr>
      </p:pic>
      <p:sp>
        <p:nvSpPr>
          <p:cNvPr id="7" name="Text 3"/>
          <p:cNvSpPr/>
          <p:nvPr/>
        </p:nvSpPr>
        <p:spPr>
          <a:xfrm>
            <a:off x="2926080" y="1435608"/>
            <a:ext cx="1508760" cy="1362456"/>
          </a:xfrm>
          <a:prstGeom prst="rect">
            <a:avLst/>
          </a:prstGeom>
          <a:noFill/>
          <a:ln/>
        </p:spPr>
        <p:txBody>
          <a:bodyPr wrap="square" lIns="0" tIns="0" rIns="0" bIns="0" rtlCol="0" anchor="ctr"/>
          <a:lstStyle/>
          <a:p>
            <a:pPr indent="0" marL="0">
              <a:buNone/>
            </a:pPr>
            <a:r>
              <a:rPr lang="en-US" sz="1050" dirty="0">
                <a:solidFill>
                  <a:srgbClr val="23312B"/>
                </a:solidFill>
                <a:latin typeface="Calibri" pitchFamily="34" charset="0"/>
                <a:ea typeface="Calibri" pitchFamily="34" charset="-122"/>
                <a:cs typeface="Calibri" pitchFamily="34" charset="-120"/>
              </a:rPr>
              <a:t>① Convergence — trains stably, beats the baseline</a:t>
            </a:r>
            <a:endParaRPr lang="en-US" sz="1050" dirty="0"/>
          </a:p>
        </p:txBody>
      </p:sp>
      <p:pic>
        <p:nvPicPr>
          <p:cNvPr id="8" name="Image 2" descr="assets/fig_pareto.png">    </p:cNvPr>
          <p:cNvPicPr>
            <a:picLocks noChangeAspect="1"/>
          </p:cNvPicPr>
          <p:nvPr/>
        </p:nvPicPr>
        <p:blipFill>
          <a:blip r:embed="rId3"/>
          <a:stretch>
            <a:fillRect/>
          </a:stretch>
        </p:blipFill>
        <p:spPr>
          <a:xfrm>
            <a:off x="4663440" y="1298448"/>
            <a:ext cx="2286000" cy="1636776"/>
          </a:xfrm>
          <a:prstGeom prst="rect">
            <a:avLst/>
          </a:prstGeom>
        </p:spPr>
      </p:pic>
      <p:sp>
        <p:nvSpPr>
          <p:cNvPr id="9" name="Text 4"/>
          <p:cNvSpPr/>
          <p:nvPr/>
        </p:nvSpPr>
        <p:spPr>
          <a:xfrm>
            <a:off x="7086600" y="1435608"/>
            <a:ext cx="1554480" cy="1362456"/>
          </a:xfrm>
          <a:prstGeom prst="rect">
            <a:avLst/>
          </a:prstGeom>
          <a:noFill/>
          <a:ln/>
        </p:spPr>
        <p:txBody>
          <a:bodyPr wrap="square" lIns="0" tIns="0" rIns="0" bIns="0" rtlCol="0" anchor="ctr"/>
          <a:lstStyle/>
          <a:p>
            <a:pPr indent="0" marL="0">
              <a:buNone/>
            </a:pPr>
            <a:r>
              <a:rPr lang="en-US" sz="1050" dirty="0">
                <a:solidFill>
                  <a:srgbClr val="23312B"/>
                </a:solidFill>
                <a:latin typeface="Calibri" pitchFamily="34" charset="0"/>
                <a:ea typeface="Calibri" pitchFamily="34" charset="-122"/>
                <a:cs typeface="Calibri" pitchFamily="34" charset="-120"/>
              </a:rPr>
              <a:t>② Trade-off — best accuracy at lowest latency: the low-resource argument in one image</a:t>
            </a:r>
            <a:endParaRPr lang="en-US" sz="1050" dirty="0"/>
          </a:p>
        </p:txBody>
      </p:sp>
      <p:pic>
        <p:nvPicPr>
          <p:cNvPr id="10" name="Image 3" descr="assets/fig_confusion.png">    </p:cNvPr>
          <p:cNvPicPr>
            <a:picLocks noChangeAspect="1"/>
          </p:cNvPicPr>
          <p:nvPr/>
        </p:nvPicPr>
        <p:blipFill>
          <a:blip r:embed="rId4"/>
          <a:stretch>
            <a:fillRect/>
          </a:stretch>
        </p:blipFill>
        <p:spPr>
          <a:xfrm>
            <a:off x="502920" y="3063240"/>
            <a:ext cx="1847088" cy="1645920"/>
          </a:xfrm>
          <a:prstGeom prst="rect">
            <a:avLst/>
          </a:prstGeom>
        </p:spPr>
      </p:pic>
      <p:sp>
        <p:nvSpPr>
          <p:cNvPr id="11" name="Text 5"/>
          <p:cNvSpPr/>
          <p:nvPr/>
        </p:nvSpPr>
        <p:spPr>
          <a:xfrm>
            <a:off x="2487168" y="3200400"/>
            <a:ext cx="1947672" cy="1371600"/>
          </a:xfrm>
          <a:prstGeom prst="rect">
            <a:avLst/>
          </a:prstGeom>
          <a:noFill/>
          <a:ln/>
        </p:spPr>
        <p:txBody>
          <a:bodyPr wrap="square" lIns="0" tIns="0" rIns="0" bIns="0" rtlCol="0" anchor="ctr"/>
          <a:lstStyle/>
          <a:p>
            <a:pPr indent="0" marL="0">
              <a:buNone/>
            </a:pPr>
            <a:r>
              <a:rPr lang="en-US" sz="1050" dirty="0">
                <a:solidFill>
                  <a:srgbClr val="23312B"/>
                </a:solidFill>
                <a:latin typeface="Calibri" pitchFamily="34" charset="0"/>
                <a:ea typeface="Calibri" pitchFamily="34" charset="-122"/>
                <a:cs typeface="Calibri" pitchFamily="34" charset="-120"/>
              </a:rPr>
              <a:t>③ Confusion matrix — “here is exactly where we fail” (vital in health &amp; agri)</a:t>
            </a:r>
            <a:endParaRPr lang="en-US" sz="1050" dirty="0"/>
          </a:p>
        </p:txBody>
      </p:sp>
      <p:pic>
        <p:nvPicPr>
          <p:cNvPr id="12" name="Image 4" descr="assets/fig_box.png">    </p:cNvPr>
          <p:cNvPicPr>
            <a:picLocks noChangeAspect="1"/>
          </p:cNvPicPr>
          <p:nvPr/>
        </p:nvPicPr>
        <p:blipFill>
          <a:blip r:embed="rId5"/>
          <a:stretch>
            <a:fillRect/>
          </a:stretch>
        </p:blipFill>
        <p:spPr>
          <a:xfrm>
            <a:off x="4663440" y="3063240"/>
            <a:ext cx="2286000" cy="1636776"/>
          </a:xfrm>
          <a:prstGeom prst="rect">
            <a:avLst/>
          </a:prstGeom>
        </p:spPr>
      </p:pic>
      <p:sp>
        <p:nvSpPr>
          <p:cNvPr id="13" name="Text 6"/>
          <p:cNvSpPr/>
          <p:nvPr/>
        </p:nvSpPr>
        <p:spPr>
          <a:xfrm>
            <a:off x="7086600" y="3200400"/>
            <a:ext cx="1554480" cy="1362456"/>
          </a:xfrm>
          <a:prstGeom prst="rect">
            <a:avLst/>
          </a:prstGeom>
          <a:noFill/>
          <a:ln/>
        </p:spPr>
        <p:txBody>
          <a:bodyPr wrap="square" lIns="0" tIns="0" rIns="0" bIns="0" rtlCol="0" anchor="ctr"/>
          <a:lstStyle/>
          <a:p>
            <a:pPr indent="0" marL="0">
              <a:buNone/>
            </a:pPr>
            <a:r>
              <a:rPr lang="en-US" sz="1050" dirty="0">
                <a:solidFill>
                  <a:srgbClr val="23312B"/>
                </a:solidFill>
                <a:latin typeface="Calibri" pitchFamily="34" charset="0"/>
                <a:ea typeface="Calibri" pitchFamily="34" charset="-122"/>
                <a:cs typeface="Calibri" pitchFamily="34" charset="-120"/>
              </a:rPr>
              <a:t>④ Seed variance — the gain is not luck: 10 seeds, honest spread</a:t>
            </a:r>
            <a:endParaRPr lang="en-US" sz="1050" dirty="0"/>
          </a:p>
        </p:txBody>
      </p:sp>
      <p:sp>
        <p:nvSpPr>
          <p:cNvPr id="14" name="Text 7"/>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5" name="Text 8"/>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30</a:t>
            </a:r>
            <a:endParaRPr lang="en-US" sz="850" dirty="0"/>
          </a:p>
        </p:txBody>
      </p:sp>
      <p:pic>
        <p:nvPicPr>
          <p:cNvPr id="137" name="QR kit" descr="img"/>
          <p:cNvPicPr>
            <a:picLocks noChangeAspect="1"/>
          </p:cNvPicPr>
          <p:nvPr/>
        </p:nvPicPr>
        <p:blipFill>
          <a:blip r:embed="rId8"/>
          <a:stretch>
            <a:fillRect/>
          </a:stretch>
        </p:blipFill>
        <p:spPr>
          <a:xfrm>
            <a:off x="7699248" y="4672584"/>
            <a:ext cx="402336" cy="402336"/>
          </a:xfrm>
          <a:prstGeom prst="rect">
            <a:avLst/>
          </a:prstGeom>
        </p:spPr>
      </p:pic>
      <p:sp>
        <p:nvSpPr>
          <p:cNvPr id="138"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3 — IMPACT · MINI-QUIZ</a:t>
            </a:r>
            <a:endParaRPr lang="en-US" sz="1100" dirty="0"/>
          </a:p>
        </p:txBody>
      </p:sp>
      <p:sp>
        <p:nvSpPr>
          <p:cNvPr id="5" name="Text 2"/>
          <p:cNvSpPr/>
          <p:nvPr/>
        </p:nvSpPr>
        <p:spPr>
          <a:xfrm>
            <a:off x="1051560" y="548640"/>
            <a:ext cx="6583680" cy="502920"/>
          </a:xfrm>
          <a:prstGeom prst="rect">
            <a:avLst/>
          </a:prstGeom>
          <a:noFill/>
          <a:ln/>
        </p:spPr>
        <p:txBody>
          <a:bodyPr wrap="square" lIns="0" tIns="0" rIns="0" bIns="0" rtlCol="0" anchor="ctr"/>
          <a:lstStyle/>
          <a:p>
            <a:pPr indent="0" marL="0">
              <a:buNone/>
            </a:pPr>
            <a:r>
              <a:rPr lang="en-US" sz="2600" b="1" dirty="0">
                <a:solidFill>
                  <a:srgbClr val="12362A"/>
                </a:solidFill>
                <a:latin typeface="Cambria" pitchFamily="34" charset="0"/>
                <a:ea typeface="Cambria" pitchFamily="34" charset="-122"/>
                <a:cs typeface="Cambria" pitchFamily="34" charset="-120"/>
              </a:rPr>
              <a:t>Spot the errors — vote A or B!</a:t>
            </a:r>
            <a:endParaRPr lang="en-US" sz="2600" dirty="0"/>
          </a:p>
        </p:txBody>
      </p:sp>
      <p:sp>
        <p:nvSpPr>
          <p:cNvPr id="6" name="Text 3"/>
          <p:cNvSpPr/>
          <p:nvPr/>
        </p:nvSpPr>
        <p:spPr>
          <a:xfrm>
            <a:off x="685800" y="1298448"/>
            <a:ext cx="1371600" cy="274320"/>
          </a:xfrm>
          <a:prstGeom prst="rect">
            <a:avLst/>
          </a:prstGeom>
          <a:noFill/>
          <a:ln/>
        </p:spPr>
        <p:txBody>
          <a:bodyPr wrap="square" lIns="0" tIns="0" rIns="0" bIns="0" rtlCol="0" anchor="ctr"/>
          <a:lstStyle/>
          <a:p>
            <a:pPr indent="0" marL="0">
              <a:buNone/>
            </a:pPr>
            <a:r>
              <a:rPr lang="en-US" sz="1300" b="1" dirty="0">
                <a:solidFill>
                  <a:srgbClr val="B3402F"/>
                </a:solidFill>
                <a:latin typeface="Calibri" pitchFamily="34" charset="0"/>
                <a:ea typeface="Calibri" pitchFamily="34" charset="-122"/>
                <a:cs typeface="Calibri" pitchFamily="34" charset="-120"/>
              </a:rPr>
              <a:t>Figure A</a:t>
            </a:r>
            <a:endParaRPr lang="en-US" sz="1300" dirty="0"/>
          </a:p>
        </p:txBody>
      </p:sp>
      <p:graphicFrame>
        <p:nvGraphicFramePr>
          <p:cNvPr id="7" name="Chart 0" descr=""/>
          <p:cNvGraphicFramePr/>
          <p:nvPr/>
        </p:nvGraphicFramePr>
        <p:xfrm>
          <a:off x="502920" y="1600200"/>
          <a:ext cx="3931920" cy="23774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4023360"/>
            <a:ext cx="3840480" cy="502920"/>
          </a:xfrm>
          <a:prstGeom prst="rect">
            <a:avLst/>
          </a:prstGeom>
          <a:noFill/>
          <a:ln/>
        </p:spPr>
        <p:txBody>
          <a:bodyPr wrap="square" lIns="0" tIns="0" rIns="0" bIns="0" rtlCol="0" anchor="ctr"/>
          <a:lstStyle/>
          <a:p>
            <a:pPr indent="0" marL="0">
              <a:buNone/>
            </a:pPr>
            <a:r>
              <a:rPr lang="en-US" sz="1050" dirty="0">
                <a:solidFill>
                  <a:srgbClr val="B3402F"/>
                </a:solidFill>
                <a:latin typeface="Calibri" pitchFamily="34" charset="0"/>
                <a:ea typeface="Calibri" pitchFamily="34" charset="-122"/>
                <a:cs typeface="Calibri" pitchFamily="34" charset="-120"/>
              </a:rPr>
              <a:t>Truncated axis exaggerates gains · cryptic labels · no units · no error bars</a:t>
            </a:r>
            <a:endParaRPr lang="en-US" sz="1050" dirty="0"/>
          </a:p>
        </p:txBody>
      </p:sp>
      <p:sp>
        <p:nvSpPr>
          <p:cNvPr id="9" name="Text 5"/>
          <p:cNvSpPr/>
          <p:nvPr/>
        </p:nvSpPr>
        <p:spPr>
          <a:xfrm>
            <a:off x="4892040" y="1298448"/>
            <a:ext cx="1371600" cy="274320"/>
          </a:xfrm>
          <a:prstGeom prst="rect">
            <a:avLst/>
          </a:prstGeom>
          <a:noFill/>
          <a:ln/>
        </p:spPr>
        <p:txBody>
          <a:bodyPr wrap="square" lIns="0" tIns="0" rIns="0" bIns="0" rtlCol="0" anchor="ctr"/>
          <a:lstStyle/>
          <a:p>
            <a:pPr indent="0" marL="0">
              <a:buNone/>
            </a:pPr>
            <a:r>
              <a:rPr lang="en-US" sz="1300" b="1" dirty="0">
                <a:solidFill>
                  <a:srgbClr val="1E5A3F"/>
                </a:solidFill>
                <a:latin typeface="Calibri" pitchFamily="34" charset="0"/>
                <a:ea typeface="Calibri" pitchFamily="34" charset="-122"/>
                <a:cs typeface="Calibri" pitchFamily="34" charset="-120"/>
              </a:rPr>
              <a:t>Figure B</a:t>
            </a:r>
            <a:endParaRPr lang="en-US" sz="1300" dirty="0"/>
          </a:p>
        </p:txBody>
      </p:sp>
      <p:graphicFrame>
        <p:nvGraphicFramePr>
          <p:cNvPr id="10" name="Chart 1" descr=""/>
          <p:cNvGraphicFramePr/>
          <p:nvPr/>
        </p:nvGraphicFramePr>
        <p:xfrm>
          <a:off x="4709160" y="1600200"/>
          <a:ext cx="3931920" cy="2377440"/>
        </p:xfrm>
        <a:graphic xmlns:a="http://schemas.openxmlformats.org/drawingml/2006/main">
          <a:graphicData uri="http://schemas.openxmlformats.org/drawingml/2006/chart">
            <c:chart xmlns:c="http://schemas.openxmlformats.org/drawingml/2006/chart" r:id="rId3"/>
          </a:graphicData>
        </a:graphic>
      </p:graphicFrame>
      <p:sp>
        <p:nvSpPr>
          <p:cNvPr id="11" name="Text 6"/>
          <p:cNvSpPr/>
          <p:nvPr/>
        </p:nvSpPr>
        <p:spPr>
          <a:xfrm>
            <a:off x="4754880" y="4023360"/>
            <a:ext cx="3840480" cy="502920"/>
          </a:xfrm>
          <a:prstGeom prst="rect">
            <a:avLst/>
          </a:prstGeom>
          <a:noFill/>
          <a:ln/>
        </p:spPr>
        <p:txBody>
          <a:bodyPr wrap="square" lIns="0" tIns="0" rIns="0" bIns="0" rtlCol="0" anchor="ctr"/>
          <a:lstStyle/>
          <a:p>
            <a:pPr indent="0" marL="0">
              <a:buNone/>
            </a:pPr>
            <a:r>
              <a:rPr lang="en-US" sz="1050" dirty="0">
                <a:solidFill>
                  <a:srgbClr val="1E5A3F"/>
                </a:solidFill>
                <a:latin typeface="Calibri" pitchFamily="34" charset="0"/>
                <a:ea typeface="Calibri" pitchFamily="34" charset="-122"/>
                <a:cs typeface="Calibri" pitchFamily="34" charset="-120"/>
              </a:rPr>
              <a:t>Full axis · named baselines · units &amp; protocol in caption · honest comparison</a:t>
            </a:r>
            <a:endParaRPr lang="en-US" sz="1050" dirty="0"/>
          </a:p>
        </p:txBody>
      </p:sp>
      <p:sp>
        <p:nvSpPr>
          <p:cNvPr id="12" name="Text 7"/>
          <p:cNvSpPr/>
          <p:nvPr/>
        </p:nvSpPr>
        <p:spPr>
          <a:xfrm>
            <a:off x="502920" y="4572000"/>
            <a:ext cx="8138160" cy="274320"/>
          </a:xfrm>
          <a:prstGeom prst="rect">
            <a:avLst/>
          </a:prstGeom>
          <a:noFill/>
          <a:ln/>
        </p:spPr>
        <p:txBody>
          <a:bodyPr wrap="square" lIns="0" tIns="0" rIns="0" bIns="0" rtlCol="0" anchor="ctr"/>
          <a:lstStyle/>
          <a:p>
            <a:pPr algn="ctr" indent="0" marL="0">
              <a:buNone/>
            </a:pPr>
            <a:r>
              <a:rPr lang="en-US" sz="1200" b="1" i="1" dirty="0">
                <a:solidFill>
                  <a:srgbClr val="12362A"/>
                </a:solidFill>
                <a:latin typeface="Calibri" pitchFamily="34" charset="0"/>
                <a:ea typeface="Calibri" pitchFamily="34" charset="-122"/>
                <a:cs typeface="Calibri" pitchFamily="34" charset="-120"/>
              </a:rPr>
              <a:t>Same numbers — different credibility. Reviewers see hundreds of Figure A's.</a:t>
            </a:r>
            <a:endParaRPr lang="en-US" sz="1200" dirty="0"/>
          </a:p>
        </p:txBody>
      </p:sp>
      <p:sp>
        <p:nvSpPr>
          <p:cNvPr id="13" name="Text 8"/>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4" name="Text 9"/>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31</a:t>
            </a:r>
            <a:endParaRPr lang="en-US" sz="850" dirty="0"/>
          </a:p>
        </p:txBody>
      </p:sp>
      <p:pic>
        <p:nvPicPr>
          <p:cNvPr id="139"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40"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F7F4EC"/>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3 — IMPACT</a:t>
            </a:r>
            <a:endParaRPr lang="en-US" sz="1100" dirty="0"/>
          </a:p>
        </p:txBody>
      </p:sp>
      <p:sp>
        <p:nvSpPr>
          <p:cNvPr id="5" name="Text 2"/>
          <p:cNvSpPr/>
          <p:nvPr/>
        </p:nvSpPr>
        <p:spPr>
          <a:xfrm>
            <a:off x="1051560" y="548640"/>
            <a:ext cx="7498080" cy="502920"/>
          </a:xfrm>
          <a:prstGeom prst="rect">
            <a:avLst/>
          </a:prstGeom>
          <a:noFill/>
          <a:ln/>
        </p:spPr>
        <p:txBody>
          <a:bodyPr wrap="square" lIns="0" tIns="0" rIns="0" bIns="0" rtlCol="0" anchor="ctr"/>
          <a:lstStyle/>
          <a:p>
            <a:pPr indent="0" marL="0">
              <a:buNone/>
            </a:pPr>
            <a:r>
              <a:rPr lang="en-US" sz="2400" b="1" dirty="0">
                <a:solidFill>
                  <a:srgbClr val="12362A"/>
                </a:solidFill>
                <a:latin typeface="Cambria" pitchFamily="34" charset="0"/>
                <a:ea typeface="Cambria" pitchFamily="34" charset="-122"/>
                <a:cs typeface="Cambria" pitchFamily="34" charset="-120"/>
              </a:rPr>
              <a:t>Publication-quality checklist for every figure</a:t>
            </a:r>
            <a:endParaRPr lang="en-US" sz="2400" dirty="0"/>
          </a:p>
        </p:txBody>
      </p:sp>
      <p:sp>
        <p:nvSpPr>
          <p:cNvPr id="6" name="Shape 3"/>
          <p:cNvSpPr/>
          <p:nvPr/>
        </p:nvSpPr>
        <p:spPr>
          <a:xfrm>
            <a:off x="502920" y="1408176"/>
            <a:ext cx="329184" cy="329184"/>
          </a:xfrm>
          <a:prstGeom prst="ellipse">
            <a:avLst/>
          </a:prstGeom>
          <a:solidFill>
            <a:srgbClr val="1E5A3F"/>
          </a:solidFill>
          <a:ln/>
        </p:spPr>
      </p:sp>
      <p:pic>
        <p:nvPicPr>
          <p:cNvPr id="7" name="Image 1" descr="preencoded.png">    </p:cNvPr>
          <p:cNvPicPr>
            <a:picLocks noChangeAspect="1"/>
          </p:cNvPicPr>
          <p:nvPr/>
        </p:nvPicPr>
        <p:blipFill>
          <a:blip r:embed="rId2"/>
          <a:stretch>
            <a:fillRect/>
          </a:stretch>
        </p:blipFill>
        <p:spPr>
          <a:xfrm>
            <a:off x="566928" y="1472184"/>
            <a:ext cx="201168" cy="201168"/>
          </a:xfrm>
          <a:prstGeom prst="rect">
            <a:avLst/>
          </a:prstGeom>
        </p:spPr>
      </p:pic>
      <p:sp>
        <p:nvSpPr>
          <p:cNvPr id="8" name="Text 4"/>
          <p:cNvSpPr/>
          <p:nvPr/>
        </p:nvSpPr>
        <p:spPr>
          <a:xfrm>
            <a:off x="960120" y="1353312"/>
            <a:ext cx="3611880" cy="9601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Self-contained caption</a:t>
            </a:r>
            <a:endParaRPr lang="en-US" sz="1250" dirty="0"/>
          </a:p>
          <a:p>
            <a:pPr indent="0" marL="0">
              <a:buNone/>
            </a:pPr>
            <a:r>
              <a:rPr lang="en-US" sz="1050" dirty="0">
                <a:solidFill>
                  <a:srgbClr val="5E6E66"/>
                </a:solidFill>
                <a:latin typeface="Calibri" pitchFamily="34" charset="0"/>
                <a:ea typeface="Calibri" pitchFamily="34" charset="-122"/>
                <a:cs typeface="Calibri" pitchFamily="34" charset="-120"/>
              </a:rPr>
              <a:t>a reader should understand the figure without the body text — state what, where, and the takeaway.</a:t>
            </a:r>
            <a:endParaRPr lang="en-US" sz="1250" dirty="0"/>
          </a:p>
        </p:txBody>
      </p:sp>
      <p:sp>
        <p:nvSpPr>
          <p:cNvPr id="9" name="Shape 5"/>
          <p:cNvSpPr/>
          <p:nvPr/>
        </p:nvSpPr>
        <p:spPr>
          <a:xfrm>
            <a:off x="4709160" y="1408176"/>
            <a:ext cx="329184" cy="329184"/>
          </a:xfrm>
          <a:prstGeom prst="ellipse">
            <a:avLst/>
          </a:prstGeom>
          <a:solidFill>
            <a:srgbClr val="1E5A3F"/>
          </a:solidFill>
          <a:ln/>
        </p:spPr>
      </p:sp>
      <p:pic>
        <p:nvPicPr>
          <p:cNvPr id="10" name="Image 2" descr="preencoded.png">    </p:cNvPr>
          <p:cNvPicPr>
            <a:picLocks noChangeAspect="1"/>
          </p:cNvPicPr>
          <p:nvPr/>
        </p:nvPicPr>
        <p:blipFill>
          <a:blip r:embed="rId3"/>
          <a:stretch>
            <a:fillRect/>
          </a:stretch>
        </p:blipFill>
        <p:spPr>
          <a:xfrm>
            <a:off x="4773168" y="1472184"/>
            <a:ext cx="201168" cy="201168"/>
          </a:xfrm>
          <a:prstGeom prst="rect">
            <a:avLst/>
          </a:prstGeom>
        </p:spPr>
      </p:pic>
      <p:sp>
        <p:nvSpPr>
          <p:cNvPr id="11" name="Text 6"/>
          <p:cNvSpPr/>
          <p:nvPr/>
        </p:nvSpPr>
        <p:spPr>
          <a:xfrm>
            <a:off x="5166360" y="1353312"/>
            <a:ext cx="3611880" cy="9601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Labeled axes with units</a:t>
            </a:r>
            <a:endParaRPr lang="en-US" sz="1250" dirty="0"/>
          </a:p>
          <a:p>
            <a:pPr indent="0" marL="0">
              <a:buNone/>
            </a:pPr>
            <a:r>
              <a:rPr lang="en-US" sz="1050" dirty="0">
                <a:solidFill>
                  <a:srgbClr val="5E6E66"/>
                </a:solidFill>
                <a:latin typeface="Calibri" pitchFamily="34" charset="0"/>
                <a:ea typeface="Calibri" pitchFamily="34" charset="-122"/>
                <a:cs typeface="Calibri" pitchFamily="34" charset="-120"/>
              </a:rPr>
              <a:t>“Accuracy (%)”, “Latency (ms)”, “Epochs” — never bare numbers.</a:t>
            </a:r>
            <a:endParaRPr lang="en-US" sz="1250" dirty="0"/>
          </a:p>
        </p:txBody>
      </p:sp>
      <p:sp>
        <p:nvSpPr>
          <p:cNvPr id="12" name="Shape 7"/>
          <p:cNvSpPr/>
          <p:nvPr/>
        </p:nvSpPr>
        <p:spPr>
          <a:xfrm>
            <a:off x="502920" y="2395728"/>
            <a:ext cx="329184" cy="329184"/>
          </a:xfrm>
          <a:prstGeom prst="ellipse">
            <a:avLst/>
          </a:prstGeom>
          <a:solidFill>
            <a:srgbClr val="1E5A3F"/>
          </a:solidFill>
          <a:ln/>
        </p:spPr>
      </p:sp>
      <p:pic>
        <p:nvPicPr>
          <p:cNvPr id="13" name="Image 3" descr="preencoded.png">    </p:cNvPr>
          <p:cNvPicPr>
            <a:picLocks noChangeAspect="1"/>
          </p:cNvPicPr>
          <p:nvPr/>
        </p:nvPicPr>
        <p:blipFill>
          <a:blip r:embed="rId4"/>
          <a:stretch>
            <a:fillRect/>
          </a:stretch>
        </p:blipFill>
        <p:spPr>
          <a:xfrm>
            <a:off x="566928" y="2459736"/>
            <a:ext cx="201168" cy="201168"/>
          </a:xfrm>
          <a:prstGeom prst="rect">
            <a:avLst/>
          </a:prstGeom>
        </p:spPr>
      </p:pic>
      <p:sp>
        <p:nvSpPr>
          <p:cNvPr id="14" name="Text 8"/>
          <p:cNvSpPr/>
          <p:nvPr/>
        </p:nvSpPr>
        <p:spPr>
          <a:xfrm>
            <a:off x="960120" y="2340864"/>
            <a:ext cx="3611880" cy="9601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Readable at print size</a:t>
            </a:r>
            <a:endParaRPr lang="en-US" sz="1250" dirty="0"/>
          </a:p>
          <a:p>
            <a:pPr indent="0" marL="0">
              <a:buNone/>
            </a:pPr>
            <a:r>
              <a:rPr lang="en-US" sz="1050" dirty="0">
                <a:solidFill>
                  <a:srgbClr val="5E6E66"/>
                </a:solidFill>
                <a:latin typeface="Calibri" pitchFamily="34" charset="0"/>
                <a:ea typeface="Calibri" pitchFamily="34" charset="-122"/>
                <a:cs typeface="Calibri" pitchFamily="34" charset="-120"/>
              </a:rPr>
              <a:t>fonts ≥ 8 pt after scaling; test by zooming to 100% on one column.</a:t>
            </a:r>
            <a:endParaRPr lang="en-US" sz="1250" dirty="0"/>
          </a:p>
        </p:txBody>
      </p:sp>
      <p:sp>
        <p:nvSpPr>
          <p:cNvPr id="15" name="Shape 9"/>
          <p:cNvSpPr/>
          <p:nvPr/>
        </p:nvSpPr>
        <p:spPr>
          <a:xfrm>
            <a:off x="4709160" y="2395728"/>
            <a:ext cx="329184" cy="329184"/>
          </a:xfrm>
          <a:prstGeom prst="ellipse">
            <a:avLst/>
          </a:prstGeom>
          <a:solidFill>
            <a:srgbClr val="1E5A3F"/>
          </a:solidFill>
          <a:ln/>
        </p:spPr>
      </p:sp>
      <p:pic>
        <p:nvPicPr>
          <p:cNvPr id="16" name="Image 4" descr="preencoded.png">    </p:cNvPr>
          <p:cNvPicPr>
            <a:picLocks noChangeAspect="1"/>
          </p:cNvPicPr>
          <p:nvPr/>
        </p:nvPicPr>
        <p:blipFill>
          <a:blip r:embed="rId5"/>
          <a:stretch>
            <a:fillRect/>
          </a:stretch>
        </p:blipFill>
        <p:spPr>
          <a:xfrm>
            <a:off x="4773168" y="2459736"/>
            <a:ext cx="201168" cy="201168"/>
          </a:xfrm>
          <a:prstGeom prst="rect">
            <a:avLst/>
          </a:prstGeom>
        </p:spPr>
      </p:pic>
      <p:sp>
        <p:nvSpPr>
          <p:cNvPr id="17" name="Text 10"/>
          <p:cNvSpPr/>
          <p:nvPr/>
        </p:nvSpPr>
        <p:spPr>
          <a:xfrm>
            <a:off x="5166360" y="2340864"/>
            <a:ext cx="3611880" cy="9601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Honest scales &amp; colors</a:t>
            </a:r>
            <a:endParaRPr lang="en-US" sz="1250" dirty="0"/>
          </a:p>
          <a:p>
            <a:pPr indent="0" marL="0">
              <a:buNone/>
            </a:pPr>
            <a:r>
              <a:rPr lang="en-US" sz="1050" dirty="0">
                <a:solidFill>
                  <a:srgbClr val="5E6E66"/>
                </a:solidFill>
                <a:latin typeface="Calibri" pitchFamily="34" charset="0"/>
                <a:ea typeface="Calibri" pitchFamily="34" charset="-122"/>
                <a:cs typeface="Calibri" pitchFamily="34" charset="-120"/>
              </a:rPr>
              <a:t>no truncated axes without a break mark; colorblind-safe palettes; consistent colors across figures.</a:t>
            </a:r>
            <a:endParaRPr lang="en-US" sz="1250" dirty="0"/>
          </a:p>
        </p:txBody>
      </p:sp>
      <p:sp>
        <p:nvSpPr>
          <p:cNvPr id="18" name="Shape 11"/>
          <p:cNvSpPr/>
          <p:nvPr/>
        </p:nvSpPr>
        <p:spPr>
          <a:xfrm>
            <a:off x="502920" y="3383280"/>
            <a:ext cx="329184" cy="329184"/>
          </a:xfrm>
          <a:prstGeom prst="ellipse">
            <a:avLst/>
          </a:prstGeom>
          <a:solidFill>
            <a:srgbClr val="1E5A3F"/>
          </a:solidFill>
          <a:ln/>
        </p:spPr>
      </p:sp>
      <p:pic>
        <p:nvPicPr>
          <p:cNvPr id="19" name="Image 5" descr="preencoded.png">    </p:cNvPr>
          <p:cNvPicPr>
            <a:picLocks noChangeAspect="1"/>
          </p:cNvPicPr>
          <p:nvPr/>
        </p:nvPicPr>
        <p:blipFill>
          <a:blip r:embed="rId6"/>
          <a:stretch>
            <a:fillRect/>
          </a:stretch>
        </p:blipFill>
        <p:spPr>
          <a:xfrm>
            <a:off x="566928" y="3447288"/>
            <a:ext cx="201168" cy="201168"/>
          </a:xfrm>
          <a:prstGeom prst="rect">
            <a:avLst/>
          </a:prstGeom>
        </p:spPr>
      </p:pic>
      <p:sp>
        <p:nvSpPr>
          <p:cNvPr id="20" name="Text 12"/>
          <p:cNvSpPr/>
          <p:nvPr/>
        </p:nvSpPr>
        <p:spPr>
          <a:xfrm>
            <a:off x="960120" y="3328416"/>
            <a:ext cx="3611880" cy="9601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Vector graphics</a:t>
            </a:r>
            <a:endParaRPr lang="en-US" sz="1250" dirty="0"/>
          </a:p>
          <a:p>
            <a:pPr indent="0" marL="0">
              <a:buNone/>
            </a:pPr>
            <a:r>
              <a:rPr lang="en-US" sz="1050" dirty="0">
                <a:solidFill>
                  <a:srgbClr val="5E6E66"/>
                </a:solidFill>
                <a:latin typeface="Calibri" pitchFamily="34" charset="0"/>
                <a:ea typeface="Calibri" pitchFamily="34" charset="-122"/>
                <a:cs typeface="Calibri" pitchFamily="34" charset="-120"/>
              </a:rPr>
              <a:t>export PDF/SVG from matplotlib or TikZ — never blurry screenshots.</a:t>
            </a:r>
            <a:endParaRPr lang="en-US" sz="1250" dirty="0"/>
          </a:p>
        </p:txBody>
      </p:sp>
      <p:sp>
        <p:nvSpPr>
          <p:cNvPr id="21" name="Shape 13"/>
          <p:cNvSpPr/>
          <p:nvPr/>
        </p:nvSpPr>
        <p:spPr>
          <a:xfrm>
            <a:off x="4709160" y="3383280"/>
            <a:ext cx="329184" cy="329184"/>
          </a:xfrm>
          <a:prstGeom prst="ellipse">
            <a:avLst/>
          </a:prstGeom>
          <a:solidFill>
            <a:srgbClr val="1E5A3F"/>
          </a:solidFill>
          <a:ln/>
        </p:spPr>
      </p:sp>
      <p:pic>
        <p:nvPicPr>
          <p:cNvPr id="22" name="Image 6" descr="preencoded.png">    </p:cNvPr>
          <p:cNvPicPr>
            <a:picLocks noChangeAspect="1"/>
          </p:cNvPicPr>
          <p:nvPr/>
        </p:nvPicPr>
        <p:blipFill>
          <a:blip r:embed="rId7"/>
          <a:stretch>
            <a:fillRect/>
          </a:stretch>
        </p:blipFill>
        <p:spPr>
          <a:xfrm>
            <a:off x="4773168" y="3447288"/>
            <a:ext cx="201168" cy="201168"/>
          </a:xfrm>
          <a:prstGeom prst="rect">
            <a:avLst/>
          </a:prstGeom>
        </p:spPr>
      </p:pic>
      <p:sp>
        <p:nvSpPr>
          <p:cNvPr id="23" name="Text 14"/>
          <p:cNvSpPr/>
          <p:nvPr/>
        </p:nvSpPr>
        <p:spPr>
          <a:xfrm>
            <a:off x="5166360" y="3328416"/>
            <a:ext cx="3611880" cy="960120"/>
          </a:xfrm>
          <a:prstGeom prst="rect">
            <a:avLst/>
          </a:prstGeom>
          <a:noFill/>
          <a:ln/>
        </p:spPr>
        <p:txBody>
          <a:bodyPr wrap="square" lIns="0" tIns="0" rIns="0" bIns="0" rtlCol="0" anchor="ctr"/>
          <a:lstStyle/>
          <a:p>
            <a:pPr indent="0" marL="0">
              <a:buNone/>
            </a:pPr>
            <a:r>
              <a:rPr lang="en-US" sz="1250" b="1" dirty="0">
                <a:solidFill>
                  <a:srgbClr val="12362A"/>
                </a:solidFill>
                <a:latin typeface="Calibri" pitchFamily="34" charset="0"/>
                <a:ea typeface="Calibri" pitchFamily="34" charset="-122"/>
                <a:cs typeface="Calibri" pitchFamily="34" charset="-120"/>
              </a:rPr>
              <a:t>Compare against baselines</a:t>
            </a:r>
            <a:endParaRPr lang="en-US" sz="1250" dirty="0"/>
          </a:p>
          <a:p>
            <a:pPr indent="0" marL="0">
              <a:buNone/>
            </a:pPr>
            <a:r>
              <a:rPr lang="en-US" sz="1050" dirty="0">
                <a:solidFill>
                  <a:srgbClr val="5E6E66"/>
                </a:solidFill>
                <a:latin typeface="Calibri" pitchFamily="34" charset="0"/>
                <a:ea typeface="Calibri" pitchFamily="34" charset="-122"/>
                <a:cs typeface="Calibri" pitchFamily="34" charset="-120"/>
              </a:rPr>
              <a:t>your bar never stands alone; context creates credibility.</a:t>
            </a:r>
            <a:endParaRPr lang="en-US" sz="1250" dirty="0"/>
          </a:p>
        </p:txBody>
      </p:sp>
      <p:sp>
        <p:nvSpPr>
          <p:cNvPr id="24" name="Text 15"/>
          <p:cNvSpPr/>
          <p:nvPr/>
        </p:nvSpPr>
        <p:spPr>
          <a:xfrm>
            <a:off x="502920" y="4434840"/>
            <a:ext cx="8138160" cy="320040"/>
          </a:xfrm>
          <a:prstGeom prst="rect">
            <a:avLst/>
          </a:prstGeom>
          <a:noFill/>
          <a:ln/>
        </p:spPr>
        <p:txBody>
          <a:bodyPr wrap="square" lIns="0" tIns="0" rIns="0" bIns="0" rtlCol="0" anchor="ctr"/>
          <a:lstStyle/>
          <a:p>
            <a:pPr indent="0" marL="0">
              <a:buNone/>
            </a:pPr>
            <a:r>
              <a:rPr lang="en-US" sz="1200" i="1" dirty="0">
                <a:solidFill>
                  <a:srgbClr val="1E5A3F"/>
                </a:solidFill>
                <a:latin typeface="Calibri" pitchFamily="34" charset="0"/>
                <a:ea typeface="Calibri" pitchFamily="34" charset="-122"/>
                <a:cs typeface="Calibri" pitchFamily="34" charset="-120"/>
              </a:rPr>
              <a:t>Tables: same rules — booktabs style, bold your best result, report mean ± std.</a:t>
            </a:r>
            <a:endParaRPr lang="en-US" sz="1200" dirty="0"/>
          </a:p>
        </p:txBody>
      </p:sp>
      <p:sp>
        <p:nvSpPr>
          <p:cNvPr id="25" name="Text 16"/>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6" name="Text 17"/>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32</a:t>
            </a:r>
            <a:endParaRPr lang="en-US" sz="850" dirty="0"/>
          </a:p>
        </p:txBody>
      </p:sp>
      <p:pic>
        <p:nvPicPr>
          <p:cNvPr id="141" name="QR kit" descr="img"/>
          <p:cNvPicPr>
            <a:picLocks noChangeAspect="1"/>
          </p:cNvPicPr>
          <p:nvPr/>
        </p:nvPicPr>
        <p:blipFill>
          <a:blip r:embed="rId10"/>
          <a:stretch>
            <a:fillRect/>
          </a:stretch>
        </p:blipFill>
        <p:spPr>
          <a:xfrm>
            <a:off x="7699248" y="4672584"/>
            <a:ext cx="402336" cy="402336"/>
          </a:xfrm>
          <a:prstGeom prst="rect">
            <a:avLst/>
          </a:prstGeom>
        </p:spPr>
      </p:pic>
      <p:sp>
        <p:nvSpPr>
          <p:cNvPr id="14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3 · STEP 4 — HONESTY</a:t>
            </a:r>
            <a:endParaRPr lang="en-US" sz="1100" dirty="0"/>
          </a:p>
        </p:txBody>
      </p:sp>
      <p:sp>
        <p:nvSpPr>
          <p:cNvPr id="5" name="Text 2"/>
          <p:cNvSpPr/>
          <p:nvPr/>
        </p:nvSpPr>
        <p:spPr>
          <a:xfrm>
            <a:off x="1051560" y="548640"/>
            <a:ext cx="7132320" cy="502920"/>
          </a:xfrm>
          <a:prstGeom prst="rect">
            <a:avLst/>
          </a:prstGeom>
          <a:noFill/>
          <a:ln/>
        </p:spPr>
        <p:txBody>
          <a:bodyPr wrap="square" lIns="0" tIns="0" rIns="0" bIns="0" rtlCol="0" anchor="ctr"/>
          <a:lstStyle/>
          <a:p>
            <a:pPr indent="0" marL="0">
              <a:buNone/>
            </a:pPr>
            <a:r>
              <a:rPr lang="en-US" sz="2500" b="1" dirty="0">
                <a:solidFill>
                  <a:srgbClr val="12362A"/>
                </a:solidFill>
                <a:latin typeface="Cambria" pitchFamily="34" charset="0"/>
                <a:ea typeface="Cambria" pitchFamily="34" charset="-122"/>
                <a:cs typeface="Cambria" pitchFamily="34" charset="-120"/>
              </a:rPr>
              <a:t>Discussion, Limitations &amp; Conclusion</a:t>
            </a:r>
            <a:endParaRPr lang="en-US" sz="2500" dirty="0"/>
          </a:p>
        </p:txBody>
      </p:sp>
      <p:sp>
        <p:nvSpPr>
          <p:cNvPr id="6" name="Shape 3"/>
          <p:cNvSpPr/>
          <p:nvPr/>
        </p:nvSpPr>
        <p:spPr>
          <a:xfrm>
            <a:off x="502920" y="1371600"/>
            <a:ext cx="8138160" cy="868680"/>
          </a:xfrm>
          <a:prstGeom prst="roundRect">
            <a:avLst>
              <a:gd name="adj" fmla="val 9474"/>
            </a:avLst>
          </a:prstGeom>
          <a:solidFill>
            <a:srgbClr val="EFF5F0"/>
          </a:solidFill>
          <a:ln/>
          <a:effectLst>
            <a:outerShdw sx="100000" sy="100000" kx="0" ky="0" algn="bl" rotWithShape="0" blurRad="88900" dist="25400" dir="2700000">
              <a:srgbClr val="000000">
                <a:alpha val="14000"/>
              </a:srgbClr>
            </a:outerShdw>
          </a:effectLst>
        </p:spPr>
      </p:sp>
      <p:sp>
        <p:nvSpPr>
          <p:cNvPr id="7" name="Text 4"/>
          <p:cNvSpPr/>
          <p:nvPr/>
        </p:nvSpPr>
        <p:spPr>
          <a:xfrm>
            <a:off x="777240" y="1481328"/>
            <a:ext cx="7589520" cy="292608"/>
          </a:xfrm>
          <a:prstGeom prst="rect">
            <a:avLst/>
          </a:prstGeom>
          <a:noFill/>
          <a:ln/>
        </p:spPr>
        <p:txBody>
          <a:bodyPr wrap="square" lIns="0" tIns="0" rIns="0" bIns="0" rtlCol="0" anchor="ctr"/>
          <a:lstStyle/>
          <a:p>
            <a:pPr indent="0" marL="0">
              <a:buNone/>
            </a:pPr>
            <a:r>
              <a:rPr lang="en-US" sz="1350" b="1" dirty="0">
                <a:solidFill>
                  <a:srgbClr val="1E5A3F"/>
                </a:solidFill>
                <a:latin typeface="Calibri" pitchFamily="34" charset="0"/>
                <a:ea typeface="Calibri" pitchFamily="34" charset="-122"/>
                <a:cs typeface="Calibri" pitchFamily="34" charset="-120"/>
              </a:rPr>
              <a:t>Discuss — don't repeat</a:t>
            </a:r>
            <a:endParaRPr lang="en-US" sz="1350" dirty="0"/>
          </a:p>
        </p:txBody>
      </p:sp>
      <p:sp>
        <p:nvSpPr>
          <p:cNvPr id="8" name="Text 5"/>
          <p:cNvSpPr/>
          <p:nvPr/>
        </p:nvSpPr>
        <p:spPr>
          <a:xfrm>
            <a:off x="777240" y="1783080"/>
            <a:ext cx="7589520" cy="365760"/>
          </a:xfrm>
          <a:prstGeom prst="rect">
            <a:avLst/>
          </a:prstGeom>
          <a:noFill/>
          <a:ln/>
        </p:spPr>
        <p:txBody>
          <a:bodyPr wrap="square" lIns="0" tIns="0" rIns="0" bIns="0" rtlCol="0" anchor="ctr"/>
          <a:lstStyle/>
          <a:p>
            <a:pPr indent="0" marL="0">
              <a:buNone/>
            </a:pPr>
            <a:r>
              <a:rPr lang="en-US" sz="1150" dirty="0">
                <a:solidFill>
                  <a:srgbClr val="23312B"/>
                </a:solidFill>
                <a:latin typeface="Calibri" pitchFamily="34" charset="0"/>
                <a:ea typeface="Calibri" pitchFamily="34" charset="-122"/>
                <a:cs typeface="Calibri" pitchFamily="34" charset="-120"/>
              </a:rPr>
              <a:t>Interpret: WHY does your method win? When does it not? What does it mean for the field and for deployment?</a:t>
            </a:r>
            <a:endParaRPr lang="en-US" sz="1150" dirty="0"/>
          </a:p>
        </p:txBody>
      </p:sp>
      <p:sp>
        <p:nvSpPr>
          <p:cNvPr id="9" name="Shape 6"/>
          <p:cNvSpPr/>
          <p:nvPr/>
        </p:nvSpPr>
        <p:spPr>
          <a:xfrm>
            <a:off x="502920" y="2404872"/>
            <a:ext cx="8138160" cy="1371600"/>
          </a:xfrm>
          <a:prstGeom prst="roundRect">
            <a:avLst>
              <a:gd name="adj" fmla="val 6000"/>
            </a:avLst>
          </a:prstGeom>
          <a:solidFill>
            <a:srgbClr val="F7F4EC"/>
          </a:solidFill>
          <a:ln/>
          <a:effectLst>
            <a:outerShdw sx="100000" sy="100000" kx="0" ky="0" algn="bl" rotWithShape="0" blurRad="88900" dist="25400" dir="2700000">
              <a:srgbClr val="000000">
                <a:alpha val="14000"/>
              </a:srgbClr>
            </a:outerShdw>
          </a:effectLst>
        </p:spPr>
      </p:sp>
      <p:sp>
        <p:nvSpPr>
          <p:cNvPr id="10" name="Text 7"/>
          <p:cNvSpPr/>
          <p:nvPr/>
        </p:nvSpPr>
        <p:spPr>
          <a:xfrm>
            <a:off x="777240" y="2514600"/>
            <a:ext cx="7589520" cy="292608"/>
          </a:xfrm>
          <a:prstGeom prst="rect">
            <a:avLst/>
          </a:prstGeom>
          <a:noFill/>
          <a:ln/>
        </p:spPr>
        <p:txBody>
          <a:bodyPr wrap="square" lIns="0" tIns="0" rIns="0" bIns="0" rtlCol="0" anchor="ctr"/>
          <a:lstStyle/>
          <a:p>
            <a:pPr indent="0" marL="0">
              <a:buNone/>
            </a:pPr>
            <a:r>
              <a:rPr lang="en-US" sz="1350" b="1" dirty="0">
                <a:solidFill>
                  <a:srgbClr val="C9922F"/>
                </a:solidFill>
                <a:latin typeface="Calibri" pitchFamily="34" charset="0"/>
                <a:ea typeface="Calibri" pitchFamily="34" charset="-122"/>
                <a:cs typeface="Calibri" pitchFamily="34" charset="-120"/>
              </a:rPr>
              <a:t>Limitations — the trust section</a:t>
            </a:r>
            <a:endParaRPr lang="en-US" sz="1350" dirty="0"/>
          </a:p>
        </p:txBody>
      </p:sp>
      <p:sp>
        <p:nvSpPr>
          <p:cNvPr id="11" name="Text 8"/>
          <p:cNvSpPr/>
          <p:nvPr/>
        </p:nvSpPr>
        <p:spPr>
          <a:xfrm>
            <a:off x="777240" y="2816352"/>
            <a:ext cx="7589520" cy="868680"/>
          </a:xfrm>
          <a:prstGeom prst="rect">
            <a:avLst/>
          </a:prstGeom>
          <a:noFill/>
          <a:ln/>
        </p:spPr>
        <p:txBody>
          <a:bodyPr wrap="square" lIns="0" tIns="0" rIns="0" bIns="0" rtlCol="0" anchor="ctr"/>
          <a:lstStyle/>
          <a:p>
            <a:pPr indent="0" marL="0">
              <a:buNone/>
            </a:pPr>
            <a:r>
              <a:rPr lang="en-US" sz="1150" dirty="0">
                <a:solidFill>
                  <a:srgbClr val="23312B"/>
                </a:solidFill>
                <a:latin typeface="Calibri" pitchFamily="34" charset="0"/>
                <a:ea typeface="Calibri" pitchFamily="34" charset="-122"/>
                <a:cs typeface="Calibri" pitchFamily="34" charset="-120"/>
              </a:rPr>
              <a:t>Honest, specific, self-critical. E.g.: “AgroNet was validated on 3 cassava varieties; performance under extreme low-light and on 2G-only devices remains untested.” Reviewers respect this — hiding limits is how papers die in review.</a:t>
            </a:r>
            <a:endParaRPr lang="en-US" sz="1150" dirty="0"/>
          </a:p>
        </p:txBody>
      </p:sp>
      <p:sp>
        <p:nvSpPr>
          <p:cNvPr id="12" name="Shape 9"/>
          <p:cNvSpPr/>
          <p:nvPr/>
        </p:nvSpPr>
        <p:spPr>
          <a:xfrm>
            <a:off x="502920" y="3941064"/>
            <a:ext cx="8138160" cy="868680"/>
          </a:xfrm>
          <a:prstGeom prst="roundRect">
            <a:avLst>
              <a:gd name="adj" fmla="val 9474"/>
            </a:avLst>
          </a:prstGeom>
          <a:solidFill>
            <a:srgbClr val="EFF5F0"/>
          </a:solidFill>
          <a:ln/>
          <a:effectLst>
            <a:outerShdw sx="100000" sy="100000" kx="0" ky="0" algn="bl" rotWithShape="0" blurRad="88900" dist="25400" dir="2700000">
              <a:srgbClr val="000000">
                <a:alpha val="14000"/>
              </a:srgbClr>
            </a:outerShdw>
          </a:effectLst>
        </p:spPr>
      </p:sp>
      <p:sp>
        <p:nvSpPr>
          <p:cNvPr id="13" name="Text 10"/>
          <p:cNvSpPr/>
          <p:nvPr/>
        </p:nvSpPr>
        <p:spPr>
          <a:xfrm>
            <a:off x="777240" y="4050792"/>
            <a:ext cx="7589520" cy="292608"/>
          </a:xfrm>
          <a:prstGeom prst="rect">
            <a:avLst/>
          </a:prstGeom>
          <a:noFill/>
          <a:ln/>
        </p:spPr>
        <p:txBody>
          <a:bodyPr wrap="square" lIns="0" tIns="0" rIns="0" bIns="0" rtlCol="0" anchor="ctr"/>
          <a:lstStyle/>
          <a:p>
            <a:pPr indent="0" marL="0">
              <a:buNone/>
            </a:pPr>
            <a:r>
              <a:rPr lang="en-US" sz="1350" b="1" dirty="0">
                <a:solidFill>
                  <a:srgbClr val="1E5A3F"/>
                </a:solidFill>
                <a:latin typeface="Calibri" pitchFamily="34" charset="0"/>
                <a:ea typeface="Calibri" pitchFamily="34" charset="-122"/>
                <a:cs typeface="Calibri" pitchFamily="34" charset="-120"/>
              </a:rPr>
              <a:t>Conclusion — land the story</a:t>
            </a:r>
            <a:endParaRPr lang="en-US" sz="1350" dirty="0"/>
          </a:p>
        </p:txBody>
      </p:sp>
      <p:sp>
        <p:nvSpPr>
          <p:cNvPr id="14" name="Text 11"/>
          <p:cNvSpPr/>
          <p:nvPr/>
        </p:nvSpPr>
        <p:spPr>
          <a:xfrm>
            <a:off x="777240" y="4352544"/>
            <a:ext cx="7589520" cy="365760"/>
          </a:xfrm>
          <a:prstGeom prst="rect">
            <a:avLst/>
          </a:prstGeom>
          <a:noFill/>
          <a:ln/>
        </p:spPr>
        <p:txBody>
          <a:bodyPr wrap="square" lIns="0" tIns="0" rIns="0" bIns="0" rtlCol="0" anchor="ctr"/>
          <a:lstStyle/>
          <a:p>
            <a:pPr indent="0" marL="0">
              <a:buNone/>
            </a:pPr>
            <a:r>
              <a:rPr lang="en-US" sz="1150" dirty="0">
                <a:solidFill>
                  <a:srgbClr val="23312B"/>
                </a:solidFill>
                <a:latin typeface="Calibri" pitchFamily="34" charset="0"/>
                <a:ea typeface="Calibri" pitchFamily="34" charset="-122"/>
                <a:cs typeface="Calibri" pitchFamily="34" charset="-120"/>
              </a:rPr>
              <a:t>One paragraph: restate contribution + strongest number + future work that follows naturally from your limitations.</a:t>
            </a:r>
            <a:endParaRPr lang="en-US" sz="1150" dirty="0"/>
          </a:p>
        </p:txBody>
      </p:sp>
      <p:sp>
        <p:nvSpPr>
          <p:cNvPr id="15" name="Text 12"/>
          <p:cNvSpPr/>
          <p:nvPr/>
        </p:nvSpPr>
        <p:spPr>
          <a:xfrm>
            <a:off x="502920" y="4992624"/>
            <a:ext cx="8138160" cy="457200"/>
          </a:xfrm>
          <a:prstGeom prst="rect">
            <a:avLst/>
          </a:prstGeom>
          <a:noFill/>
          <a:ln/>
        </p:spPr>
        <p:txBody>
          <a:bodyPr wrap="square" lIns="0" tIns="0" rIns="0" bIns="0" rtlCol="0" anchor="ctr"/>
          <a:lstStyle/>
          <a:p>
            <a:pPr indent="0" marL="0">
              <a:buNone/>
            </a:pPr>
            <a:r>
              <a:rPr lang="en-US" sz="1200" i="1" dirty="0">
                <a:solidFill>
                  <a:srgbClr val="1E5A3F"/>
                </a:solidFill>
                <a:latin typeface="Calibri" pitchFamily="34" charset="0"/>
                <a:ea typeface="Calibri" pitchFamily="34" charset="-122"/>
                <a:cs typeface="Calibri" pitchFamily="34" charset="-120"/>
              </a:rPr>
              <a:t>African-context limitations (connectivity, device constraints, data coverage) are scientifically valuable observations — own them.</a:t>
            </a:r>
            <a:endParaRPr lang="en-US" sz="1200" dirty="0"/>
          </a:p>
        </p:txBody>
      </p:sp>
      <p:sp>
        <p:nvSpPr>
          <p:cNvPr id="16" name="Text 13"/>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7" name="Text 14"/>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34</a:t>
            </a:r>
            <a:endParaRPr lang="en-US" sz="850" dirty="0"/>
          </a:p>
        </p:txBody>
      </p:sp>
      <p:pic>
        <p:nvPicPr>
          <p:cNvPr id="145"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46"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5 · WARM-UP</a:t>
            </a:r>
            <a:endParaRPr lang="en-US" sz="1100" dirty="0"/>
          </a:p>
        </p:txBody>
      </p:sp>
      <p:sp>
        <p:nvSpPr>
          <p:cNvPr id="5" name="Text 2"/>
          <p:cNvSpPr/>
          <p:nvPr/>
        </p:nvSpPr>
        <p:spPr>
          <a:xfrm>
            <a:off x="1051560" y="548640"/>
            <a:ext cx="7498080" cy="502920"/>
          </a:xfrm>
          <a:prstGeom prst="rect">
            <a:avLst/>
          </a:prstGeom>
          <a:noFill/>
          <a:ln/>
        </p:spPr>
        <p:txBody>
          <a:bodyPr wrap="square" lIns="0" tIns="0" rIns="0" bIns="0" rtlCol="0" anchor="ctr"/>
          <a:lstStyle/>
          <a:p>
            <a:pPr indent="0" marL="0">
              <a:buNone/>
            </a:pPr>
            <a:r>
              <a:rPr lang="en-US" sz="2300" b="1" dirty="0">
                <a:solidFill>
                  <a:srgbClr val="12362A"/>
                </a:solidFill>
                <a:latin typeface="Cambria" pitchFamily="34" charset="0"/>
                <a:ea typeface="Cambria" pitchFamily="34" charset="-122"/>
                <a:cs typeface="Cambria" pitchFamily="34" charset="-120"/>
              </a:rPr>
              <a:t>Abstract makeover — 60 seconds before you write</a:t>
            </a:r>
            <a:endParaRPr lang="en-US" sz="2300" dirty="0"/>
          </a:p>
        </p:txBody>
      </p:sp>
      <p:sp>
        <p:nvSpPr>
          <p:cNvPr id="6" name="Shape 3"/>
          <p:cNvSpPr/>
          <p:nvPr/>
        </p:nvSpPr>
        <p:spPr>
          <a:xfrm>
            <a:off x="502920" y="1325880"/>
            <a:ext cx="3977640" cy="2651760"/>
          </a:xfrm>
          <a:prstGeom prst="roundRect">
            <a:avLst>
              <a:gd name="adj" fmla="val 3103"/>
            </a:avLst>
          </a:prstGeom>
          <a:solidFill>
            <a:srgbClr val="F9EDEA"/>
          </a:solidFill>
          <a:ln/>
          <a:effectLst>
            <a:outerShdw sx="100000" sy="100000" kx="0" ky="0" algn="bl" rotWithShape="0" blurRad="88900" dist="25400" dir="2700000">
              <a:srgbClr val="000000">
                <a:alpha val="14000"/>
              </a:srgbClr>
            </a:outerShdw>
          </a:effectLst>
        </p:spPr>
      </p:sp>
      <p:pic>
        <p:nvPicPr>
          <p:cNvPr id="7" name="Image 1" descr="preencoded.png">    </p:cNvPr>
          <p:cNvPicPr>
            <a:picLocks noChangeAspect="1"/>
          </p:cNvPicPr>
          <p:nvPr/>
        </p:nvPicPr>
        <p:blipFill>
          <a:blip r:embed="rId2"/>
          <a:stretch>
            <a:fillRect/>
          </a:stretch>
        </p:blipFill>
        <p:spPr>
          <a:xfrm>
            <a:off x="731520" y="1490472"/>
            <a:ext cx="292608" cy="292608"/>
          </a:xfrm>
          <a:prstGeom prst="rect">
            <a:avLst/>
          </a:prstGeom>
        </p:spPr>
      </p:pic>
      <p:sp>
        <p:nvSpPr>
          <p:cNvPr id="8" name="Text 4"/>
          <p:cNvSpPr/>
          <p:nvPr/>
        </p:nvSpPr>
        <p:spPr>
          <a:xfrm>
            <a:off x="1115568" y="1499616"/>
            <a:ext cx="3108960" cy="274320"/>
          </a:xfrm>
          <a:prstGeom prst="rect">
            <a:avLst/>
          </a:prstGeom>
          <a:noFill/>
          <a:ln/>
        </p:spPr>
        <p:txBody>
          <a:bodyPr wrap="square" lIns="0" tIns="0" rIns="0" bIns="0" rtlCol="0" anchor="ctr"/>
          <a:lstStyle/>
          <a:p>
            <a:pPr indent="0" marL="0">
              <a:buNone/>
            </a:pPr>
            <a:r>
              <a:rPr lang="en-US" sz="1250" b="1" dirty="0">
                <a:solidFill>
                  <a:srgbClr val="B3402F"/>
                </a:solidFill>
                <a:latin typeface="Calibri" pitchFamily="34" charset="0"/>
                <a:ea typeface="Calibri" pitchFamily="34" charset="-122"/>
                <a:cs typeface="Calibri" pitchFamily="34" charset="-120"/>
              </a:rPr>
              <a:t>BEFORE</a:t>
            </a:r>
            <a:endParaRPr lang="en-US" sz="1250" dirty="0"/>
          </a:p>
        </p:txBody>
      </p:sp>
      <p:sp>
        <p:nvSpPr>
          <p:cNvPr id="9" name="Text 5"/>
          <p:cNvSpPr/>
          <p:nvPr/>
        </p:nvSpPr>
        <p:spPr>
          <a:xfrm>
            <a:off x="777240" y="1874520"/>
            <a:ext cx="3474720" cy="1371600"/>
          </a:xfrm>
          <a:prstGeom prst="rect">
            <a:avLst/>
          </a:prstGeom>
          <a:noFill/>
          <a:ln/>
        </p:spPr>
        <p:txBody>
          <a:bodyPr wrap="square" lIns="0" tIns="0" rIns="0" bIns="0" rtlCol="0" anchor="ctr"/>
          <a:lstStyle/>
          <a:p>
            <a:pPr indent="0" marL="0">
              <a:buNone/>
            </a:pPr>
            <a:r>
              <a:rPr lang="en-US" sz="1150" i="1" dirty="0">
                <a:solidFill>
                  <a:srgbClr val="23312B"/>
                </a:solidFill>
                <a:latin typeface="Calibri" pitchFamily="34" charset="0"/>
                <a:ea typeface="Calibri" pitchFamily="34" charset="-122"/>
                <a:cs typeface="Calibri" pitchFamily="34" charset="-120"/>
              </a:rPr>
              <a:t>“Malaria is a big problem in Africa. In this project we used machine learning and deep learning to detect malaria. We tested our model and the results were very good and promising. This shows AI can help healthcare.”</a:t>
            </a:r>
            <a:endParaRPr lang="en-US" sz="1150" dirty="0"/>
          </a:p>
        </p:txBody>
      </p:sp>
      <p:sp>
        <p:nvSpPr>
          <p:cNvPr id="10" name="Text 6"/>
          <p:cNvSpPr/>
          <p:nvPr/>
        </p:nvSpPr>
        <p:spPr>
          <a:xfrm>
            <a:off x="777240" y="3291840"/>
            <a:ext cx="3474720" cy="594360"/>
          </a:xfrm>
          <a:prstGeom prst="rect">
            <a:avLst/>
          </a:prstGeom>
          <a:noFill/>
          <a:ln/>
        </p:spPr>
        <p:txBody>
          <a:bodyPr wrap="square" lIns="0" tIns="0" rIns="0" bIns="0" rtlCol="0" anchor="ctr"/>
          <a:lstStyle/>
          <a:p>
            <a:pPr indent="0" marL="0">
              <a:buNone/>
            </a:pPr>
            <a:r>
              <a:rPr lang="en-US" sz="1000" dirty="0">
                <a:solidFill>
                  <a:srgbClr val="B3402F"/>
                </a:solidFill>
                <a:latin typeface="Calibri" pitchFamily="34" charset="0"/>
                <a:ea typeface="Calibri" pitchFamily="34" charset="-122"/>
                <a:cs typeface="Calibri" pitchFamily="34" charset="-120"/>
              </a:rPr>
              <a:t>No numbers · no gap · “very good” is not evidence · could describe 10,000 projects</a:t>
            </a:r>
            <a:endParaRPr lang="en-US" sz="1000" dirty="0"/>
          </a:p>
        </p:txBody>
      </p:sp>
      <p:sp>
        <p:nvSpPr>
          <p:cNvPr id="11" name="Shape 7"/>
          <p:cNvSpPr/>
          <p:nvPr/>
        </p:nvSpPr>
        <p:spPr>
          <a:xfrm>
            <a:off x="4663440" y="1325880"/>
            <a:ext cx="3977640" cy="2651760"/>
          </a:xfrm>
          <a:prstGeom prst="roundRect">
            <a:avLst>
              <a:gd name="adj" fmla="val 3103"/>
            </a:avLst>
          </a:prstGeom>
          <a:solidFill>
            <a:srgbClr val="EAF4EC"/>
          </a:solidFill>
          <a:ln/>
          <a:effectLst>
            <a:outerShdw sx="100000" sy="100000" kx="0" ky="0" algn="bl" rotWithShape="0" blurRad="88900" dist="25400" dir="2700000">
              <a:srgbClr val="000000">
                <a:alpha val="14000"/>
              </a:srgbClr>
            </a:outerShdw>
          </a:effectLst>
        </p:spPr>
      </p:sp>
      <p:pic>
        <p:nvPicPr>
          <p:cNvPr id="12" name="Image 2" descr="preencoded.png">    </p:cNvPr>
          <p:cNvPicPr>
            <a:picLocks noChangeAspect="1"/>
          </p:cNvPicPr>
          <p:nvPr/>
        </p:nvPicPr>
        <p:blipFill>
          <a:blip r:embed="rId3"/>
          <a:stretch>
            <a:fillRect/>
          </a:stretch>
        </p:blipFill>
        <p:spPr>
          <a:xfrm>
            <a:off x="4892040" y="1490472"/>
            <a:ext cx="292608" cy="292608"/>
          </a:xfrm>
          <a:prstGeom prst="rect">
            <a:avLst/>
          </a:prstGeom>
        </p:spPr>
      </p:pic>
      <p:sp>
        <p:nvSpPr>
          <p:cNvPr id="13" name="Text 8"/>
          <p:cNvSpPr/>
          <p:nvPr/>
        </p:nvSpPr>
        <p:spPr>
          <a:xfrm>
            <a:off x="5276088" y="1499616"/>
            <a:ext cx="3200400" cy="274320"/>
          </a:xfrm>
          <a:prstGeom prst="rect">
            <a:avLst/>
          </a:prstGeom>
          <a:noFill/>
          <a:ln/>
        </p:spPr>
        <p:txBody>
          <a:bodyPr wrap="square" lIns="0" tIns="0" rIns="0" bIns="0" rtlCol="0" anchor="ctr"/>
          <a:lstStyle/>
          <a:p>
            <a:pPr indent="0" marL="0">
              <a:buNone/>
            </a:pPr>
            <a:r>
              <a:rPr lang="en-US" sz="1250" b="1" dirty="0">
                <a:solidFill>
                  <a:srgbClr val="1E5A3F"/>
                </a:solidFill>
                <a:latin typeface="Calibri" pitchFamily="34" charset="0"/>
                <a:ea typeface="Calibri" pitchFamily="34" charset="-122"/>
                <a:cs typeface="Calibri" pitchFamily="34" charset="-120"/>
              </a:rPr>
              <a:t>AFTER — 3 sentences</a:t>
            </a:r>
            <a:endParaRPr lang="en-US" sz="1250" dirty="0"/>
          </a:p>
        </p:txBody>
      </p:sp>
      <p:sp>
        <p:nvSpPr>
          <p:cNvPr id="14" name="Text 9"/>
          <p:cNvSpPr/>
          <p:nvPr/>
        </p:nvSpPr>
        <p:spPr>
          <a:xfrm>
            <a:off x="4937760" y="1874520"/>
            <a:ext cx="3520440" cy="1554480"/>
          </a:xfrm>
          <a:prstGeom prst="rect">
            <a:avLst/>
          </a:prstGeom>
          <a:noFill/>
          <a:ln/>
        </p:spPr>
        <p:txBody>
          <a:bodyPr wrap="square" lIns="0" tIns="0" rIns="0" bIns="0" rtlCol="0" anchor="ctr"/>
          <a:lstStyle/>
          <a:p>
            <a:pPr indent="0" marL="0">
              <a:buNone/>
            </a:pPr>
            <a:r>
              <a:rPr lang="en-US" sz="1150" i="1" dirty="0">
                <a:solidFill>
                  <a:srgbClr val="1E5A3F"/>
                </a:solidFill>
                <a:latin typeface="Calibri" pitchFamily="34" charset="0"/>
                <a:ea typeface="Calibri" pitchFamily="34" charset="-122"/>
                <a:cs typeface="Calibri" pitchFamily="34" charset="-120"/>
              </a:rPr>
              <a:t>“Rural clinics in West Africa diagnose malaria by manual microscopy, taking 30+ minutes per slide with scarce experts. </a:t>
            </a:r>
            <a:pPr indent="0" marL="0">
              <a:buNone/>
            </a:pPr>
            <a:r>
              <a:rPr lang="en-US" sz="1150" i="1" dirty="0">
                <a:solidFill>
                  <a:srgbClr val="23312B"/>
                </a:solidFill>
                <a:latin typeface="Calibri" pitchFamily="34" charset="0"/>
                <a:ea typeface="Calibri" pitchFamily="34" charset="-122"/>
                <a:cs typeface="Calibri" pitchFamily="34" charset="-120"/>
              </a:rPr>
              <a:t>We introduce PaluNet, a compact detector that runs on a $50 smartphone attached to any microscope. </a:t>
            </a:r>
            <a:pPr indent="0" marL="0">
              <a:buNone/>
            </a:pPr>
            <a:r>
              <a:rPr lang="en-US" sz="1150" i="1" dirty="0">
                <a:solidFill>
                  <a:srgbClr val="C9922F"/>
                </a:solidFill>
                <a:latin typeface="Calibri" pitchFamily="34" charset="0"/>
                <a:ea typeface="Calibri" pitchFamily="34" charset="-122"/>
                <a:cs typeface="Calibri" pitchFamily="34" charset="-120"/>
              </a:rPr>
              <a:t>On 8,500 field slides from 6 clinics, PaluNet reaches 94% sensitivity in under 20 seconds, matching expert microscopists.”</a:t>
            </a:r>
            <a:endParaRPr lang="en-US" sz="1150" dirty="0"/>
          </a:p>
        </p:txBody>
      </p:sp>
      <p:sp>
        <p:nvSpPr>
          <p:cNvPr id="15" name="Text 10"/>
          <p:cNvSpPr/>
          <p:nvPr/>
        </p:nvSpPr>
        <p:spPr>
          <a:xfrm>
            <a:off x="4937760" y="3429000"/>
            <a:ext cx="3520440" cy="457200"/>
          </a:xfrm>
          <a:prstGeom prst="rect">
            <a:avLst/>
          </a:prstGeom>
          <a:noFill/>
          <a:ln/>
        </p:spPr>
        <p:txBody>
          <a:bodyPr wrap="square" lIns="0" tIns="0" rIns="0" bIns="0" rtlCol="0" anchor="ctr"/>
          <a:lstStyle/>
          <a:p>
            <a:pPr indent="0" marL="0">
              <a:buNone/>
            </a:pPr>
            <a:r>
              <a:rPr lang="en-US" sz="1000" dirty="0">
                <a:solidFill>
                  <a:srgbClr val="1E5A3F"/>
                </a:solidFill>
                <a:latin typeface="Calibri" pitchFamily="34" charset="0"/>
                <a:ea typeface="Calibri" pitchFamily="34" charset="-122"/>
                <a:cs typeface="Calibri" pitchFamily="34" charset="-120"/>
              </a:rPr>
              <a:t>Context+gap → method → numbers. 3 sentences, fundable.</a:t>
            </a:r>
            <a:endParaRPr lang="en-US" sz="1000" dirty="0"/>
          </a:p>
        </p:txBody>
      </p:sp>
      <p:sp>
        <p:nvSpPr>
          <p:cNvPr id="16" name="Text 11"/>
          <p:cNvSpPr/>
          <p:nvPr/>
        </p:nvSpPr>
        <p:spPr>
          <a:xfrm>
            <a:off x="502920" y="4206240"/>
            <a:ext cx="8138160" cy="320040"/>
          </a:xfrm>
          <a:prstGeom prst="rect">
            <a:avLst/>
          </a:prstGeom>
          <a:noFill/>
          <a:ln/>
        </p:spPr>
        <p:txBody>
          <a:bodyPr wrap="square" lIns="0" tIns="0" rIns="0" bIns="0" rtlCol="0" anchor="ctr"/>
          <a:lstStyle/>
          <a:p>
            <a:pPr algn="ctr" indent="0" marL="0">
              <a:buNone/>
            </a:pPr>
            <a:r>
              <a:rPr lang="en-US" sz="1350" b="1" dirty="0">
                <a:solidFill>
                  <a:srgbClr val="12362A"/>
                </a:solidFill>
                <a:latin typeface="Calibri" pitchFamily="34" charset="0"/>
                <a:ea typeface="Calibri" pitchFamily="34" charset="-122"/>
                <a:cs typeface="Calibri" pitchFamily="34" charset="-120"/>
              </a:rPr>
              <a:t>Your turn now — same transformation, your scenario.</a:t>
            </a:r>
            <a:endParaRPr lang="en-US" sz="1350" dirty="0"/>
          </a:p>
        </p:txBody>
      </p:sp>
      <p:sp>
        <p:nvSpPr>
          <p:cNvPr id="17" name="Text 12"/>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18" name="Text 13"/>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36</a:t>
            </a:r>
            <a:endParaRPr lang="en-US" sz="850" dirty="0"/>
          </a:p>
        </p:txBody>
      </p:sp>
      <p:pic>
        <p:nvPicPr>
          <p:cNvPr id="147"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48"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362A"/>
        </a:solidFill>
      </p:bgPr>
    </p:bg>
    <p:spTree>
      <p:nvGrpSpPr>
        <p:cNvPr id="1" name=""/>
        <p:cNvGrpSpPr/>
        <p:nvPr/>
      </p:nvGrpSpPr>
      <p:grpSpPr>
        <a:xfrm>
          <a:off x="0" y="0"/>
          <a:ext cx="0" cy="0"/>
          <a:chOff x="0" y="0"/>
          <a:chExt cx="0" cy="0"/>
        </a:xfrm>
      </p:grpSpPr>
      <p:sp>
        <p:nvSpPr>
          <p:cNvPr id="2" name="Shape 0"/>
          <p:cNvSpPr/>
          <p:nvPr/>
        </p:nvSpPr>
        <p:spPr>
          <a:xfrm>
            <a:off x="502920" y="411480"/>
            <a:ext cx="3017520" cy="384048"/>
          </a:xfrm>
          <a:prstGeom prst="roundRect">
            <a:avLst>
              <a:gd name="adj" fmla="val 50000"/>
            </a:avLst>
          </a:prstGeom>
          <a:solidFill>
            <a:srgbClr val="C9922F"/>
          </a:solidFill>
          <a:ln/>
        </p:spPr>
      </p:sp>
      <p:sp>
        <p:nvSpPr>
          <p:cNvPr id="3" name="Text 1"/>
          <p:cNvSpPr/>
          <p:nvPr/>
        </p:nvSpPr>
        <p:spPr>
          <a:xfrm>
            <a:off x="502920" y="411480"/>
            <a:ext cx="3017520" cy="38404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5 · HANDS-ON · 23 MIN · YOUR TURN</a:t>
            </a:r>
            <a:endParaRPr lang="en-US" sz="1050" dirty="0"/>
          </a:p>
        </p:txBody>
      </p:sp>
      <p:sp>
        <p:nvSpPr>
          <p:cNvPr id="4" name="Text 2"/>
          <p:cNvSpPr/>
          <p:nvPr/>
        </p:nvSpPr>
        <p:spPr>
          <a:xfrm>
            <a:off x="502920" y="932688"/>
            <a:ext cx="81381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Write your 3-sentence abstract</a:t>
            </a:r>
            <a:endParaRPr lang="en-US" sz="3000" dirty="0"/>
          </a:p>
        </p:txBody>
      </p:sp>
      <p:sp>
        <p:nvSpPr>
          <p:cNvPr id="5" name="Shape 3"/>
          <p:cNvSpPr/>
          <p:nvPr/>
        </p:nvSpPr>
        <p:spPr>
          <a:xfrm>
            <a:off x="502920" y="1645920"/>
            <a:ext cx="5212080" cy="694944"/>
          </a:xfrm>
          <a:prstGeom prst="roundRect">
            <a:avLst>
              <a:gd name="adj" fmla="val 10526"/>
            </a:avLst>
          </a:prstGeom>
          <a:solidFill>
            <a:srgbClr val="1B4A38"/>
          </a:solidFill>
          <a:ln/>
        </p:spPr>
      </p:sp>
      <p:sp>
        <p:nvSpPr>
          <p:cNvPr id="6" name="Text 4"/>
          <p:cNvSpPr/>
          <p:nvPr/>
        </p:nvSpPr>
        <p:spPr>
          <a:xfrm>
            <a:off x="685800" y="1700784"/>
            <a:ext cx="4892040" cy="603504"/>
          </a:xfrm>
          <a:prstGeom prst="rect">
            <a:avLst/>
          </a:prstGeom>
          <a:noFill/>
          <a:ln/>
        </p:spPr>
        <p:txBody>
          <a:bodyPr wrap="square" lIns="0" tIns="0" rIns="0" bIns="0" rtlCol="0" anchor="ctr"/>
          <a:lstStyle/>
          <a:p>
            <a:pPr indent="0" marL="0">
              <a:buNone/>
            </a:pPr>
            <a:r>
              <a:rPr lang="en-US" sz="1050" b="1" dirty="0">
                <a:solidFill>
                  <a:srgbClr val="E9B44C"/>
                </a:solidFill>
                <a:latin typeface="Calibri" pitchFamily="34" charset="0"/>
                <a:ea typeface="Calibri" pitchFamily="34" charset="-122"/>
                <a:cs typeface="Calibri" pitchFamily="34" charset="-120"/>
              </a:rPr>
              <a:t>S1 · CONTEXT / PROBLEM</a:t>
            </a:r>
            <a:endParaRPr lang="en-US" sz="1050" dirty="0"/>
          </a:p>
          <a:p>
            <a:pPr indent="0" marL="0">
              <a:buNone/>
            </a:pPr>
            <a:r>
              <a:rPr lang="en-US" sz="980" i="1" dirty="0">
                <a:solidFill>
                  <a:srgbClr val="FFFFFF"/>
                </a:solidFill>
                <a:latin typeface="Calibri" pitchFamily="34" charset="0"/>
                <a:ea typeface="Calibri" pitchFamily="34" charset="-122"/>
                <a:cs typeface="Calibri" pitchFamily="34" charset="-120"/>
              </a:rPr>
              <a:t>“In African agricultural zones, crop disease X causes major yield losses, but existing vision models require high-compute resources.”</a:t>
            </a:r>
            <a:endParaRPr lang="en-US" sz="1050" dirty="0"/>
          </a:p>
        </p:txBody>
      </p:sp>
      <p:sp>
        <p:nvSpPr>
          <p:cNvPr id="7" name="Shape 5"/>
          <p:cNvSpPr/>
          <p:nvPr/>
        </p:nvSpPr>
        <p:spPr>
          <a:xfrm>
            <a:off x="502920" y="2450592"/>
            <a:ext cx="5212080" cy="694944"/>
          </a:xfrm>
          <a:prstGeom prst="roundRect">
            <a:avLst>
              <a:gd name="adj" fmla="val 10526"/>
            </a:avLst>
          </a:prstGeom>
          <a:solidFill>
            <a:srgbClr val="1B4A38"/>
          </a:solidFill>
          <a:ln/>
        </p:spPr>
      </p:sp>
      <p:sp>
        <p:nvSpPr>
          <p:cNvPr id="8" name="Text 6"/>
          <p:cNvSpPr/>
          <p:nvPr/>
        </p:nvSpPr>
        <p:spPr>
          <a:xfrm>
            <a:off x="685800" y="2505456"/>
            <a:ext cx="4892040" cy="603504"/>
          </a:xfrm>
          <a:prstGeom prst="rect">
            <a:avLst/>
          </a:prstGeom>
          <a:noFill/>
          <a:ln/>
        </p:spPr>
        <p:txBody>
          <a:bodyPr wrap="square" lIns="0" tIns="0" rIns="0" bIns="0" rtlCol="0" anchor="ctr"/>
          <a:lstStyle/>
          <a:p>
            <a:pPr indent="0" marL="0">
              <a:buNone/>
            </a:pPr>
            <a:r>
              <a:rPr lang="en-US" sz="1050" b="1" dirty="0">
                <a:solidFill>
                  <a:srgbClr val="E9B44C"/>
                </a:solidFill>
                <a:latin typeface="Calibri" pitchFamily="34" charset="0"/>
                <a:ea typeface="Calibri" pitchFamily="34" charset="-122"/>
                <a:cs typeface="Calibri" pitchFamily="34" charset="-120"/>
              </a:rPr>
              <a:t>S2 · METHOD</a:t>
            </a:r>
            <a:endParaRPr lang="en-US" sz="1050" dirty="0"/>
          </a:p>
          <a:p>
            <a:pPr indent="0" marL="0">
              <a:buNone/>
            </a:pPr>
            <a:r>
              <a:rPr lang="en-US" sz="980" i="1" dirty="0">
                <a:solidFill>
                  <a:srgbClr val="FFFFFF"/>
                </a:solidFill>
                <a:latin typeface="Calibri" pitchFamily="34" charset="0"/>
                <a:ea typeface="Calibri" pitchFamily="34" charset="-122"/>
                <a:cs typeface="Calibri" pitchFamily="34" charset="-120"/>
              </a:rPr>
              <a:t>“We introduce [Model], an offline, quantized network optimized for low-end mobile devices.”</a:t>
            </a:r>
            <a:endParaRPr lang="en-US" sz="1050" dirty="0"/>
          </a:p>
        </p:txBody>
      </p:sp>
      <p:sp>
        <p:nvSpPr>
          <p:cNvPr id="9" name="Shape 7"/>
          <p:cNvSpPr/>
          <p:nvPr/>
        </p:nvSpPr>
        <p:spPr>
          <a:xfrm>
            <a:off x="502920" y="3255264"/>
            <a:ext cx="5212080" cy="694944"/>
          </a:xfrm>
          <a:prstGeom prst="roundRect">
            <a:avLst>
              <a:gd name="adj" fmla="val 10526"/>
            </a:avLst>
          </a:prstGeom>
          <a:solidFill>
            <a:srgbClr val="1B4A38"/>
          </a:solidFill>
          <a:ln/>
        </p:spPr>
      </p:sp>
      <p:sp>
        <p:nvSpPr>
          <p:cNvPr id="10" name="Text 8"/>
          <p:cNvSpPr/>
          <p:nvPr/>
        </p:nvSpPr>
        <p:spPr>
          <a:xfrm>
            <a:off x="685800" y="3310128"/>
            <a:ext cx="4892040" cy="603504"/>
          </a:xfrm>
          <a:prstGeom prst="rect">
            <a:avLst/>
          </a:prstGeom>
          <a:noFill/>
          <a:ln/>
        </p:spPr>
        <p:txBody>
          <a:bodyPr wrap="square" lIns="0" tIns="0" rIns="0" bIns="0" rtlCol="0" anchor="ctr"/>
          <a:lstStyle/>
          <a:p>
            <a:pPr indent="0" marL="0">
              <a:buNone/>
            </a:pPr>
            <a:r>
              <a:rPr lang="en-US" sz="1050" b="1" dirty="0">
                <a:solidFill>
                  <a:srgbClr val="E9B44C"/>
                </a:solidFill>
                <a:latin typeface="Calibri" pitchFamily="34" charset="0"/>
                <a:ea typeface="Calibri" pitchFamily="34" charset="-122"/>
                <a:cs typeface="Calibri" pitchFamily="34" charset="-120"/>
              </a:rPr>
              <a:t>S3 · IMPACT / RESULTS</a:t>
            </a:r>
            <a:endParaRPr lang="en-US" sz="1050" dirty="0"/>
          </a:p>
          <a:p>
            <a:pPr indent="0" marL="0">
              <a:buNone/>
            </a:pPr>
            <a:r>
              <a:rPr lang="en-US" sz="980" i="1" dirty="0">
                <a:solidFill>
                  <a:srgbClr val="FFFFFF"/>
                </a:solidFill>
                <a:latin typeface="Calibri" pitchFamily="34" charset="0"/>
                <a:ea typeface="Calibri" pitchFamily="34" charset="-122"/>
                <a:cs typeface="Calibri" pitchFamily="34" charset="-120"/>
              </a:rPr>
              <a:t>“Our approach reaches X% accuracy on local data while cutting inference time by Y% versus baselines.”</a:t>
            </a:r>
            <a:endParaRPr lang="en-US" sz="1050" dirty="0"/>
          </a:p>
        </p:txBody>
      </p:sp>
      <p:sp>
        <p:nvSpPr>
          <p:cNvPr id="11" name="Text 9"/>
          <p:cNvSpPr/>
          <p:nvPr/>
        </p:nvSpPr>
        <p:spPr>
          <a:xfrm>
            <a:off x="5943600" y="1645920"/>
            <a:ext cx="2743200" cy="274320"/>
          </a:xfrm>
          <a:prstGeom prst="rect">
            <a:avLst/>
          </a:prstGeom>
          <a:noFill/>
          <a:ln/>
        </p:spPr>
        <p:txBody>
          <a:bodyPr wrap="square" lIns="0" tIns="0" rIns="0" bIns="0" rtlCol="0" anchor="ctr"/>
          <a:lstStyle/>
          <a:p>
            <a:pPr indent="0" marL="0">
              <a:buNone/>
            </a:pPr>
            <a:r>
              <a:rPr lang="en-US" sz="1250" b="1" dirty="0">
                <a:solidFill>
                  <a:srgbClr val="E9B44C"/>
                </a:solidFill>
                <a:latin typeface="Calibri" pitchFamily="34" charset="0"/>
                <a:ea typeface="Calibri" pitchFamily="34" charset="-122"/>
                <a:cs typeface="Calibri" pitchFamily="34" charset="-120"/>
              </a:rPr>
              <a:t>Pick ONE scenario card:</a:t>
            </a:r>
            <a:endParaRPr lang="en-US" sz="1250" dirty="0"/>
          </a:p>
        </p:txBody>
      </p:sp>
      <p:sp>
        <p:nvSpPr>
          <p:cNvPr id="12" name="Shape 10"/>
          <p:cNvSpPr/>
          <p:nvPr/>
        </p:nvSpPr>
        <p:spPr>
          <a:xfrm>
            <a:off x="5943600" y="1993392"/>
            <a:ext cx="2743200" cy="475488"/>
          </a:xfrm>
          <a:prstGeom prst="roundRect">
            <a:avLst>
              <a:gd name="adj" fmla="val 17308"/>
            </a:avLst>
          </a:prstGeom>
          <a:solidFill>
            <a:srgbClr val="1E5A3F"/>
          </a:solidFill>
          <a:ln/>
        </p:spPr>
      </p:sp>
      <p:pic>
        <p:nvPicPr>
          <p:cNvPr id="13" name="Image 0" descr="preencoded.png">    </p:cNvPr>
          <p:cNvPicPr>
            <a:picLocks noChangeAspect="1"/>
          </p:cNvPicPr>
          <p:nvPr/>
        </p:nvPicPr>
        <p:blipFill>
          <a:blip r:embed="rId1"/>
          <a:stretch>
            <a:fillRect/>
          </a:stretch>
        </p:blipFill>
        <p:spPr>
          <a:xfrm>
            <a:off x="6089904" y="2103120"/>
            <a:ext cx="256032" cy="256032"/>
          </a:xfrm>
          <a:prstGeom prst="rect">
            <a:avLst/>
          </a:prstGeom>
        </p:spPr>
      </p:pic>
      <p:sp>
        <p:nvSpPr>
          <p:cNvPr id="14" name="Text 11"/>
          <p:cNvSpPr/>
          <p:nvPr/>
        </p:nvSpPr>
        <p:spPr>
          <a:xfrm>
            <a:off x="6446520" y="1993392"/>
            <a:ext cx="2194560" cy="4754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Climate — flood forecasting</a:t>
            </a:r>
            <a:endParaRPr lang="en-US" sz="1100" dirty="0"/>
          </a:p>
        </p:txBody>
      </p:sp>
      <p:sp>
        <p:nvSpPr>
          <p:cNvPr id="15" name="Shape 12"/>
          <p:cNvSpPr/>
          <p:nvPr/>
        </p:nvSpPr>
        <p:spPr>
          <a:xfrm>
            <a:off x="5943600" y="2560320"/>
            <a:ext cx="2743200" cy="475488"/>
          </a:xfrm>
          <a:prstGeom prst="roundRect">
            <a:avLst>
              <a:gd name="adj" fmla="val 17308"/>
            </a:avLst>
          </a:prstGeom>
          <a:solidFill>
            <a:srgbClr val="1E5A3F"/>
          </a:solidFill>
          <a:ln/>
        </p:spPr>
      </p:sp>
      <p:pic>
        <p:nvPicPr>
          <p:cNvPr id="16" name="Image 1" descr="preencoded.png">    </p:cNvPr>
          <p:cNvPicPr>
            <a:picLocks noChangeAspect="1"/>
          </p:cNvPicPr>
          <p:nvPr/>
        </p:nvPicPr>
        <p:blipFill>
          <a:blip r:embed="rId2"/>
          <a:stretch>
            <a:fillRect/>
          </a:stretch>
        </p:blipFill>
        <p:spPr>
          <a:xfrm>
            <a:off x="6089904" y="2670048"/>
            <a:ext cx="256032" cy="256032"/>
          </a:xfrm>
          <a:prstGeom prst="rect">
            <a:avLst/>
          </a:prstGeom>
        </p:spPr>
      </p:pic>
      <p:sp>
        <p:nvSpPr>
          <p:cNvPr id="17" name="Text 13"/>
          <p:cNvSpPr/>
          <p:nvPr/>
        </p:nvSpPr>
        <p:spPr>
          <a:xfrm>
            <a:off x="6446520" y="2560320"/>
            <a:ext cx="2194560" cy="4754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Agriculture — pest detection</a:t>
            </a:r>
            <a:endParaRPr lang="en-US" sz="1100" dirty="0"/>
          </a:p>
        </p:txBody>
      </p:sp>
      <p:sp>
        <p:nvSpPr>
          <p:cNvPr id="18" name="Shape 14"/>
          <p:cNvSpPr/>
          <p:nvPr/>
        </p:nvSpPr>
        <p:spPr>
          <a:xfrm>
            <a:off x="5943600" y="3127248"/>
            <a:ext cx="2743200" cy="475488"/>
          </a:xfrm>
          <a:prstGeom prst="roundRect">
            <a:avLst>
              <a:gd name="adj" fmla="val 17308"/>
            </a:avLst>
          </a:prstGeom>
          <a:solidFill>
            <a:srgbClr val="1E5A3F"/>
          </a:solidFill>
          <a:ln/>
        </p:spPr>
      </p:sp>
      <p:pic>
        <p:nvPicPr>
          <p:cNvPr id="19" name="Image 2" descr="preencoded.png">    </p:cNvPr>
          <p:cNvPicPr>
            <a:picLocks noChangeAspect="1"/>
          </p:cNvPicPr>
          <p:nvPr/>
        </p:nvPicPr>
        <p:blipFill>
          <a:blip r:embed="rId3"/>
          <a:stretch>
            <a:fillRect/>
          </a:stretch>
        </p:blipFill>
        <p:spPr>
          <a:xfrm>
            <a:off x="6089904" y="3236976"/>
            <a:ext cx="256032" cy="256032"/>
          </a:xfrm>
          <a:prstGeom prst="rect">
            <a:avLst/>
          </a:prstGeom>
        </p:spPr>
      </p:pic>
      <p:sp>
        <p:nvSpPr>
          <p:cNvPr id="20" name="Text 15"/>
          <p:cNvSpPr/>
          <p:nvPr/>
        </p:nvSpPr>
        <p:spPr>
          <a:xfrm>
            <a:off x="6446520" y="3127248"/>
            <a:ext cx="2194560" cy="4754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Health — malaria diagnosis</a:t>
            </a:r>
            <a:endParaRPr lang="en-US" sz="1100" dirty="0"/>
          </a:p>
        </p:txBody>
      </p:sp>
      <p:sp>
        <p:nvSpPr>
          <p:cNvPr id="21" name="Shape 16"/>
          <p:cNvSpPr/>
          <p:nvPr/>
        </p:nvSpPr>
        <p:spPr>
          <a:xfrm>
            <a:off x="5943600" y="3694176"/>
            <a:ext cx="2743200" cy="475488"/>
          </a:xfrm>
          <a:prstGeom prst="roundRect">
            <a:avLst>
              <a:gd name="adj" fmla="val 17308"/>
            </a:avLst>
          </a:prstGeom>
          <a:solidFill>
            <a:srgbClr val="1E5A3F"/>
          </a:solidFill>
          <a:ln/>
        </p:spPr>
      </p:sp>
      <p:pic>
        <p:nvPicPr>
          <p:cNvPr id="22" name="Image 3" descr="preencoded.png">    </p:cNvPr>
          <p:cNvPicPr>
            <a:picLocks noChangeAspect="1"/>
          </p:cNvPicPr>
          <p:nvPr/>
        </p:nvPicPr>
        <p:blipFill>
          <a:blip r:embed="rId4"/>
          <a:stretch>
            <a:fillRect/>
          </a:stretch>
        </p:blipFill>
        <p:spPr>
          <a:xfrm>
            <a:off x="6089904" y="3803904"/>
            <a:ext cx="256032" cy="256032"/>
          </a:xfrm>
          <a:prstGeom prst="rect">
            <a:avLst/>
          </a:prstGeom>
        </p:spPr>
      </p:pic>
      <p:sp>
        <p:nvSpPr>
          <p:cNvPr id="23" name="Text 17"/>
          <p:cNvSpPr/>
          <p:nvPr/>
        </p:nvSpPr>
        <p:spPr>
          <a:xfrm>
            <a:off x="6446520" y="3694176"/>
            <a:ext cx="2194560" cy="47548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NLP — local languages</a:t>
            </a:r>
            <a:endParaRPr lang="en-US" sz="1100" dirty="0"/>
          </a:p>
        </p:txBody>
      </p:sp>
      <p:sp>
        <p:nvSpPr>
          <p:cNvPr id="24" name="Text 18"/>
          <p:cNvSpPr/>
          <p:nvPr/>
        </p:nvSpPr>
        <p:spPr>
          <a:xfrm>
            <a:off x="502920" y="4343400"/>
            <a:ext cx="8138160" cy="457200"/>
          </a:xfrm>
          <a:prstGeom prst="rect">
            <a:avLst/>
          </a:prstGeom>
          <a:noFill/>
          <a:ln/>
        </p:spPr>
        <p:txBody>
          <a:bodyPr wrap="square" lIns="0" tIns="0" rIns="0" bIns="0" rtlCol="0" anchor="ctr"/>
          <a:lstStyle/>
          <a:p>
            <a:pPr indent="0" marL="0">
              <a:buNone/>
            </a:pPr>
            <a:r>
              <a:rPr lang="en-US" sz="1250" i="1" dirty="0">
                <a:solidFill>
                  <a:srgbClr val="9CBFA7"/>
                </a:solidFill>
                <a:latin typeface="Calibri" pitchFamily="34" charset="0"/>
                <a:ea typeface="Calibri" pitchFamily="34" charset="-122"/>
                <a:cs typeface="Calibri" pitchFamily="34" charset="-120"/>
              </a:rPr>
              <a:t>Solo or in pairs · write straight into your Overleaf copy · take the time you need · volunteers read theirs aloud for live feedback.</a:t>
            </a:r>
            <a:endParaRPr lang="en-US" sz="1250" dirty="0"/>
          </a:p>
        </p:txBody>
      </p:sp>
      <p:sp>
        <p:nvSpPr>
          <p:cNvPr id="25" name="Text 19"/>
          <p:cNvSpPr/>
          <p:nvPr/>
        </p:nvSpPr>
        <p:spPr>
          <a:xfrm>
            <a:off x="502920" y="4663440"/>
            <a:ext cx="8138160" cy="320040"/>
          </a:xfrm>
          <a:prstGeom prst="rect">
            <a:avLst/>
          </a:prstGeom>
          <a:noFill/>
          <a:ln/>
        </p:spPr>
        <p:txBody>
          <a:bodyPr wrap="square" lIns="0" tIns="0" rIns="0" bIns="0" rtlCol="0" anchor="ctr"/>
          <a:lstStyle/>
          <a:p>
            <a:pPr indent="0" marL="0">
              <a:buNone/>
            </a:pPr>
            <a:r>
              <a:rPr lang="en-US" sz="1250" b="1" dirty="0">
                <a:solidFill>
                  <a:srgbClr val="E9B44C"/>
                </a:solidFill>
                <a:latin typeface="Calibri" pitchFamily="34" charset="0"/>
                <a:ea typeface="Calibri" pitchFamily="34" charset="-122"/>
                <a:cs typeface="Calibri" pitchFamily="34" charset="-120"/>
              </a:rPr>
              <a:t>Judge yourself with one question: could a stranger fund this project after 3 sentences?</a:t>
            </a:r>
            <a:endParaRPr lang="en-US" sz="1250" dirty="0"/>
          </a:p>
        </p:txBody>
      </p:sp>
      <p:pic>
        <p:nvPicPr>
          <p:cNvPr id="149" name="QR kit" descr="img"/>
          <p:cNvPicPr>
            <a:picLocks noChangeAspect="1"/>
          </p:cNvPicPr>
          <p:nvPr/>
        </p:nvPicPr>
        <p:blipFill>
          <a:blip r:embed="rId7"/>
          <a:stretch>
            <a:fillRect/>
          </a:stretch>
        </p:blipFill>
        <p:spPr>
          <a:xfrm>
            <a:off x="7699248" y="4672584"/>
            <a:ext cx="402336" cy="402336"/>
          </a:xfrm>
          <a:prstGeom prst="rect">
            <a:avLst/>
          </a:prstGeom>
        </p:spPr>
      </p:pic>
      <p:sp>
        <p:nvSpPr>
          <p:cNvPr id="150"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E9B44C"/>
                </a:solidFill>
                <a:latin typeface="Calibri" pitchFamily="34" charset="0"/>
                <a:ea typeface="Calibri" pitchFamily="34" charset="-122"/>
                <a:cs typeface="Calibri" pitchFamily="34" charset="-120"/>
              </a:rPr>
              <a:t>Resource Kit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75488" cy="475488"/>
          </a:xfrm>
          <a:prstGeom prst="ellipse">
            <a:avLst/>
          </a:prstGeom>
          <a:solidFill>
            <a:srgbClr val="1E5A3F"/>
          </a:solidFill>
          <a:ln/>
        </p:spPr>
      </p:sp>
      <p:pic>
        <p:nvPicPr>
          <p:cNvPr id="3" name="Image 0" descr="preencoded.png">    </p:cNvPr>
          <p:cNvPicPr>
            <a:picLocks noChangeAspect="1"/>
          </p:cNvPicPr>
          <p:nvPr/>
        </p:nvPicPr>
        <p:blipFill>
          <a:blip r:embed="rId1"/>
          <a:stretch>
            <a:fillRect/>
          </a:stretch>
        </p:blipFill>
        <p:spPr>
          <a:xfrm>
            <a:off x="580827" y="507675"/>
            <a:ext cx="228234" cy="228234"/>
          </a:xfrm>
          <a:prstGeom prst="rect">
            <a:avLst/>
          </a:prstGeom>
        </p:spPr>
      </p:pic>
      <p:sp>
        <p:nvSpPr>
          <p:cNvPr id="4" name="Text 1"/>
          <p:cNvSpPr/>
          <p:nvPr/>
        </p:nvSpPr>
        <p:spPr>
          <a:xfrm>
            <a:off x="1051560" y="329184"/>
            <a:ext cx="6400800" cy="256032"/>
          </a:xfrm>
          <a:prstGeom prst="rect">
            <a:avLst/>
          </a:prstGeom>
          <a:noFill/>
          <a:ln/>
        </p:spPr>
        <p:txBody>
          <a:bodyPr wrap="square" lIns="0" tIns="0" rIns="0" bIns="0" rtlCol="0" anchor="ctr"/>
          <a:lstStyle/>
          <a:p>
            <a:pPr indent="0" marL="0">
              <a:buNone/>
            </a:pPr>
            <a:r>
              <a:rPr lang="en-US" sz="1100" b="1" spc="200" kern="0" dirty="0">
                <a:solidFill>
                  <a:srgbClr val="C9922F"/>
                </a:solidFill>
                <a:latin typeface="Calibri" pitchFamily="34" charset="0"/>
                <a:ea typeface="Calibri" pitchFamily="34" charset="-122"/>
                <a:cs typeface="Calibri" pitchFamily="34" charset="-120"/>
              </a:rPr>
              <a:t>PART 4 · RESOURCE KIT HANDOVER</a:t>
            </a:r>
            <a:endParaRPr lang="en-US" sz="1100" dirty="0"/>
          </a:p>
        </p:txBody>
      </p:sp>
      <p:sp>
        <p:nvSpPr>
          <p:cNvPr id="5" name="Text 2"/>
          <p:cNvSpPr/>
          <p:nvPr/>
        </p:nvSpPr>
        <p:spPr>
          <a:xfrm>
            <a:off x="1051560" y="548640"/>
            <a:ext cx="7498080" cy="502920"/>
          </a:xfrm>
          <a:prstGeom prst="rect">
            <a:avLst/>
          </a:prstGeom>
          <a:noFill/>
          <a:ln/>
        </p:spPr>
        <p:txBody>
          <a:bodyPr wrap="square" lIns="0" tIns="0" rIns="0" bIns="0" rtlCol="0" anchor="ctr"/>
          <a:lstStyle/>
          <a:p>
            <a:pPr indent="0" marL="0">
              <a:buNone/>
            </a:pPr>
            <a:r>
              <a:rPr lang="en-US" sz="2400" b="1" dirty="0">
                <a:solidFill>
                  <a:srgbClr val="12362A"/>
                </a:solidFill>
                <a:latin typeface="Cambria" pitchFamily="34" charset="0"/>
                <a:ea typeface="Cambria" pitchFamily="34" charset="-122"/>
                <a:cs typeface="Cambria" pitchFamily="34" charset="-120"/>
              </a:rPr>
              <a:t>Your Resource Kit — everything on one QR code</a:t>
            </a:r>
            <a:endParaRPr lang="en-US" sz="2400" dirty="0"/>
          </a:p>
        </p:txBody>
      </p:sp>
      <p:sp>
        <p:nvSpPr>
          <p:cNvPr id="6" name="Shape 3"/>
          <p:cNvSpPr/>
          <p:nvPr/>
        </p:nvSpPr>
        <p:spPr>
          <a:xfrm>
            <a:off x="502920" y="1417320"/>
            <a:ext cx="2971800" cy="1207008"/>
          </a:xfrm>
          <a:prstGeom prst="roundRect">
            <a:avLst>
              <a:gd name="adj" fmla="val 6818"/>
            </a:avLst>
          </a:prstGeom>
          <a:solidFill>
            <a:srgbClr val="EFF5F0"/>
          </a:solidFill>
          <a:ln/>
          <a:effectLst>
            <a:outerShdw sx="100000" sy="100000" kx="0" ky="0" algn="bl" rotWithShape="0" blurRad="88900" dist="25400" dir="2700000">
              <a:srgbClr val="000000">
                <a:alpha val="14000"/>
              </a:srgbClr>
            </a:outerShdw>
          </a:effectLst>
        </p:spPr>
      </p:sp>
      <p:sp>
        <p:nvSpPr>
          <p:cNvPr id="7" name="Shape 4"/>
          <p:cNvSpPr/>
          <p:nvPr/>
        </p:nvSpPr>
        <p:spPr>
          <a:xfrm>
            <a:off x="667512" y="1563624"/>
            <a:ext cx="384048" cy="384048"/>
          </a:xfrm>
          <a:prstGeom prst="ellipse">
            <a:avLst/>
          </a:prstGeom>
          <a:solidFill>
            <a:srgbClr val="1E5A3F"/>
          </a:solidFill>
          <a:ln/>
        </p:spPr>
      </p:sp>
      <p:sp>
        <p:nvSpPr>
          <p:cNvPr id="8" name="Text 5"/>
          <p:cNvSpPr/>
          <p:nvPr/>
        </p:nvSpPr>
        <p:spPr>
          <a:xfrm>
            <a:off x="667512"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6"/>
          <p:cNvSpPr/>
          <p:nvPr/>
        </p:nvSpPr>
        <p:spPr>
          <a:xfrm>
            <a:off x="1161288" y="1527048"/>
            <a:ext cx="2194560" cy="1024128"/>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Scientific Writing Checklist</a:t>
            </a:r>
            <a:endParaRPr lang="en-US" sz="1150" dirty="0"/>
          </a:p>
          <a:p>
            <a:pPr indent="0" marL="0">
              <a:buNone/>
            </a:pPr>
            <a:r>
              <a:rPr lang="en-US" sz="980" dirty="0">
                <a:solidFill>
                  <a:srgbClr val="5E6E66"/>
                </a:solidFill>
                <a:latin typeface="Calibri" pitchFamily="34" charset="0"/>
                <a:ea typeface="Calibri" pitchFamily="34" charset="-122"/>
                <a:cs typeface="Calibri" pitchFamily="34" charset="-120"/>
              </a:rPr>
              <a:t>step-by-step pre-submission guide covering all four blueprint steps</a:t>
            </a:r>
            <a:endParaRPr lang="en-US" sz="1150" dirty="0"/>
          </a:p>
        </p:txBody>
      </p:sp>
      <p:sp>
        <p:nvSpPr>
          <p:cNvPr id="10" name="Shape 7"/>
          <p:cNvSpPr/>
          <p:nvPr/>
        </p:nvSpPr>
        <p:spPr>
          <a:xfrm>
            <a:off x="3657600" y="1417320"/>
            <a:ext cx="2971800" cy="1207008"/>
          </a:xfrm>
          <a:prstGeom prst="roundRect">
            <a:avLst>
              <a:gd name="adj" fmla="val 6818"/>
            </a:avLst>
          </a:prstGeom>
          <a:solidFill>
            <a:srgbClr val="EFF5F0"/>
          </a:solidFill>
          <a:ln/>
          <a:effectLst>
            <a:outerShdw sx="100000" sy="100000" kx="0" ky="0" algn="bl" rotWithShape="0" blurRad="88900" dist="25400" dir="2700000">
              <a:srgbClr val="000000">
                <a:alpha val="14000"/>
              </a:srgbClr>
            </a:outerShdw>
          </a:effectLst>
        </p:spPr>
      </p:sp>
      <p:sp>
        <p:nvSpPr>
          <p:cNvPr id="11" name="Shape 8"/>
          <p:cNvSpPr/>
          <p:nvPr/>
        </p:nvSpPr>
        <p:spPr>
          <a:xfrm>
            <a:off x="3822192" y="1563624"/>
            <a:ext cx="384048" cy="384048"/>
          </a:xfrm>
          <a:prstGeom prst="ellipse">
            <a:avLst/>
          </a:prstGeom>
          <a:solidFill>
            <a:srgbClr val="1E5A3F"/>
          </a:solidFill>
          <a:ln/>
        </p:spPr>
      </p:sp>
      <p:sp>
        <p:nvSpPr>
          <p:cNvPr id="12" name="Text 9"/>
          <p:cNvSpPr/>
          <p:nvPr/>
        </p:nvSpPr>
        <p:spPr>
          <a:xfrm>
            <a:off x="3822192" y="1563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p:nvPr/>
        </p:nvSpPr>
        <p:spPr>
          <a:xfrm>
            <a:off x="4315968" y="1527048"/>
            <a:ext cx="2194560" cy="1024128"/>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LaTeX / Overleaf templates</a:t>
            </a:r>
            <a:endParaRPr lang="en-US" sz="1150" dirty="0"/>
          </a:p>
          <a:p>
            <a:pPr indent="0" marL="0">
              <a:buNone/>
            </a:pPr>
            <a:r>
              <a:rPr lang="en-US" sz="980" dirty="0">
                <a:solidFill>
                  <a:srgbClr val="5E6E66"/>
                </a:solidFill>
                <a:latin typeface="Calibri" pitchFamily="34" charset="0"/>
                <a:ea typeface="Calibri" pitchFamily="34" charset="-122"/>
                <a:cs typeface="Calibri" pitchFamily="34" charset="-120"/>
              </a:rPr>
              <a:t>pre-configured for NeurIPS, ICLR and major venues — start writing today</a:t>
            </a:r>
            <a:endParaRPr lang="en-US" sz="1150" dirty="0"/>
          </a:p>
        </p:txBody>
      </p:sp>
      <p:sp>
        <p:nvSpPr>
          <p:cNvPr id="14" name="Shape 11"/>
          <p:cNvSpPr/>
          <p:nvPr/>
        </p:nvSpPr>
        <p:spPr>
          <a:xfrm>
            <a:off x="502920" y="2788920"/>
            <a:ext cx="2971800" cy="1207008"/>
          </a:xfrm>
          <a:prstGeom prst="roundRect">
            <a:avLst>
              <a:gd name="adj" fmla="val 6818"/>
            </a:avLst>
          </a:prstGeom>
          <a:solidFill>
            <a:srgbClr val="EFF5F0"/>
          </a:solidFill>
          <a:ln/>
          <a:effectLst>
            <a:outerShdw sx="100000" sy="100000" kx="0" ky="0" algn="bl" rotWithShape="0" blurRad="88900" dist="25400" dir="2700000">
              <a:srgbClr val="000000">
                <a:alpha val="14000"/>
              </a:srgbClr>
            </a:outerShdw>
          </a:effectLst>
        </p:spPr>
      </p:sp>
      <p:sp>
        <p:nvSpPr>
          <p:cNvPr id="15" name="Shape 12"/>
          <p:cNvSpPr/>
          <p:nvPr/>
        </p:nvSpPr>
        <p:spPr>
          <a:xfrm>
            <a:off x="667512" y="2935224"/>
            <a:ext cx="384048" cy="384048"/>
          </a:xfrm>
          <a:prstGeom prst="ellipse">
            <a:avLst/>
          </a:prstGeom>
          <a:solidFill>
            <a:srgbClr val="1E5A3F"/>
          </a:solidFill>
          <a:ln/>
        </p:spPr>
      </p:sp>
      <p:sp>
        <p:nvSpPr>
          <p:cNvPr id="16" name="Text 13"/>
          <p:cNvSpPr/>
          <p:nvPr/>
        </p:nvSpPr>
        <p:spPr>
          <a:xfrm>
            <a:off x="667512" y="29352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p:nvPr/>
        </p:nvSpPr>
        <p:spPr>
          <a:xfrm>
            <a:off x="1161288" y="2898648"/>
            <a:ext cx="2194560" cy="1024128"/>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Curated annotated reading list</a:t>
            </a:r>
            <a:endParaRPr lang="en-US" sz="1150" dirty="0"/>
          </a:p>
          <a:p>
            <a:pPr indent="0" marL="0">
              <a:buNone/>
            </a:pPr>
            <a:r>
              <a:rPr lang="en-US" sz="980" dirty="0">
                <a:solidFill>
                  <a:srgbClr val="5E6E66"/>
                </a:solidFill>
                <a:latin typeface="Calibri" pitchFamily="34" charset="0"/>
                <a:ea typeface="Calibri" pitchFamily="34" charset="-122"/>
                <a:cs typeface="Calibri" pitchFamily="34" charset="-120"/>
              </a:rPr>
              <a:t>Keshav's 3-Pass paper, FAIR principles, writing guides, African AI venues</a:t>
            </a:r>
            <a:endParaRPr lang="en-US" sz="1150" dirty="0"/>
          </a:p>
        </p:txBody>
      </p:sp>
      <p:sp>
        <p:nvSpPr>
          <p:cNvPr id="18" name="Shape 15"/>
          <p:cNvSpPr/>
          <p:nvPr/>
        </p:nvSpPr>
        <p:spPr>
          <a:xfrm>
            <a:off x="3657600" y="2788920"/>
            <a:ext cx="2971800" cy="1207008"/>
          </a:xfrm>
          <a:prstGeom prst="roundRect">
            <a:avLst>
              <a:gd name="adj" fmla="val 6818"/>
            </a:avLst>
          </a:prstGeom>
          <a:solidFill>
            <a:srgbClr val="EFF5F0"/>
          </a:solidFill>
          <a:ln/>
          <a:effectLst>
            <a:outerShdw sx="100000" sy="100000" kx="0" ky="0" algn="bl" rotWithShape="0" blurRad="88900" dist="25400" dir="2700000">
              <a:srgbClr val="000000">
                <a:alpha val="14000"/>
              </a:srgbClr>
            </a:outerShdw>
          </a:effectLst>
        </p:spPr>
      </p:sp>
      <p:sp>
        <p:nvSpPr>
          <p:cNvPr id="19" name="Shape 16"/>
          <p:cNvSpPr/>
          <p:nvPr/>
        </p:nvSpPr>
        <p:spPr>
          <a:xfrm>
            <a:off x="3822192" y="2935224"/>
            <a:ext cx="384048" cy="384048"/>
          </a:xfrm>
          <a:prstGeom prst="ellipse">
            <a:avLst/>
          </a:prstGeom>
          <a:solidFill>
            <a:srgbClr val="1E5A3F"/>
          </a:solidFill>
          <a:ln/>
        </p:spPr>
      </p:sp>
      <p:sp>
        <p:nvSpPr>
          <p:cNvPr id="20" name="Text 17"/>
          <p:cNvSpPr/>
          <p:nvPr/>
        </p:nvSpPr>
        <p:spPr>
          <a:xfrm>
            <a:off x="3822192" y="29352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p:nvPr/>
        </p:nvSpPr>
        <p:spPr>
          <a:xfrm>
            <a:off x="4315968" y="2898648"/>
            <a:ext cx="2194560" cy="1024128"/>
          </a:xfrm>
          <a:prstGeom prst="rect">
            <a:avLst/>
          </a:prstGeom>
          <a:noFill/>
          <a:ln/>
        </p:spPr>
        <p:txBody>
          <a:bodyPr wrap="square" lIns="0" tIns="0" rIns="0" bIns="0" rtlCol="0" anchor="ctr"/>
          <a:lstStyle/>
          <a:p>
            <a:pPr indent="0" marL="0">
              <a:buNone/>
            </a:pPr>
            <a:r>
              <a:rPr lang="en-US" sz="1150" b="1" dirty="0">
                <a:solidFill>
                  <a:srgbClr val="12362A"/>
                </a:solidFill>
                <a:latin typeface="Calibri" pitchFamily="34" charset="0"/>
                <a:ea typeface="Calibri" pitchFamily="34" charset="-122"/>
                <a:cs typeface="Calibri" pitchFamily="34" charset="-120"/>
              </a:rPr>
              <a:t>Tools &amp; templates</a:t>
            </a:r>
            <a:endParaRPr lang="en-US" sz="1150" dirty="0"/>
          </a:p>
          <a:p>
            <a:pPr indent="0" marL="0">
              <a:buNone/>
            </a:pPr>
            <a:r>
              <a:rPr lang="en-US" sz="980" dirty="0">
                <a:solidFill>
                  <a:srgbClr val="5E6E66"/>
                </a:solidFill>
                <a:latin typeface="Calibri" pitchFamily="34" charset="0"/>
                <a:ea typeface="Calibri" pitchFamily="34" charset="-122"/>
                <a:cs typeface="Calibri" pitchFamily="34" charset="-120"/>
              </a:rPr>
              <a:t>Zotero/Mendeley guides, dataset-card template, reproducible-repo skeleton</a:t>
            </a:r>
            <a:endParaRPr lang="en-US" sz="1150" dirty="0"/>
          </a:p>
        </p:txBody>
      </p:sp>
      <p:sp>
        <p:nvSpPr>
          <p:cNvPr id="22" name="Shape 19"/>
          <p:cNvSpPr/>
          <p:nvPr/>
        </p:nvSpPr>
        <p:spPr>
          <a:xfrm>
            <a:off x="6949440" y="1417320"/>
            <a:ext cx="1737360" cy="2286000"/>
          </a:xfrm>
          <a:prstGeom prst="roundRect">
            <a:avLst>
              <a:gd name="adj" fmla="val 4737"/>
            </a:avLst>
          </a:prstGeom>
          <a:solidFill>
            <a:srgbClr val="FFFFFF"/>
          </a:solidFill>
          <a:ln w="19050">
            <a:solidFill>
              <a:srgbClr val="1E5A3F"/>
            </a:solidFill>
            <a:prstDash val="dash"/>
          </a:ln>
        </p:spPr>
      </p:sp>
      <p:pic>
        <p:nvPicPr>
          <p:cNvPr id="23" name="Image 1" descr="preencoded.png">    </p:cNvPr>
          <p:cNvPicPr>
            <a:picLocks noChangeAspect="1"/>
          </p:cNvPicPr>
          <p:nvPr/>
        </p:nvPicPr>
        <p:blipFill>
          <a:blip r:embed="rId6"/>
          <a:stretch>
            <a:fillRect/>
          </a:stretch>
        </p:blipFill>
        <p:spPr>
          <a:xfrm>
            <a:off x="7360920" y="1783080"/>
            <a:ext cx="914400" cy="914400"/>
          </a:xfrm>
          <a:prstGeom prst="rect">
            <a:avLst/>
          </a:prstGeom>
        </p:spPr>
      </p:pic>
      <p:sp>
        <p:nvSpPr>
          <p:cNvPr id="24" name="Text 20"/>
          <p:cNvSpPr/>
          <p:nvPr/>
        </p:nvSpPr>
        <p:spPr>
          <a:xfrm>
            <a:off x="6995160" y="2834640"/>
            <a:ext cx="1645920" cy="640080"/>
          </a:xfrm>
          <a:prstGeom prst="rect">
            <a:avLst/>
          </a:prstGeom>
          <a:noFill/>
          <a:ln/>
        </p:spPr>
        <p:txBody>
          <a:bodyPr wrap="square" lIns="0" tIns="0" rIns="0" bIns="0" rtlCol="0" anchor="ctr"/>
          <a:lstStyle/>
          <a:p>
            <a:pPr algn="ctr" indent="0" marL="0">
              <a:buNone/>
            </a:pPr>
            <a:r>
              <a:rPr lang="en-US" sz="1000" dirty="0">
                <a:solidFill>
                  <a:srgbClr val="5E6E66"/>
                </a:solidFill>
                <a:latin typeface="Calibri" pitchFamily="34" charset="0"/>
                <a:ea typeface="Calibri" pitchFamily="34" charset="-122"/>
                <a:cs typeface="Calibri" pitchFamily="34" charset="-120"/>
              </a:rPr>
              <a:t>Scan → GitHub repo</a:t>
            </a:r>
            <a:endParaRPr lang="en-US" sz="1000" dirty="0"/>
          </a:p>
          <a:p>
            <a:pPr algn="ctr" indent="0" marL="0">
              <a:buNone/>
            </a:pPr>
            <a:r>
              <a:rPr lang="en-US" sz="1000" dirty="0">
                <a:solidFill>
                  <a:srgbClr val="5E6E66"/>
                </a:solidFill>
                <a:latin typeface="Calibri" pitchFamily="34" charset="0"/>
                <a:ea typeface="Calibri" pitchFamily="34" charset="-122"/>
                <a:cs typeface="Calibri" pitchFamily="34" charset="-120"/>
              </a:rPr>
              <a:t>github.com/Castro2026/ DeepLearningIndaba2026-Scientific-Narrative-Academy</a:t>
            </a:r>
            <a:endParaRPr lang="en-US" sz="1000" dirty="0"/>
          </a:p>
        </p:txBody>
      </p:sp>
      <p:sp>
        <p:nvSpPr>
          <p:cNvPr id="25" name="Text 21"/>
          <p:cNvSpPr/>
          <p:nvPr/>
        </p:nvSpPr>
        <p:spPr>
          <a:xfrm>
            <a:off x="502920" y="4297680"/>
            <a:ext cx="8138160" cy="475488"/>
          </a:xfrm>
          <a:prstGeom prst="rect">
            <a:avLst/>
          </a:prstGeom>
          <a:noFill/>
          <a:ln/>
        </p:spPr>
        <p:txBody>
          <a:bodyPr wrap="square" lIns="0" tIns="0" rIns="0" bIns="0" rtlCol="0" anchor="ctr"/>
          <a:lstStyle/>
          <a:p>
            <a:pPr indent="0" marL="0">
              <a:buNone/>
            </a:pPr>
            <a:r>
              <a:rPr lang="en-US" sz="1200" i="1" dirty="0">
                <a:solidFill>
                  <a:srgbClr val="1E5A3F"/>
                </a:solidFill>
                <a:latin typeface="Calibri" pitchFamily="34" charset="0"/>
                <a:ea typeface="Calibri" pitchFamily="34" charset="-122"/>
                <a:cs typeface="Calibri" pitchFamily="34" charset="-120"/>
              </a:rPr>
              <a:t>Open the Overleaf template NOW — you will write your abstract straight into it. Printed backups and a short URL on the board for anyone without a smartphone.</a:t>
            </a:r>
            <a:endParaRPr lang="en-US" sz="1200" dirty="0"/>
          </a:p>
        </p:txBody>
      </p:sp>
      <p:sp>
        <p:nvSpPr>
          <p:cNvPr id="26" name="Text 22"/>
          <p:cNvSpPr/>
          <p:nvPr/>
        </p:nvSpPr>
        <p:spPr>
          <a:xfrm>
            <a:off x="457200" y="4846320"/>
            <a:ext cx="5943600" cy="228600"/>
          </a:xfrm>
          <a:prstGeom prst="rect">
            <a:avLst/>
          </a:prstGeom>
          <a:noFill/>
          <a:ln/>
        </p:spPr>
        <p:txBody>
          <a:bodyPr wrap="square" lIns="0" tIns="0" rIns="0" bIns="0" rtlCol="0" anchor="ctr"/>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endParaRPr lang="en-US" sz="850" dirty="0"/>
          </a:p>
        </p:txBody>
      </p:sp>
      <p:sp>
        <p:nvSpPr>
          <p:cNvPr id="27" name="Text 23"/>
          <p:cNvSpPr/>
          <p:nvPr/>
        </p:nvSpPr>
        <p:spPr>
          <a:xfrm>
            <a:off x="8503920" y="4846320"/>
            <a:ext cx="320040" cy="228600"/>
          </a:xfrm>
          <a:prstGeom prst="rect">
            <a:avLst/>
          </a:prstGeom>
          <a:noFill/>
          <a:ln/>
        </p:spPr>
        <p:txBody>
          <a:bodyPr wrap="square" lIns="0" tIns="0" rIns="0" bIns="0" rtlCol="0" anchor="ctr"/>
          <a:lstStyle/>
          <a:p>
            <a:pPr algn="r" indent="0" marL="0">
              <a:buNone/>
            </a:pPr>
            <a:r>
              <a:rPr lang="en-US" sz="850" dirty="0">
                <a:solidFill>
                  <a:srgbClr val="5E6E66"/>
                </a:solidFill>
                <a:latin typeface="Calibri" pitchFamily="34" charset="0"/>
                <a:ea typeface="Calibri" pitchFamily="34" charset="-122"/>
                <a:cs typeface="Calibri" pitchFamily="34" charset="-120"/>
              </a:rPr>
              <a:t>35</a:t>
            </a:r>
            <a:endParaRPr lang="en-US" sz="850" dirty="0"/>
          </a:p>
        </p:txBody>
      </p:sp>
      <p:pic>
        <p:nvPicPr>
          <p:cNvPr id="151" name="QR kit" descr="img"/>
          <p:cNvPicPr>
            <a:picLocks noChangeAspect="1"/>
          </p:cNvPicPr>
          <p:nvPr/>
        </p:nvPicPr>
        <p:blipFill>
          <a:blip r:embed="rId5"/>
          <a:stretch>
            <a:fillRect/>
          </a:stretch>
        </p:blipFill>
        <p:spPr>
          <a:xfrm>
            <a:off x="7699248" y="4672584"/>
            <a:ext cx="402336" cy="402336"/>
          </a:xfrm>
          <a:prstGeom prst="rect">
            <a:avLst/>
          </a:prstGeom>
        </p:spPr>
      </p:pic>
      <p:sp>
        <p:nvSpPr>
          <p:cNvPr id="15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362A"/>
        </a:solidFill>
      </p:bgPr>
    </p:bg>
    <p:spTree>
      <p:nvGrpSpPr>
        <p:cNvPr id="1" name=""/>
        <p:cNvGrpSpPr/>
        <p:nvPr/>
      </p:nvGrpSpPr>
      <p:grpSpPr>
        <a:xfrm>
          <a:off x="0" y="0"/>
          <a:ext cx="0" cy="0"/>
          <a:chOff x="0" y="0"/>
          <a:chExt cx="0" cy="0"/>
        </a:xfrm>
      </p:grpSpPr>
      <p:sp>
        <p:nvSpPr>
          <p:cNvPr id="2" name="Shape 0"/>
          <p:cNvSpPr/>
          <p:nvPr/>
        </p:nvSpPr>
        <p:spPr>
          <a:xfrm>
            <a:off x="8229600" y="457200"/>
            <a:ext cx="82296" cy="82296"/>
          </a:xfrm>
          <a:prstGeom prst="ellipse">
            <a:avLst/>
          </a:prstGeom>
          <a:solidFill>
            <a:srgbClr val="E9B44C">
              <a:alpha val="75000"/>
            </a:srgbClr>
          </a:solidFill>
          <a:ln/>
        </p:spPr>
      </p:sp>
      <p:sp>
        <p:nvSpPr>
          <p:cNvPr id="3" name="Shape 1"/>
          <p:cNvSpPr/>
          <p:nvPr/>
        </p:nvSpPr>
        <p:spPr>
          <a:xfrm>
            <a:off x="8595360" y="777240"/>
            <a:ext cx="118872" cy="118872"/>
          </a:xfrm>
          <a:prstGeom prst="ellipse">
            <a:avLst/>
          </a:prstGeom>
          <a:solidFill>
            <a:srgbClr val="E9B44C">
              <a:alpha val="75000"/>
            </a:srgbClr>
          </a:solidFill>
          <a:ln/>
        </p:spPr>
      </p:sp>
      <p:sp>
        <p:nvSpPr>
          <p:cNvPr id="4" name="Shape 2"/>
          <p:cNvSpPr/>
          <p:nvPr/>
        </p:nvSpPr>
        <p:spPr>
          <a:xfrm>
            <a:off x="8001000" y="914400"/>
            <a:ext cx="82296" cy="82296"/>
          </a:xfrm>
          <a:prstGeom prst="ellipse">
            <a:avLst/>
          </a:prstGeom>
          <a:solidFill>
            <a:srgbClr val="E9B44C">
              <a:alpha val="75000"/>
            </a:srgbClr>
          </a:solidFill>
          <a:ln/>
        </p:spPr>
      </p:sp>
      <p:sp>
        <p:nvSpPr>
          <p:cNvPr id="5" name="Shape 3"/>
          <p:cNvSpPr/>
          <p:nvPr/>
        </p:nvSpPr>
        <p:spPr>
          <a:xfrm>
            <a:off x="8549640" y="1234440"/>
            <a:ext cx="118872" cy="118872"/>
          </a:xfrm>
          <a:prstGeom prst="ellipse">
            <a:avLst/>
          </a:prstGeom>
          <a:solidFill>
            <a:srgbClr val="E9B44C">
              <a:alpha val="75000"/>
            </a:srgbClr>
          </a:solidFill>
          <a:ln/>
        </p:spPr>
      </p:sp>
      <p:pic>
        <p:nvPicPr>
          <p:cNvPr id="6" name="Image 0" descr="preencoded.png">    </p:cNvPr>
          <p:cNvPicPr>
            <a:picLocks noChangeAspect="1"/>
          </p:cNvPicPr>
          <p:nvPr/>
        </p:nvPicPr>
        <p:blipFill>
          <a:blip r:embed="rId1"/>
          <a:stretch>
            <a:fillRect/>
          </a:stretch>
        </p:blipFill>
        <p:spPr>
          <a:xfrm>
            <a:off x="502920" y="548640"/>
            <a:ext cx="548640" cy="548640"/>
          </a:xfrm>
          <a:prstGeom prst="rect">
            <a:avLst/>
          </a:prstGeom>
        </p:spPr>
      </p:pic>
      <p:sp>
        <p:nvSpPr>
          <p:cNvPr id="7" name="Text 4"/>
          <p:cNvSpPr/>
          <p:nvPr/>
        </p:nvSpPr>
        <p:spPr>
          <a:xfrm>
            <a:off x="502920" y="1280160"/>
            <a:ext cx="8138160" cy="128016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Master the scientific narrative —</a:t>
            </a:r>
            <a:endParaRPr lang="en-US" sz="3100" dirty="0"/>
          </a:p>
          <a:p>
            <a:pPr indent="0" marL="0">
              <a:buNone/>
            </a:pPr>
            <a:r>
              <a:rPr lang="en-US" sz="3100" b="1" dirty="0">
                <a:solidFill>
                  <a:srgbClr val="FFFFFF"/>
                </a:solidFill>
                <a:latin typeface="Cambria" pitchFamily="34" charset="0"/>
                <a:ea typeface="Cambria" pitchFamily="34" charset="-122"/>
                <a:cs typeface="Cambria" pitchFamily="34" charset="-120"/>
              </a:rPr>
              <a:t>so Africa tells its own research stories.</a:t>
            </a:r>
            <a:endParaRPr lang="en-US" sz="3100" dirty="0"/>
          </a:p>
        </p:txBody>
      </p:sp>
      <p:sp>
        <p:nvSpPr>
          <p:cNvPr id="8" name="Shape 5"/>
          <p:cNvSpPr/>
          <p:nvPr/>
        </p:nvSpPr>
        <p:spPr>
          <a:xfrm>
            <a:off x="502920" y="2743200"/>
            <a:ext cx="2651760" cy="868680"/>
          </a:xfrm>
          <a:prstGeom prst="roundRect">
            <a:avLst>
              <a:gd name="adj" fmla="val 9474"/>
            </a:avLst>
          </a:prstGeom>
          <a:solidFill>
            <a:srgbClr val="1B4A38"/>
          </a:solidFill>
          <a:ln/>
        </p:spPr>
      </p:sp>
      <p:sp>
        <p:nvSpPr>
          <p:cNvPr id="9" name="Text 6"/>
          <p:cNvSpPr/>
          <p:nvPr/>
        </p:nvSpPr>
        <p:spPr>
          <a:xfrm>
            <a:off x="685800" y="2743200"/>
            <a:ext cx="2377440" cy="868680"/>
          </a:xfrm>
          <a:prstGeom prst="rect">
            <a:avLst/>
          </a:prstGeom>
          <a:noFill/>
          <a:ln/>
        </p:spPr>
        <p:txBody>
          <a:bodyPr wrap="square" lIns="0" tIns="0" rIns="0" bIns="0" rtlCol="0" anchor="ctr"/>
          <a:lstStyle/>
          <a:p>
            <a:pPr indent="0" marL="0">
              <a:buNone/>
            </a:pPr>
            <a:r>
              <a:rPr lang="en-US" sz="1500" b="1" dirty="0">
                <a:solidFill>
                  <a:srgbClr val="E9B44C"/>
                </a:solidFill>
                <a:latin typeface="Calibri" pitchFamily="34" charset="0"/>
                <a:ea typeface="Calibri" pitchFamily="34" charset="-122"/>
                <a:cs typeface="Calibri" pitchFamily="34" charset="-120"/>
              </a:rPr>
              <a:t>Read  </a:t>
            </a:r>
            <a:pPr indent="0" marL="0">
              <a:buNone/>
            </a:pPr>
            <a:r>
              <a:rPr lang="en-US" sz="1100" dirty="0">
                <a:solidFill>
                  <a:srgbClr val="FFFFFF"/>
                </a:solidFill>
                <a:latin typeface="Calibri" pitchFamily="34" charset="0"/>
                <a:ea typeface="Calibri" pitchFamily="34" charset="-122"/>
                <a:cs typeface="Calibri" pitchFamily="34" charset="-120"/>
              </a:rPr>
              <a:t>3-Pass method — triage, grasp, reconstruct</a:t>
            </a:r>
            <a:endParaRPr lang="en-US" sz="1500" dirty="0"/>
          </a:p>
        </p:txBody>
      </p:sp>
      <p:sp>
        <p:nvSpPr>
          <p:cNvPr id="10" name="Shape 7"/>
          <p:cNvSpPr/>
          <p:nvPr/>
        </p:nvSpPr>
        <p:spPr>
          <a:xfrm>
            <a:off x="3337560" y="2743200"/>
            <a:ext cx="2651760" cy="868680"/>
          </a:xfrm>
          <a:prstGeom prst="roundRect">
            <a:avLst>
              <a:gd name="adj" fmla="val 9474"/>
            </a:avLst>
          </a:prstGeom>
          <a:solidFill>
            <a:srgbClr val="1B4A38"/>
          </a:solidFill>
          <a:ln/>
        </p:spPr>
      </p:sp>
      <p:sp>
        <p:nvSpPr>
          <p:cNvPr id="11" name="Text 8"/>
          <p:cNvSpPr/>
          <p:nvPr/>
        </p:nvSpPr>
        <p:spPr>
          <a:xfrm>
            <a:off x="3520440" y="2743200"/>
            <a:ext cx="2377440" cy="868680"/>
          </a:xfrm>
          <a:prstGeom prst="rect">
            <a:avLst/>
          </a:prstGeom>
          <a:noFill/>
          <a:ln/>
        </p:spPr>
        <p:txBody>
          <a:bodyPr wrap="square" lIns="0" tIns="0" rIns="0" bIns="0" rtlCol="0" anchor="ctr"/>
          <a:lstStyle/>
          <a:p>
            <a:pPr indent="0" marL="0">
              <a:buNone/>
            </a:pPr>
            <a:r>
              <a:rPr lang="en-US" sz="1500" b="1" dirty="0">
                <a:solidFill>
                  <a:srgbClr val="E9B44C"/>
                </a:solidFill>
                <a:latin typeface="Calibri" pitchFamily="34" charset="0"/>
                <a:ea typeface="Calibri" pitchFamily="34" charset="-122"/>
                <a:cs typeface="Calibri" pitchFamily="34" charset="-120"/>
              </a:rPr>
              <a:t>Write  </a:t>
            </a:r>
            <a:pPr indent="0" marL="0">
              <a:buNone/>
            </a:pPr>
            <a:r>
              <a:rPr lang="en-US" sz="1100" dirty="0">
                <a:solidFill>
                  <a:srgbClr val="FFFFFF"/>
                </a:solidFill>
                <a:latin typeface="Calibri" pitchFamily="34" charset="0"/>
                <a:ea typeface="Calibri" pitchFamily="34" charset="-122"/>
                <a:cs typeface="Calibri" pitchFamily="34" charset="-120"/>
              </a:rPr>
              <a:t>Frame · Core · Impact · Honesty</a:t>
            </a:r>
            <a:endParaRPr lang="en-US" sz="1500" dirty="0"/>
          </a:p>
        </p:txBody>
      </p:sp>
      <p:sp>
        <p:nvSpPr>
          <p:cNvPr id="12" name="Shape 9"/>
          <p:cNvSpPr/>
          <p:nvPr/>
        </p:nvSpPr>
        <p:spPr>
          <a:xfrm>
            <a:off x="6172200" y="2743200"/>
            <a:ext cx="2468880" cy="868680"/>
          </a:xfrm>
          <a:prstGeom prst="roundRect">
            <a:avLst>
              <a:gd name="adj" fmla="val 9474"/>
            </a:avLst>
          </a:prstGeom>
          <a:solidFill>
            <a:srgbClr val="C9922F"/>
          </a:solidFill>
          <a:ln/>
        </p:spPr>
      </p:sp>
      <p:sp>
        <p:nvSpPr>
          <p:cNvPr id="13" name="Text 10"/>
          <p:cNvSpPr/>
          <p:nvPr/>
        </p:nvSpPr>
        <p:spPr>
          <a:xfrm>
            <a:off x="6355080" y="2816352"/>
            <a:ext cx="214884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challenge  </a:t>
            </a:r>
            <a:endParaRPr lang="en-US" sz="1300" dirty="0"/>
          </a:p>
          <a:p>
            <a:pPr indent="0" marL="0">
              <a:buNone/>
            </a:pPr>
            <a:r>
              <a:rPr lang="en-US" sz="1150" dirty="0">
                <a:solidFill>
                  <a:srgbClr val="FFFFFF"/>
                </a:solidFill>
                <a:latin typeface="Calibri" pitchFamily="34" charset="0"/>
                <a:ea typeface="Calibri" pitchFamily="34" charset="-122"/>
                <a:cs typeface="Calibri" pitchFamily="34" charset="-120"/>
              </a:rPr>
              <a:t>Your first submitted paper within 6 months.</a:t>
            </a:r>
            <a:endParaRPr lang="en-US" sz="1300" dirty="0"/>
          </a:p>
        </p:txBody>
      </p:sp>
      <p:sp>
        <p:nvSpPr>
          <p:cNvPr id="14" name="Shape 11"/>
          <p:cNvSpPr/>
          <p:nvPr/>
        </p:nvSpPr>
        <p:spPr>
          <a:xfrm>
            <a:off x="530352" y="3931920"/>
            <a:ext cx="2926080" cy="0"/>
          </a:xfrm>
          <a:prstGeom prst="line">
            <a:avLst/>
          </a:prstGeom>
          <a:noFill/>
          <a:ln w="19050">
            <a:solidFill>
              <a:srgbClr val="E9B44C"/>
            </a:solidFill>
            <a:prstDash val="solid"/>
          </a:ln>
        </p:spPr>
      </p:sp>
      <p:sp>
        <p:nvSpPr>
          <p:cNvPr id="15" name="Text 12"/>
          <p:cNvSpPr/>
          <p:nvPr/>
        </p:nvSpPr>
        <p:spPr>
          <a:xfrm>
            <a:off x="502920" y="4069080"/>
            <a:ext cx="8138160" cy="320040"/>
          </a:xfrm>
          <a:prstGeom prst="rect">
            <a:avLst/>
          </a:prstGeom>
          <a:noFill/>
          <a:ln/>
        </p:spPr>
        <p:txBody>
          <a:bodyPr wrap="square" lIns="0" tIns="0" rIns="0" bIns="0" rtlCol="0" anchor="ctr"/>
          <a:lstStyle/>
          <a:p>
            <a:pPr indent="0" marL="0">
              <a:buNone/>
            </a:pPr>
            <a:r>
              <a:rPr lang="en-US" sz="1400" b="1" dirty="0">
                <a:solidFill>
                  <a:srgbClr val="9CBFA7"/>
                </a:solidFill>
                <a:latin typeface="Calibri" pitchFamily="34" charset="0"/>
                <a:ea typeface="Calibri" pitchFamily="34" charset="-122"/>
                <a:cs typeface="Calibri" pitchFamily="34" charset="-120"/>
              </a:rPr>
              <a:t>Thank you — stay in touch for mentoring &amp; follow-up</a:t>
            </a:r>
            <a:endParaRPr lang="en-US" sz="1400" dirty="0"/>
          </a:p>
        </p:txBody>
      </p:sp>
      <p:pic>
        <p:nvPicPr>
          <p:cNvPr id="16" name="Image 1" descr="preencoded.png">    </p:cNvPr>
          <p:cNvPicPr>
            <a:picLocks noChangeAspect="1"/>
          </p:cNvPicPr>
          <p:nvPr/>
        </p:nvPicPr>
        <p:blipFill>
          <a:blip r:embed="rId2"/>
          <a:stretch>
            <a:fillRect/>
          </a:stretch>
        </p:blipFill>
        <p:spPr>
          <a:xfrm>
            <a:off x="502920" y="4480560"/>
            <a:ext cx="256032" cy="256032"/>
          </a:xfrm>
          <a:prstGeom prst="rect">
            <a:avLst/>
          </a:prstGeom>
        </p:spPr>
      </p:pic>
      <p:sp>
        <p:nvSpPr>
          <p:cNvPr id="17" name="Text 13"/>
          <p:cNvSpPr/>
          <p:nvPr/>
        </p:nvSpPr>
        <p:spPr>
          <a:xfrm>
            <a:off x="868680" y="4462272"/>
            <a:ext cx="3840480" cy="29260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castro.hounmenou@univ-labe.edu.gn</a:t>
            </a:r>
            <a:endParaRPr lang="en-US" sz="1250" dirty="0"/>
          </a:p>
        </p:txBody>
      </p:sp>
      <p:pic>
        <p:nvPicPr>
          <p:cNvPr id="18" name="Image 2" descr="preencoded.png">    </p:cNvPr>
          <p:cNvPicPr>
            <a:picLocks noChangeAspect="1"/>
          </p:cNvPicPr>
          <p:nvPr/>
        </p:nvPicPr>
        <p:blipFill>
          <a:blip r:embed="rId3"/>
          <a:stretch>
            <a:fillRect/>
          </a:stretch>
        </p:blipFill>
        <p:spPr>
          <a:xfrm>
            <a:off x="4846320" y="4480560"/>
            <a:ext cx="237744" cy="237744"/>
          </a:xfrm>
          <a:prstGeom prst="rect">
            <a:avLst/>
          </a:prstGeom>
        </p:spPr>
      </p:pic>
      <p:sp>
        <p:nvSpPr>
          <p:cNvPr id="19" name="Text 14"/>
          <p:cNvSpPr/>
          <p:nvPr/>
        </p:nvSpPr>
        <p:spPr>
          <a:xfrm>
            <a:off x="5193792" y="4462272"/>
            <a:ext cx="3566160" cy="29260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+224 627 812 787  ·  +229 01 95 30 66 12</a:t>
            </a:r>
            <a:endParaRPr lang="en-US" sz="1250" dirty="0"/>
          </a:p>
        </p:txBody>
      </p:sp>
      <p:pic>
        <p:nvPicPr>
          <p:cNvPr id="153" name="QR kit" descr="img"/>
          <p:cNvPicPr>
            <a:picLocks noChangeAspect="1"/>
          </p:cNvPicPr>
          <p:nvPr/>
        </p:nvPicPr>
        <p:blipFill>
          <a:blip r:embed="rId6"/>
          <a:stretch>
            <a:fillRect/>
          </a:stretch>
        </p:blipFill>
        <p:spPr>
          <a:xfrm>
            <a:off x="7699248" y="4672584"/>
            <a:ext cx="402336" cy="402336"/>
          </a:xfrm>
          <a:prstGeom prst="rect">
            <a:avLst/>
          </a:prstGeom>
        </p:spPr>
      </p:pic>
      <p:sp>
        <p:nvSpPr>
          <p:cNvPr id="154"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E9B44C"/>
                </a:solidFill>
                <a:latin typeface="Calibri" pitchFamily="34" charset="0"/>
                <a:ea typeface="Calibri" pitchFamily="34" charset="-122"/>
                <a:cs typeface="Calibri" pitchFamily="34" charset="-120"/>
              </a:rPr>
              <a:t>Resource Kit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bio">
    <p:spTree>
      <p:nvGrpSpPr>
        <p:cNvPr id="1" name=""/>
        <p:cNvGrpSpPr/>
        <p:nvPr/>
      </p:nvGrpSpPr>
      <p:grpSpPr>
        <a:xfrm>
          <a:off x="0" y="0"/>
          <a:ext cx="0" cy="0"/>
          <a:chOff x="0" y="0"/>
          <a:chExt cx="0" cy="0"/>
        </a:xfrm>
      </p:grpSpPr>
      <p:sp>
        <p:nvSpPr>
          <p:cNvPr id="101" name="Circle"/>
          <p:cNvSpPr/>
          <p:nvPr/>
        </p:nvSpPr>
        <p:spPr>
          <a:xfrm>
            <a:off x="457200" y="384048"/>
            <a:ext cx="475488" cy="475488"/>
          </a:xfrm>
          <a:prstGeom prst="ellipse">
            <a:avLst/>
          </a:prstGeom>
          <a:solidFill>
            <a:srgbClr val="1E5A3F"/>
          </a:solidFill>
          <a:ln>
            <a:noFill/>
          </a:ln>
        </p:spPr>
        <p:txBody>
          <a:bodyPr/>
          <a:lstStyle/>
          <a:p/>
        </p:txBody>
      </p:sp>
      <p:sp>
        <p:nvSpPr>
          <p:cNvPr id="102" name="Text"/>
          <p:cNvSpPr/>
          <p:nvPr/>
        </p:nvSpPr>
        <p:spPr>
          <a:xfrm>
            <a:off x="1051560" y="329184"/>
            <a:ext cx="6400800" cy="256032"/>
          </a:xfrm>
          <a:prstGeom prst="rect">
            <a:avLst/>
          </a:prstGeom>
          <a:noFill/>
          <a:ln/>
        </p:spPr>
        <p:txBody>
          <a:bodyPr wrap="square" lIns="0" tIns="0" rIns="0" bIns="0" rtlCol="0" anchor="t"/>
          <a:lstStyle/>
          <a:p>
            <a:pPr indent="0" marL="0">
              <a:buNone/>
            </a:pPr>
            <a:r>
              <a:rPr lang="en-US" sz="1100" b="1" spc="200" dirty="0">
                <a:solidFill>
                  <a:srgbClr val="C9922F"/>
                </a:solidFill>
                <a:latin typeface="Calibri" pitchFamily="34" charset="0"/>
                <a:ea typeface="Calibri" pitchFamily="34" charset="-122"/>
                <a:cs typeface="Calibri" pitchFamily="34" charset="-120"/>
              </a:rPr>
              <a:t>YOUR FACILITATOR</a:t>
            </a:r>
          </a:p>
        </p:txBody>
      </p:sp>
      <p:sp>
        <p:nvSpPr>
          <p:cNvPr id="103" name="Text"/>
          <p:cNvSpPr/>
          <p:nvPr/>
        </p:nvSpPr>
        <p:spPr>
          <a:xfrm>
            <a:off x="1051560" y="548640"/>
            <a:ext cx="7315200" cy="502920"/>
          </a:xfrm>
          <a:prstGeom prst="rect">
            <a:avLst/>
          </a:prstGeom>
          <a:noFill/>
          <a:ln/>
        </p:spPr>
        <p:txBody>
          <a:bodyPr wrap="square" lIns="0" tIns="0" rIns="0" bIns="0" rtlCol="0" anchor="t"/>
          <a:lstStyle/>
          <a:p>
            <a:pPr indent="0" marL="0">
              <a:buNone/>
            </a:pPr>
            <a:r>
              <a:rPr lang="en-US" sz="2500" b="1" dirty="0">
                <a:solidFill>
                  <a:srgbClr val="12362A"/>
                </a:solidFill>
                <a:latin typeface="Cambria" pitchFamily="34" charset="0"/>
                <a:ea typeface="Cambria" pitchFamily="34" charset="-122"/>
                <a:cs typeface="Cambria" pitchFamily="34" charset="-120"/>
              </a:rPr>
              <a:t>Who is standing in front of you?</a:t>
            </a:r>
          </a:p>
        </p:txBody>
      </p:sp>
      <p:pic>
        <p:nvPicPr>
          <p:cNvPr id="104" name="Facilitator photo" descr="img"/>
          <p:cNvPicPr>
            <a:picLocks noChangeAspect="1"/>
          </p:cNvPicPr>
          <p:nvPr/>
        </p:nvPicPr>
        <p:blipFill>
          <a:blip r:embed="rId4"/>
          <a:stretch>
            <a:fillRect/>
          </a:stretch>
        </p:blipFill>
        <p:spPr>
          <a:xfrm>
            <a:off x="502920" y="1261872"/>
            <a:ext cx="2103120" cy="2103120"/>
          </a:xfrm>
          <a:prstGeom prst="rect">
            <a:avLst/>
          </a:prstGeom>
        </p:spPr>
      </p:pic>
      <p:sp>
        <p:nvSpPr>
          <p:cNvPr id="105" name="Text"/>
          <p:cNvSpPr/>
          <p:nvPr/>
        </p:nvSpPr>
        <p:spPr>
          <a:xfrm>
            <a:off x="502920" y="3438144"/>
            <a:ext cx="2103120" cy="237744"/>
          </a:xfrm>
          <a:prstGeom prst="rect">
            <a:avLst/>
          </a:prstGeom>
          <a:noFill/>
          <a:ln/>
        </p:spPr>
        <p:txBody>
          <a:bodyPr wrap="square" lIns="0" tIns="0" rIns="0" bIns="0" rtlCol="0" anchor="t"/>
          <a:lstStyle/>
          <a:p>
            <a:pPr indent="0" marL="0" algn="ctr">
              <a:buNone/>
            </a:pPr>
            <a:r>
              <a:rPr lang="en-US" sz="1050" b="1" dirty="0">
                <a:solidFill>
                  <a:srgbClr val="12362A"/>
                </a:solidFill>
                <a:latin typeface="Calibri" pitchFamily="34" charset="0"/>
                <a:ea typeface="Calibri" pitchFamily="34" charset="-122"/>
                <a:cs typeface="Calibri" pitchFamily="34" charset="-120"/>
              </a:rPr>
              <a:t>Dr. Ing. Castro G. Hounmenou</a:t>
            </a:r>
          </a:p>
        </p:txBody>
      </p:sp>
      <p:sp>
        <p:nvSpPr>
          <p:cNvPr id="106" name="Text"/>
          <p:cNvSpPr/>
          <p:nvPr/>
        </p:nvSpPr>
        <p:spPr>
          <a:xfrm>
            <a:off x="502920" y="3694176"/>
            <a:ext cx="2103120" cy="457200"/>
          </a:xfrm>
          <a:prstGeom prst="rect">
            <a:avLst/>
          </a:prstGeom>
          <a:noFill/>
          <a:ln/>
        </p:spPr>
        <p:txBody>
          <a:bodyPr wrap="square" lIns="0" tIns="0" rIns="0" bIns="0" rtlCol="0" anchor="t"/>
          <a:lstStyle/>
          <a:p>
            <a:pPr indent="0" marL="0" algn="ctr">
              <a:buNone/>
            </a:pPr>
            <a:r>
              <a:rPr lang="en-US" sz="900" dirty="0">
                <a:solidFill>
                  <a:srgbClr val="5E6E66"/>
                </a:solidFill>
                <a:latin typeface="Calibri" pitchFamily="34" charset="0"/>
                <a:ea typeface="Calibri" pitchFamily="34" charset="-122"/>
                <a:cs typeface="Calibri" pitchFamily="34" charset="-120"/>
              </a:rPr>
              <a:t>Assistant Professor of AI, Université de Labé · Post-doc, CERFIG</a:t>
            </a:r>
          </a:p>
        </p:txBody>
      </p:sp>
      <p:sp>
        <p:nvSpPr>
          <p:cNvPr id="107" name="Shape"/>
          <p:cNvSpPr/>
          <p:nvPr/>
        </p:nvSpPr>
        <p:spPr>
          <a:xfrm>
            <a:off x="2880360" y="1261872"/>
            <a:ext cx="2880360" cy="1389888"/>
          </a:xfrm>
          <a:prstGeom prst="roundRect">
            <a:avLst>
              <a:gd name="adj" fmla="val 3830"/>
            </a:avLst>
          </a:prstGeom>
          <a:solidFill>
            <a:srgbClr val="EFF5F0"/>
          </a:solidFill>
          <a:ln>
            <a:noFill/>
          </a:ln>
        </p:spPr>
        <p:txBody>
          <a:bodyPr/>
          <a:lstStyle/>
          <a:p/>
        </p:txBody>
      </p:sp>
      <p:sp>
        <p:nvSpPr>
          <p:cNvPr id="108" name="Circle"/>
          <p:cNvSpPr/>
          <p:nvPr/>
        </p:nvSpPr>
        <p:spPr>
          <a:xfrm>
            <a:off x="3044952" y="1408176"/>
            <a:ext cx="256032" cy="256032"/>
          </a:xfrm>
          <a:prstGeom prst="ellipse">
            <a:avLst/>
          </a:prstGeom>
          <a:solidFill>
            <a:srgbClr val="1E5A3F"/>
          </a:solidFill>
          <a:ln>
            <a:noFill/>
          </a:ln>
        </p:spPr>
        <p:txBody>
          <a:bodyPr/>
          <a:lstStyle/>
          <a:p/>
        </p:txBody>
      </p:sp>
      <p:sp>
        <p:nvSpPr>
          <p:cNvPr id="109" name="Text"/>
          <p:cNvSpPr/>
          <p:nvPr/>
        </p:nvSpPr>
        <p:spPr>
          <a:xfrm>
            <a:off x="3044952" y="1408176"/>
            <a:ext cx="256032" cy="256032"/>
          </a:xfrm>
          <a:prstGeom prst="rect">
            <a:avLst/>
          </a:prstGeom>
          <a:noFill/>
          <a:ln/>
        </p:spPr>
        <p:txBody>
          <a:bodyPr wrap="square" lIns="0" tIns="0" rIns="0" bIns="0" rtlCol="0" anchor="ctr"/>
          <a:lstStyle/>
          <a:p>
            <a:pPr indent="0" marL="0" algn="ctr">
              <a:buNone/>
            </a:pPr>
            <a:r>
              <a:rPr lang="en-US" sz="900" b="1" dirty="0">
                <a:solidFill>
                  <a:srgbClr val="E9B44C"/>
                </a:solidFill>
                <a:latin typeface="Calibri" pitchFamily="34" charset="0"/>
                <a:ea typeface="Calibri" pitchFamily="34" charset="-122"/>
                <a:cs typeface="Calibri" pitchFamily="34" charset="-120"/>
              </a:rPr>
              <a:t>★</a:t>
            </a:r>
          </a:p>
        </p:txBody>
      </p:sp>
      <p:sp>
        <p:nvSpPr>
          <p:cNvPr id="110" name="Text"/>
          <p:cNvSpPr/>
          <p:nvPr/>
        </p:nvSpPr>
        <p:spPr>
          <a:xfrm>
            <a:off x="3392424" y="1399032"/>
            <a:ext cx="2221992" cy="274320"/>
          </a:xfrm>
          <a:prstGeom prst="rect">
            <a:avLst/>
          </a:prstGeom>
          <a:noFill/>
          <a:ln/>
        </p:spPr>
        <p:txBody>
          <a:bodyPr wrap="square" lIns="0" tIns="0" rIns="0" bIns="0" rtlCol="0" anchor="t"/>
          <a:lstStyle/>
          <a:p>
            <a:pPr indent="0" marL="0">
              <a:buNone/>
            </a:pPr>
            <a:r>
              <a:rPr lang="en-US" sz="1100" b="1" dirty="0">
                <a:solidFill>
                  <a:srgbClr val="12362A"/>
                </a:solidFill>
                <a:latin typeface="Calibri" pitchFamily="34" charset="0"/>
                <a:ea typeface="Calibri" pitchFamily="34" charset="-122"/>
                <a:cs typeface="Calibri" pitchFamily="34" charset="-120"/>
              </a:rPr>
              <a:t>PhD, Statistics–Probability</a:t>
            </a:r>
          </a:p>
        </p:txBody>
      </p:sp>
      <p:sp>
        <p:nvSpPr>
          <p:cNvPr id="111" name="Text"/>
          <p:cNvSpPr/>
          <p:nvPr/>
        </p:nvSpPr>
        <p:spPr>
          <a:xfrm>
            <a:off x="3044952" y="1755648"/>
            <a:ext cx="2551176" cy="768096"/>
          </a:xfrm>
          <a:prstGeom prst="rect">
            <a:avLst/>
          </a:prstGeom>
          <a:noFill/>
          <a:ln/>
        </p:spPr>
        <p:txBody>
          <a:bodyPr wrap="square" lIns="0" tIns="0" rIns="0" bIns="0" rtlCol="0" anchor="t"/>
          <a:lstStyle/>
          <a:p>
            <a:pPr indent="0" marL="0">
              <a:buNone/>
            </a:pPr>
            <a:r>
              <a:rPr lang="en-US" sz="900" dirty="0">
                <a:solidFill>
                  <a:srgbClr val="23312B"/>
                </a:solidFill>
                <a:latin typeface="Calibri" pitchFamily="34" charset="0"/>
                <a:ea typeface="Calibri" pitchFamily="34" charset="-122"/>
                <a:cs typeface="Calibri" pitchFamily="34" charset="-120"/>
              </a:rPr>
              <a:t>Machine Learning &amp; Data Mining. 15+ years leading data-collection and statistical analysis projects across West Africa.</a:t>
            </a:r>
          </a:p>
        </p:txBody>
      </p:sp>
      <p:sp>
        <p:nvSpPr>
          <p:cNvPr id="112" name="Shape"/>
          <p:cNvSpPr/>
          <p:nvPr/>
        </p:nvSpPr>
        <p:spPr>
          <a:xfrm>
            <a:off x="5943600" y="1261872"/>
            <a:ext cx="2880360" cy="1389888"/>
          </a:xfrm>
          <a:prstGeom prst="roundRect">
            <a:avLst>
              <a:gd name="adj" fmla="val 3830"/>
            </a:avLst>
          </a:prstGeom>
          <a:solidFill>
            <a:srgbClr val="EFF5F0"/>
          </a:solidFill>
          <a:ln>
            <a:noFill/>
          </a:ln>
        </p:spPr>
        <p:txBody>
          <a:bodyPr/>
          <a:lstStyle/>
          <a:p/>
        </p:txBody>
      </p:sp>
      <p:sp>
        <p:nvSpPr>
          <p:cNvPr id="113" name="Circle"/>
          <p:cNvSpPr/>
          <p:nvPr/>
        </p:nvSpPr>
        <p:spPr>
          <a:xfrm>
            <a:off x="6108192" y="1408176"/>
            <a:ext cx="256032" cy="256032"/>
          </a:xfrm>
          <a:prstGeom prst="ellipse">
            <a:avLst/>
          </a:prstGeom>
          <a:solidFill>
            <a:srgbClr val="1E5A3F"/>
          </a:solidFill>
          <a:ln>
            <a:noFill/>
          </a:ln>
        </p:spPr>
        <p:txBody>
          <a:bodyPr/>
          <a:lstStyle/>
          <a:p/>
        </p:txBody>
      </p:sp>
      <p:sp>
        <p:nvSpPr>
          <p:cNvPr id="114" name="Text"/>
          <p:cNvSpPr/>
          <p:nvPr/>
        </p:nvSpPr>
        <p:spPr>
          <a:xfrm>
            <a:off x="6108192" y="1408176"/>
            <a:ext cx="256032" cy="256032"/>
          </a:xfrm>
          <a:prstGeom prst="rect">
            <a:avLst/>
          </a:prstGeom>
          <a:noFill/>
          <a:ln/>
        </p:spPr>
        <p:txBody>
          <a:bodyPr wrap="square" lIns="0" tIns="0" rIns="0" bIns="0" rtlCol="0" anchor="ctr"/>
          <a:lstStyle/>
          <a:p>
            <a:pPr indent="0" marL="0" algn="ctr">
              <a:buNone/>
            </a:pPr>
            <a:r>
              <a:rPr lang="en-US" sz="900" b="1" dirty="0">
                <a:solidFill>
                  <a:srgbClr val="E9B44C"/>
                </a:solidFill>
                <a:latin typeface="Calibri" pitchFamily="34" charset="0"/>
                <a:ea typeface="Calibri" pitchFamily="34" charset="-122"/>
                <a:cs typeface="Calibri" pitchFamily="34" charset="-120"/>
              </a:rPr>
              <a:t>★</a:t>
            </a:r>
          </a:p>
        </p:txBody>
      </p:sp>
      <p:sp>
        <p:nvSpPr>
          <p:cNvPr id="115" name="Text"/>
          <p:cNvSpPr/>
          <p:nvPr/>
        </p:nvSpPr>
        <p:spPr>
          <a:xfrm>
            <a:off x="6455664" y="1399032"/>
            <a:ext cx="2221992" cy="274320"/>
          </a:xfrm>
          <a:prstGeom prst="rect">
            <a:avLst/>
          </a:prstGeom>
          <a:noFill/>
          <a:ln/>
        </p:spPr>
        <p:txBody>
          <a:bodyPr wrap="square" lIns="0" tIns="0" rIns="0" bIns="0" rtlCol="0" anchor="t"/>
          <a:lstStyle/>
          <a:p>
            <a:pPr indent="0" marL="0">
              <a:buNone/>
            </a:pPr>
            <a:r>
              <a:rPr lang="en-US" sz="1100" b="1" dirty="0">
                <a:solidFill>
                  <a:srgbClr val="12362A"/>
                </a:solidFill>
                <a:latin typeface="Calibri" pitchFamily="34" charset="0"/>
                <a:ea typeface="Calibri" pitchFamily="34" charset="-122"/>
                <a:cs typeface="Calibri" pitchFamily="34" charset="-120"/>
              </a:rPr>
              <a:t>50+ indexed publications</a:t>
            </a:r>
          </a:p>
        </p:txBody>
      </p:sp>
      <p:sp>
        <p:nvSpPr>
          <p:cNvPr id="116" name="Text"/>
          <p:cNvSpPr/>
          <p:nvPr/>
        </p:nvSpPr>
        <p:spPr>
          <a:xfrm>
            <a:off x="6108192" y="1755648"/>
            <a:ext cx="2551176" cy="768096"/>
          </a:xfrm>
          <a:prstGeom prst="rect">
            <a:avLst/>
          </a:prstGeom>
          <a:noFill/>
          <a:ln/>
        </p:spPr>
        <p:txBody>
          <a:bodyPr wrap="square" lIns="0" tIns="0" rIns="0" bIns="0" rtlCol="0" anchor="t"/>
          <a:lstStyle/>
          <a:p>
            <a:pPr indent="0" marL="0">
              <a:buNone/>
            </a:pPr>
            <a:r>
              <a:rPr lang="en-US" sz="900" dirty="0">
                <a:solidFill>
                  <a:srgbClr val="23312B"/>
                </a:solidFill>
                <a:latin typeface="Calibri" pitchFamily="34" charset="0"/>
                <a:ea typeface="Calibri" pitchFamily="34" charset="-122"/>
                <a:cs typeface="Calibri" pitchFamily="34" charset="-120"/>
              </a:rPr>
              <a:t>Machine learning, epidemiology and agro-climatology — including work shown at NeurIPS workshops.</a:t>
            </a:r>
          </a:p>
        </p:txBody>
      </p:sp>
      <p:sp>
        <p:nvSpPr>
          <p:cNvPr id="117" name="Shape"/>
          <p:cNvSpPr/>
          <p:nvPr/>
        </p:nvSpPr>
        <p:spPr>
          <a:xfrm>
            <a:off x="2880360" y="2798064"/>
            <a:ext cx="2880360" cy="1389888"/>
          </a:xfrm>
          <a:prstGeom prst="roundRect">
            <a:avLst>
              <a:gd name="adj" fmla="val 3830"/>
            </a:avLst>
          </a:prstGeom>
          <a:solidFill>
            <a:srgbClr val="EFF5F0"/>
          </a:solidFill>
          <a:ln>
            <a:noFill/>
          </a:ln>
        </p:spPr>
        <p:txBody>
          <a:bodyPr/>
          <a:lstStyle/>
          <a:p/>
        </p:txBody>
      </p:sp>
      <p:sp>
        <p:nvSpPr>
          <p:cNvPr id="118" name="Circle"/>
          <p:cNvSpPr/>
          <p:nvPr/>
        </p:nvSpPr>
        <p:spPr>
          <a:xfrm>
            <a:off x="3044952" y="2944368"/>
            <a:ext cx="256032" cy="256032"/>
          </a:xfrm>
          <a:prstGeom prst="ellipse">
            <a:avLst/>
          </a:prstGeom>
          <a:solidFill>
            <a:srgbClr val="1E5A3F"/>
          </a:solidFill>
          <a:ln>
            <a:noFill/>
          </a:ln>
        </p:spPr>
        <p:txBody>
          <a:bodyPr/>
          <a:lstStyle/>
          <a:p/>
        </p:txBody>
      </p:sp>
      <p:sp>
        <p:nvSpPr>
          <p:cNvPr id="119" name="Text"/>
          <p:cNvSpPr/>
          <p:nvPr/>
        </p:nvSpPr>
        <p:spPr>
          <a:xfrm>
            <a:off x="3044952" y="2944368"/>
            <a:ext cx="256032" cy="256032"/>
          </a:xfrm>
          <a:prstGeom prst="rect">
            <a:avLst/>
          </a:prstGeom>
          <a:noFill/>
          <a:ln/>
        </p:spPr>
        <p:txBody>
          <a:bodyPr wrap="square" lIns="0" tIns="0" rIns="0" bIns="0" rtlCol="0" anchor="ctr"/>
          <a:lstStyle/>
          <a:p>
            <a:pPr indent="0" marL="0" algn="ctr">
              <a:buNone/>
            </a:pPr>
            <a:r>
              <a:rPr lang="en-US" sz="900" b="1" dirty="0">
                <a:solidFill>
                  <a:srgbClr val="E9B44C"/>
                </a:solidFill>
                <a:latin typeface="Calibri" pitchFamily="34" charset="0"/>
                <a:ea typeface="Calibri" pitchFamily="34" charset="-122"/>
                <a:cs typeface="Calibri" pitchFamily="34" charset="-120"/>
              </a:rPr>
              <a:t>★</a:t>
            </a:r>
          </a:p>
        </p:txBody>
      </p:sp>
      <p:sp>
        <p:nvSpPr>
          <p:cNvPr id="120" name="Text"/>
          <p:cNvSpPr/>
          <p:nvPr/>
        </p:nvSpPr>
        <p:spPr>
          <a:xfrm>
            <a:off x="3392424" y="2935224"/>
            <a:ext cx="2221992" cy="274320"/>
          </a:xfrm>
          <a:prstGeom prst="rect">
            <a:avLst/>
          </a:prstGeom>
          <a:noFill/>
          <a:ln/>
        </p:spPr>
        <p:txBody>
          <a:bodyPr wrap="square" lIns="0" tIns="0" rIns="0" bIns="0" rtlCol="0" anchor="t"/>
          <a:lstStyle/>
          <a:p>
            <a:pPr indent="0" marL="0">
              <a:buNone/>
            </a:pPr>
            <a:r>
              <a:rPr lang="en-US" sz="1100" b="1" dirty="0">
                <a:solidFill>
                  <a:srgbClr val="12362A"/>
                </a:solidFill>
                <a:latin typeface="Calibri" pitchFamily="34" charset="0"/>
                <a:ea typeface="Calibri" pitchFamily="34" charset="-122"/>
                <a:cs typeface="Calibri" pitchFamily="34" charset="-120"/>
              </a:rPr>
              <a:t>World Top Scientist 2024</a:t>
            </a:r>
          </a:p>
        </p:txBody>
      </p:sp>
      <p:sp>
        <p:nvSpPr>
          <p:cNvPr id="121" name="Text"/>
          <p:cNvSpPr/>
          <p:nvPr/>
        </p:nvSpPr>
        <p:spPr>
          <a:xfrm>
            <a:off x="3044952" y="3291840"/>
            <a:ext cx="2551176" cy="768096"/>
          </a:xfrm>
          <a:prstGeom prst="rect">
            <a:avLst/>
          </a:prstGeom>
          <a:noFill/>
          <a:ln/>
        </p:spPr>
        <p:txBody>
          <a:bodyPr wrap="square" lIns="0" tIns="0" rIns="0" bIns="0" rtlCol="0" anchor="t"/>
          <a:lstStyle/>
          <a:p>
            <a:pPr indent="0" marL="0">
              <a:buNone/>
            </a:pPr>
            <a:r>
              <a:rPr lang="en-US" sz="900" dirty="0">
                <a:solidFill>
                  <a:srgbClr val="23312B"/>
                </a:solidFill>
                <a:latin typeface="Calibri" pitchFamily="34" charset="0"/>
                <a:ea typeface="Calibri" pitchFamily="34" charset="-122"/>
                <a:cs typeface="Calibri" pitchFamily="34" charset="-120"/>
              </a:rPr>
              <a:t>In Biostatistics. Best Researcher Award 2025 in Infectious Disease Modeling.</a:t>
            </a:r>
          </a:p>
        </p:txBody>
      </p:sp>
      <p:sp>
        <p:nvSpPr>
          <p:cNvPr id="122" name="Shape"/>
          <p:cNvSpPr/>
          <p:nvPr/>
        </p:nvSpPr>
        <p:spPr>
          <a:xfrm>
            <a:off x="5943600" y="2798064"/>
            <a:ext cx="2880360" cy="1389888"/>
          </a:xfrm>
          <a:prstGeom prst="roundRect">
            <a:avLst>
              <a:gd name="adj" fmla="val 3830"/>
            </a:avLst>
          </a:prstGeom>
          <a:solidFill>
            <a:srgbClr val="EFF5F0"/>
          </a:solidFill>
          <a:ln>
            <a:noFill/>
          </a:ln>
        </p:spPr>
        <p:txBody>
          <a:bodyPr/>
          <a:lstStyle/>
          <a:p/>
        </p:txBody>
      </p:sp>
      <p:sp>
        <p:nvSpPr>
          <p:cNvPr id="123" name="Circle"/>
          <p:cNvSpPr/>
          <p:nvPr/>
        </p:nvSpPr>
        <p:spPr>
          <a:xfrm>
            <a:off x="6108192" y="2944368"/>
            <a:ext cx="256032" cy="256032"/>
          </a:xfrm>
          <a:prstGeom prst="ellipse">
            <a:avLst/>
          </a:prstGeom>
          <a:solidFill>
            <a:srgbClr val="1E5A3F"/>
          </a:solidFill>
          <a:ln>
            <a:noFill/>
          </a:ln>
        </p:spPr>
        <p:txBody>
          <a:bodyPr/>
          <a:lstStyle/>
          <a:p/>
        </p:txBody>
      </p:sp>
      <p:sp>
        <p:nvSpPr>
          <p:cNvPr id="124" name="Text"/>
          <p:cNvSpPr/>
          <p:nvPr/>
        </p:nvSpPr>
        <p:spPr>
          <a:xfrm>
            <a:off x="6108192" y="2944368"/>
            <a:ext cx="256032" cy="256032"/>
          </a:xfrm>
          <a:prstGeom prst="rect">
            <a:avLst/>
          </a:prstGeom>
          <a:noFill/>
          <a:ln/>
        </p:spPr>
        <p:txBody>
          <a:bodyPr wrap="square" lIns="0" tIns="0" rIns="0" bIns="0" rtlCol="0" anchor="ctr"/>
          <a:lstStyle/>
          <a:p>
            <a:pPr indent="0" marL="0" algn="ctr">
              <a:buNone/>
            </a:pPr>
            <a:r>
              <a:rPr lang="en-US" sz="900" b="1" dirty="0">
                <a:solidFill>
                  <a:srgbClr val="E9B44C"/>
                </a:solidFill>
                <a:latin typeface="Calibri" pitchFamily="34" charset="0"/>
                <a:ea typeface="Calibri" pitchFamily="34" charset="-122"/>
                <a:cs typeface="Calibri" pitchFamily="34" charset="-120"/>
              </a:rPr>
              <a:t>★</a:t>
            </a:r>
          </a:p>
        </p:txBody>
      </p:sp>
      <p:sp>
        <p:nvSpPr>
          <p:cNvPr id="125" name="Text"/>
          <p:cNvSpPr/>
          <p:nvPr/>
        </p:nvSpPr>
        <p:spPr>
          <a:xfrm>
            <a:off x="6455664" y="2935224"/>
            <a:ext cx="2221992" cy="274320"/>
          </a:xfrm>
          <a:prstGeom prst="rect">
            <a:avLst/>
          </a:prstGeom>
          <a:noFill/>
          <a:ln/>
        </p:spPr>
        <p:txBody>
          <a:bodyPr wrap="square" lIns="0" tIns="0" rIns="0" bIns="0" rtlCol="0" anchor="t"/>
          <a:lstStyle/>
          <a:p>
            <a:pPr indent="0" marL="0">
              <a:buNone/>
            </a:pPr>
            <a:r>
              <a:rPr lang="en-US" sz="1100" b="1" dirty="0">
                <a:solidFill>
                  <a:srgbClr val="12362A"/>
                </a:solidFill>
                <a:latin typeface="Calibri" pitchFamily="34" charset="0"/>
                <a:ea typeface="Calibri" pitchFamily="34" charset="-122"/>
                <a:cs typeface="Calibri" pitchFamily="34" charset="-120"/>
              </a:rPr>
              <a:t>Guinea's AI Strategy</a:t>
            </a:r>
          </a:p>
        </p:txBody>
      </p:sp>
      <p:sp>
        <p:nvSpPr>
          <p:cNvPr id="126" name="Text"/>
          <p:cNvSpPr/>
          <p:nvPr/>
        </p:nvSpPr>
        <p:spPr>
          <a:xfrm>
            <a:off x="6108192" y="3291840"/>
            <a:ext cx="2551176" cy="768096"/>
          </a:xfrm>
          <a:prstGeom prst="rect">
            <a:avLst/>
          </a:prstGeom>
          <a:noFill/>
          <a:ln/>
        </p:spPr>
        <p:txBody>
          <a:bodyPr wrap="square" lIns="0" tIns="0" rIns="0" bIns="0" rtlCol="0" anchor="t"/>
          <a:lstStyle/>
          <a:p>
            <a:pPr indent="0" marL="0">
              <a:buNone/>
            </a:pPr>
            <a:r>
              <a:rPr lang="en-US" sz="900" dirty="0">
                <a:solidFill>
                  <a:srgbClr val="23312B"/>
                </a:solidFill>
                <a:latin typeface="Calibri" pitchFamily="34" charset="0"/>
                <a:ea typeface="Calibri" pitchFamily="34" charset="-122"/>
                <a:cs typeface="Calibri" pitchFamily="34" charset="-120"/>
              </a:rPr>
              <a:t>Member of the national Scientific Committee — and a reviewer who has read hundreds of submissions.</a:t>
            </a:r>
          </a:p>
        </p:txBody>
      </p:sp>
      <p:sp>
        <p:nvSpPr>
          <p:cNvPr id="127" name="Shape"/>
          <p:cNvSpPr/>
          <p:nvPr/>
        </p:nvSpPr>
        <p:spPr>
          <a:xfrm>
            <a:off x="502920" y="4224528"/>
            <a:ext cx="8138160" cy="493776"/>
          </a:xfrm>
          <a:prstGeom prst="roundRect">
            <a:avLst>
              <a:gd name="adj" fmla="val 14516"/>
            </a:avLst>
          </a:prstGeom>
          <a:solidFill>
            <a:srgbClr val="F7F4EC"/>
          </a:solidFill>
          <a:ln>
            <a:noFill/>
          </a:ln>
        </p:spPr>
        <p:txBody>
          <a:bodyPr/>
          <a:lstStyle/>
          <a:p/>
        </p:txBody>
      </p:sp>
      <p:sp>
        <p:nvSpPr>
          <p:cNvPr id="128" name="Text"/>
          <p:cNvSpPr/>
          <p:nvPr/>
        </p:nvSpPr>
        <p:spPr>
          <a:xfrm>
            <a:off x="704088" y="4279392"/>
            <a:ext cx="7735824" cy="384048"/>
          </a:xfrm>
          <a:prstGeom prst="rect">
            <a:avLst/>
          </a:prstGeom>
          <a:noFill/>
          <a:ln/>
        </p:spPr>
        <p:txBody>
          <a:bodyPr wrap="square" lIns="0" tIns="0" rIns="0" bIns="0" rtlCol="0" anchor="ctr"/>
          <a:lstStyle/>
          <a:p>
            <a:pPr indent="0" marL="0">
              <a:lnSpc>
                <a:spcPct val="100000"/>
              </a:lnSpc>
              <a:buNone/>
            </a:pPr>
            <a:r>
              <a:rPr lang="en-US" sz="1100" b="1" dirty="0">
                <a:solidFill>
                  <a:srgbClr val="C9922F"/>
                </a:solidFill>
                <a:latin typeface="Calibri" pitchFamily="34" charset="0"/>
                <a:ea typeface="Calibri" pitchFamily="34" charset="-122"/>
                <a:cs typeface="Calibri" pitchFamily="34" charset="-120"/>
              </a:rPr>
              <a:t>Why this matters:</a:t>
            </a:r>
            <a:r>
              <a:rPr lang="en-US" sz="1100" dirty="0">
                <a:solidFill>
                  <a:srgbClr val="23312B"/>
                </a:solidFill>
                <a:latin typeface="Calibri" pitchFamily="34" charset="0"/>
                <a:ea typeface="Calibri" pitchFamily="34" charset="-122"/>
                <a:cs typeface="Calibri" pitchFamily="34" charset="-120"/>
              </a:rPr>
              <a:t>  I sit on both sides of the review process — today you get what I look for when I read your paper.</a:t>
            </a:r>
          </a:p>
        </p:txBody>
      </p:sp>
      <p:sp>
        <p:nvSpPr>
          <p:cNvPr id="129" name="Text"/>
          <p:cNvSpPr/>
          <p:nvPr/>
        </p:nvSpPr>
        <p:spPr>
          <a:xfrm>
            <a:off x="457200" y="4846320"/>
            <a:ext cx="5943600" cy="228600"/>
          </a:xfrm>
          <a:prstGeom prst="rect">
            <a:avLst/>
          </a:prstGeom>
          <a:noFill/>
          <a:ln/>
        </p:spPr>
        <p:txBody>
          <a:bodyPr wrap="square" lIns="0" tIns="0" rIns="0" bIns="0" rtlCol="0" anchor="t"/>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p>
        </p:txBody>
      </p:sp>
      <p:sp>
        <p:nvSpPr>
          <p:cNvPr id="130" name="Text"/>
          <p:cNvSpPr/>
          <p:nvPr/>
        </p:nvSpPr>
        <p:spPr>
          <a:xfrm>
            <a:off x="8503920" y="4846320"/>
            <a:ext cx="320040" cy="228600"/>
          </a:xfrm>
          <a:prstGeom prst="rect">
            <a:avLst/>
          </a:prstGeom>
          <a:noFill/>
          <a:ln/>
        </p:spPr>
        <p:txBody>
          <a:bodyPr wrap="square" lIns="0" tIns="0" rIns="0" bIns="0" rtlCol="0" anchor="t"/>
          <a:lstStyle/>
          <a:p>
            <a:pPr indent="0" marL="0" algn="r">
              <a:buNone/>
            </a:pPr>
            <a:r>
              <a:rPr lang="en-US" sz="850" dirty="0">
                <a:solidFill>
                  <a:srgbClr val="5E6E66"/>
                </a:solidFill>
                <a:latin typeface="Calibri" pitchFamily="34" charset="0"/>
                <a:ea typeface="Calibri" pitchFamily="34" charset="-122"/>
                <a:cs typeface="Calibri" pitchFamily="34" charset="-120"/>
              </a:rPr>
              <a:t>2</a:t>
            </a:r>
          </a:p>
        </p:txBody>
      </p:sp>
      <p:pic>
        <p:nvPicPr>
          <p:cNvPr id="131" name="QR kit" descr="img"/>
          <p:cNvPicPr>
            <a:picLocks noChangeAspect="1"/>
          </p:cNvPicPr>
          <p:nvPr/>
        </p:nvPicPr>
        <p:blipFill>
          <a:blip r:embed="rId5"/>
          <a:stretch>
            <a:fillRect/>
          </a:stretch>
        </p:blipFill>
        <p:spPr>
          <a:xfrm>
            <a:off x="7699248" y="4672584"/>
            <a:ext cx="402336" cy="402336"/>
          </a:xfrm>
          <a:prstGeom prst="rect">
            <a:avLst/>
          </a:prstGeom>
        </p:spPr>
      </p:pic>
      <p:sp>
        <p:nvSpPr>
          <p:cNvPr id="13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name="Slide stats">
    <p:bg>
      <p:bgPr>
        <a:solidFill>
          <a:srgbClr val="12362A"/>
        </a:solidFill>
      </p:bgPr>
    </p:bg>
    <p:spTree>
      <p:nvGrpSpPr>
        <p:cNvPr id="1" name=""/>
        <p:cNvGrpSpPr/>
        <p:nvPr/>
      </p:nvGrpSpPr>
      <p:grpSpPr>
        <a:xfrm>
          <a:off x="0" y="0"/>
          <a:ext cx="0" cy="0"/>
          <a:chOff x="0" y="0"/>
          <a:chExt cx="0" cy="0"/>
        </a:xfrm>
      </p:grpSpPr>
      <p:sp>
        <p:nvSpPr>
          <p:cNvPr id="200" name="Text"/>
          <p:cNvSpPr/>
          <p:nvPr/>
        </p:nvSpPr>
        <p:spPr>
          <a:xfrm>
            <a:off x="502920" y="502920"/>
            <a:ext cx="3657600" cy="274320"/>
          </a:xfrm>
          <a:prstGeom prst="rect">
            <a:avLst/>
          </a:prstGeom>
          <a:noFill/>
          <a:ln/>
        </p:spPr>
        <p:txBody>
          <a:bodyPr wrap="square" lIns="0" tIns="0" rIns="0" bIns="0" rtlCol="0" anchor="t"/>
          <a:lstStyle/>
          <a:p>
            <a:pPr indent="0" marL="0">
              <a:buNone/>
            </a:pPr>
            <a:r>
              <a:rPr lang="en-US" sz="1100" b="1" spc="200" dirty="0">
                <a:solidFill>
                  <a:srgbClr val="E9B44C"/>
                </a:solidFill>
                <a:latin typeface="Calibri" pitchFamily="34" charset="0"/>
                <a:ea typeface="Calibri" pitchFamily="34" charset="-122"/>
                <a:cs typeface="Calibri" pitchFamily="34" charset="-120"/>
              </a:rPr>
              <a:t>PART 3 · STEP 3 — IMPACT</a:t>
            </a:r>
          </a:p>
        </p:txBody>
      </p:sp>
      <p:sp>
        <p:nvSpPr>
          <p:cNvPr id="201" name="Text"/>
          <p:cNvSpPr/>
          <p:nvPr/>
        </p:nvSpPr>
        <p:spPr>
          <a:xfrm>
            <a:off x="502920" y="868680"/>
            <a:ext cx="8138160" cy="548640"/>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“Better” is not a result — it is a hypothesis</a:t>
            </a:r>
          </a:p>
        </p:txBody>
      </p:sp>
      <p:sp>
        <p:nvSpPr>
          <p:cNvPr id="202" name="Text"/>
          <p:cNvSpPr/>
          <p:nvPr/>
        </p:nvSpPr>
        <p:spPr>
          <a:xfrm>
            <a:off x="502920" y="1572768"/>
            <a:ext cx="8138160" cy="365760"/>
          </a:xfrm>
          <a:prstGeom prst="rect">
            <a:avLst/>
          </a:prstGeom>
          <a:noFill/>
          <a:ln/>
        </p:spPr>
        <p:txBody>
          <a:bodyPr wrap="square" lIns="0" tIns="0" rIns="0" bIns="0" rtlCol="0" anchor="t"/>
          <a:lstStyle/>
          <a:p>
            <a:pPr indent="0" marL="0">
              <a:buNone/>
            </a:pPr>
            <a:r>
              <a:rPr lang="en-US" sz="1300" i="1" dirty="0">
                <a:solidFill>
                  <a:srgbClr val="9CBFA7"/>
                </a:solidFill>
                <a:latin typeface="Calibri" pitchFamily="34" charset="0"/>
                <a:ea typeface="Calibri" pitchFamily="34" charset="-122"/>
                <a:cs typeface="Calibri" pitchFamily="34" charset="-120"/>
              </a:rPr>
              <a:t>Two accuracies differ. So what? Reviewers ask whether the gap survives a statistical test.</a:t>
            </a:r>
          </a:p>
        </p:txBody>
      </p:sp>
      <p:sp>
        <p:nvSpPr>
          <p:cNvPr id="203" name="Shape"/>
          <p:cNvSpPr/>
          <p:nvPr/>
        </p:nvSpPr>
        <p:spPr>
          <a:xfrm>
            <a:off x="502920" y="2103120"/>
            <a:ext cx="3977640" cy="1051560"/>
          </a:xfrm>
          <a:prstGeom prst="roundRect">
            <a:avLst>
              <a:gd name="adj" fmla="val 3830"/>
            </a:avLst>
          </a:prstGeom>
          <a:solidFill>
            <a:srgbClr val="1B4A38"/>
          </a:solidFill>
          <a:ln>
            <a:noFill/>
          </a:ln>
        </p:spPr>
        <p:txBody>
          <a:bodyPr/>
          <a:lstStyle/>
          <a:p/>
        </p:txBody>
      </p:sp>
      <p:sp>
        <p:nvSpPr>
          <p:cNvPr id="204" name="Circle"/>
          <p:cNvSpPr/>
          <p:nvPr/>
        </p:nvSpPr>
        <p:spPr>
          <a:xfrm>
            <a:off x="667512" y="2249424"/>
            <a:ext cx="274320" cy="274320"/>
          </a:xfrm>
          <a:prstGeom prst="ellipse">
            <a:avLst/>
          </a:prstGeom>
          <a:solidFill>
            <a:srgbClr val="E9B44C"/>
          </a:solidFill>
          <a:ln>
            <a:noFill/>
          </a:ln>
        </p:spPr>
        <p:txBody>
          <a:bodyPr/>
          <a:lstStyle/>
          <a:p/>
        </p:txBody>
      </p:sp>
      <p:sp>
        <p:nvSpPr>
          <p:cNvPr id="205" name="Text"/>
          <p:cNvSpPr/>
          <p:nvPr/>
        </p:nvSpPr>
        <p:spPr>
          <a:xfrm>
            <a:off x="667512" y="2249424"/>
            <a:ext cx="274320" cy="274320"/>
          </a:xfrm>
          <a:prstGeom prst="rect">
            <a:avLst/>
          </a:prstGeom>
          <a:noFill/>
          <a:ln/>
        </p:spPr>
        <p:txBody>
          <a:bodyPr wrap="square" lIns="0" tIns="0" rIns="0" bIns="0" rtlCol="0" anchor="ctr"/>
          <a:lstStyle/>
          <a:p>
            <a:pPr indent="0" marL="0" algn="ctr">
              <a:buNone/>
            </a:pPr>
            <a:r>
              <a:rPr lang="en-US" sz="1000" b="1" dirty="0">
                <a:solidFill>
                  <a:srgbClr val="12362A"/>
                </a:solidFill>
                <a:latin typeface="Calibri" pitchFamily="34" charset="0"/>
                <a:ea typeface="Calibri" pitchFamily="34" charset="-122"/>
                <a:cs typeface="Calibri" pitchFamily="34" charset="-120"/>
              </a:rPr>
              <a:t>1</a:t>
            </a:r>
          </a:p>
        </p:txBody>
      </p:sp>
      <p:sp>
        <p:nvSpPr>
          <p:cNvPr id="206" name="Text"/>
          <p:cNvSpPr/>
          <p:nvPr/>
        </p:nvSpPr>
        <p:spPr>
          <a:xfrm>
            <a:off x="1033272" y="2249424"/>
            <a:ext cx="3291840" cy="256032"/>
          </a:xfrm>
          <a:prstGeom prst="rect">
            <a:avLst/>
          </a:prstGeom>
          <a:noFill/>
          <a:ln/>
        </p:spPr>
        <p:txBody>
          <a:bodyPr wrap="square" lIns="0" tIns="0" rIns="0" bIns="0" rtlCol="0" anchor="t"/>
          <a:lstStyle/>
          <a:p>
            <a:pPr indent="0" marL="0">
              <a:buNone/>
            </a:pPr>
            <a:r>
              <a:rPr lang="en-US" sz="1150" b="1" dirty="0">
                <a:solidFill>
                  <a:srgbClr val="E9B44C"/>
                </a:solidFill>
                <a:latin typeface="Calibri" pitchFamily="34" charset="0"/>
                <a:ea typeface="Calibri" pitchFamily="34" charset="-122"/>
                <a:cs typeface="Calibri" pitchFamily="34" charset="-120"/>
              </a:rPr>
              <a:t>Report a distribution, not a point</a:t>
            </a:r>
          </a:p>
        </p:txBody>
      </p:sp>
      <p:sp>
        <p:nvSpPr>
          <p:cNvPr id="207" name="Text"/>
          <p:cNvSpPr/>
          <p:nvPr/>
        </p:nvSpPr>
        <p:spPr>
          <a:xfrm>
            <a:off x="1033272" y="2542032"/>
            <a:ext cx="3291840" cy="530352"/>
          </a:xfrm>
          <a:prstGeom prst="rect">
            <a:avLst/>
          </a:prstGeom>
          <a:noFill/>
          <a:ln/>
        </p:spPr>
        <p:txBody>
          <a:bodyPr wrap="square" lIns="0" tIns="0" rIns="0" bIns="0" rtlCol="0" anchor="t"/>
          <a:lstStyle/>
          <a:p>
            <a:pPr indent="0" marL="0">
              <a:buNone/>
            </a:pPr>
            <a:r>
              <a:rPr lang="en-US" sz="950" dirty="0">
                <a:solidFill>
                  <a:srgbClr val="D9E4DC"/>
                </a:solidFill>
                <a:latin typeface="Calibri" pitchFamily="34" charset="0"/>
                <a:ea typeface="Calibri" pitchFamily="34" charset="-122"/>
                <a:cs typeface="Calibri" pitchFamily="34" charset="-120"/>
              </a:rPr>
              <a:t>Run k-fold cross-validation or ≥3 seeds and report mean ± std. A single lucky run is not evidence.</a:t>
            </a:r>
          </a:p>
        </p:txBody>
      </p:sp>
      <p:sp>
        <p:nvSpPr>
          <p:cNvPr id="208" name="Shape"/>
          <p:cNvSpPr/>
          <p:nvPr/>
        </p:nvSpPr>
        <p:spPr>
          <a:xfrm>
            <a:off x="4663440" y="2103120"/>
            <a:ext cx="3977640" cy="1051560"/>
          </a:xfrm>
          <a:prstGeom prst="roundRect">
            <a:avLst>
              <a:gd name="adj" fmla="val 3830"/>
            </a:avLst>
          </a:prstGeom>
          <a:solidFill>
            <a:srgbClr val="1B4A38"/>
          </a:solidFill>
          <a:ln>
            <a:noFill/>
          </a:ln>
        </p:spPr>
        <p:txBody>
          <a:bodyPr/>
          <a:lstStyle/>
          <a:p/>
        </p:txBody>
      </p:sp>
      <p:sp>
        <p:nvSpPr>
          <p:cNvPr id="209" name="Circle"/>
          <p:cNvSpPr/>
          <p:nvPr/>
        </p:nvSpPr>
        <p:spPr>
          <a:xfrm>
            <a:off x="4828032" y="2249424"/>
            <a:ext cx="274320" cy="274320"/>
          </a:xfrm>
          <a:prstGeom prst="ellipse">
            <a:avLst/>
          </a:prstGeom>
          <a:solidFill>
            <a:srgbClr val="E9B44C"/>
          </a:solidFill>
          <a:ln>
            <a:noFill/>
          </a:ln>
        </p:spPr>
        <p:txBody>
          <a:bodyPr/>
          <a:lstStyle/>
          <a:p/>
        </p:txBody>
      </p:sp>
      <p:sp>
        <p:nvSpPr>
          <p:cNvPr id="210" name="Text"/>
          <p:cNvSpPr/>
          <p:nvPr/>
        </p:nvSpPr>
        <p:spPr>
          <a:xfrm>
            <a:off x="4828032" y="2249424"/>
            <a:ext cx="274320" cy="274320"/>
          </a:xfrm>
          <a:prstGeom prst="rect">
            <a:avLst/>
          </a:prstGeom>
          <a:noFill/>
          <a:ln/>
        </p:spPr>
        <p:txBody>
          <a:bodyPr wrap="square" lIns="0" tIns="0" rIns="0" bIns="0" rtlCol="0" anchor="ctr"/>
          <a:lstStyle/>
          <a:p>
            <a:pPr indent="0" marL="0" algn="ctr">
              <a:buNone/>
            </a:pPr>
            <a:r>
              <a:rPr lang="en-US" sz="1000" b="1" dirty="0">
                <a:solidFill>
                  <a:srgbClr val="12362A"/>
                </a:solidFill>
                <a:latin typeface="Calibri" pitchFamily="34" charset="0"/>
                <a:ea typeface="Calibri" pitchFamily="34" charset="-122"/>
                <a:cs typeface="Calibri" pitchFamily="34" charset="-120"/>
              </a:rPr>
              <a:t>2</a:t>
            </a:r>
          </a:p>
        </p:txBody>
      </p:sp>
      <p:sp>
        <p:nvSpPr>
          <p:cNvPr id="211" name="Text"/>
          <p:cNvSpPr/>
          <p:nvPr/>
        </p:nvSpPr>
        <p:spPr>
          <a:xfrm>
            <a:off x="5193792" y="2249424"/>
            <a:ext cx="3291840" cy="256032"/>
          </a:xfrm>
          <a:prstGeom prst="rect">
            <a:avLst/>
          </a:prstGeom>
          <a:noFill/>
          <a:ln/>
        </p:spPr>
        <p:txBody>
          <a:bodyPr wrap="square" lIns="0" tIns="0" rIns="0" bIns="0" rtlCol="0" anchor="t"/>
          <a:lstStyle/>
          <a:p>
            <a:pPr indent="0" marL="0">
              <a:buNone/>
            </a:pPr>
            <a:r>
              <a:rPr lang="en-US" sz="1150" b="1" dirty="0">
                <a:solidFill>
                  <a:srgbClr val="E9B44C"/>
                </a:solidFill>
                <a:latin typeface="Calibri" pitchFamily="34" charset="0"/>
                <a:ea typeface="Calibri" pitchFamily="34" charset="-122"/>
                <a:cs typeface="Calibri" pitchFamily="34" charset="-120"/>
              </a:rPr>
              <a:t>Test before you claim</a:t>
            </a:r>
          </a:p>
        </p:txBody>
      </p:sp>
      <p:sp>
        <p:nvSpPr>
          <p:cNvPr id="212" name="Text"/>
          <p:cNvSpPr/>
          <p:nvPr/>
        </p:nvSpPr>
        <p:spPr>
          <a:xfrm>
            <a:off x="5193792" y="2542032"/>
            <a:ext cx="3291840" cy="530352"/>
          </a:xfrm>
          <a:prstGeom prst="rect">
            <a:avLst/>
          </a:prstGeom>
          <a:noFill/>
          <a:ln/>
        </p:spPr>
        <p:txBody>
          <a:bodyPr wrap="square" lIns="0" tIns="0" rIns="0" bIns="0" rtlCol="0" anchor="t"/>
          <a:lstStyle/>
          <a:p>
            <a:pPr indent="0" marL="0">
              <a:buNone/>
            </a:pPr>
            <a:r>
              <a:rPr lang="en-US" sz="950" dirty="0">
                <a:solidFill>
                  <a:srgbClr val="D9E4DC"/>
                </a:solidFill>
                <a:latin typeface="Calibri" pitchFamily="34" charset="0"/>
                <a:ea typeface="Calibri" pitchFamily="34" charset="-122"/>
                <a:cs typeface="Calibri" pitchFamily="34" charset="-120"/>
              </a:rPr>
              <a:t>Check normality (Shapiro–Wilk). If it fails — as it usually does with small African field datasets — use Kruskal–Wallis, not ANOVA.</a:t>
            </a:r>
          </a:p>
        </p:txBody>
      </p:sp>
      <p:sp>
        <p:nvSpPr>
          <p:cNvPr id="213" name="Shape"/>
          <p:cNvSpPr/>
          <p:nvPr/>
        </p:nvSpPr>
        <p:spPr>
          <a:xfrm>
            <a:off x="502920" y="3291840"/>
            <a:ext cx="3977640" cy="1051560"/>
          </a:xfrm>
          <a:prstGeom prst="roundRect">
            <a:avLst>
              <a:gd name="adj" fmla="val 3830"/>
            </a:avLst>
          </a:prstGeom>
          <a:solidFill>
            <a:srgbClr val="1B4A38"/>
          </a:solidFill>
          <a:ln>
            <a:noFill/>
          </a:ln>
        </p:spPr>
        <p:txBody>
          <a:bodyPr/>
          <a:lstStyle/>
          <a:p/>
        </p:txBody>
      </p:sp>
      <p:sp>
        <p:nvSpPr>
          <p:cNvPr id="214" name="Circle"/>
          <p:cNvSpPr/>
          <p:nvPr/>
        </p:nvSpPr>
        <p:spPr>
          <a:xfrm>
            <a:off x="667512" y="3438144"/>
            <a:ext cx="274320" cy="274320"/>
          </a:xfrm>
          <a:prstGeom prst="ellipse">
            <a:avLst/>
          </a:prstGeom>
          <a:solidFill>
            <a:srgbClr val="E9B44C"/>
          </a:solidFill>
          <a:ln>
            <a:noFill/>
          </a:ln>
        </p:spPr>
        <p:txBody>
          <a:bodyPr/>
          <a:lstStyle/>
          <a:p/>
        </p:txBody>
      </p:sp>
      <p:sp>
        <p:nvSpPr>
          <p:cNvPr id="215" name="Text"/>
          <p:cNvSpPr/>
          <p:nvPr/>
        </p:nvSpPr>
        <p:spPr>
          <a:xfrm>
            <a:off x="667512" y="3438144"/>
            <a:ext cx="274320" cy="274320"/>
          </a:xfrm>
          <a:prstGeom prst="rect">
            <a:avLst/>
          </a:prstGeom>
          <a:noFill/>
          <a:ln/>
        </p:spPr>
        <p:txBody>
          <a:bodyPr wrap="square" lIns="0" tIns="0" rIns="0" bIns="0" rtlCol="0" anchor="ctr"/>
          <a:lstStyle/>
          <a:p>
            <a:pPr indent="0" marL="0" algn="ctr">
              <a:buNone/>
            </a:pPr>
            <a:r>
              <a:rPr lang="en-US" sz="1000" b="1" dirty="0">
                <a:solidFill>
                  <a:srgbClr val="12362A"/>
                </a:solidFill>
                <a:latin typeface="Calibri" pitchFamily="34" charset="0"/>
                <a:ea typeface="Calibri" pitchFamily="34" charset="-122"/>
                <a:cs typeface="Calibri" pitchFamily="34" charset="-120"/>
              </a:rPr>
              <a:t>3</a:t>
            </a:r>
          </a:p>
        </p:txBody>
      </p:sp>
      <p:sp>
        <p:nvSpPr>
          <p:cNvPr id="216" name="Text"/>
          <p:cNvSpPr/>
          <p:nvPr/>
        </p:nvSpPr>
        <p:spPr>
          <a:xfrm>
            <a:off x="1033272" y="3438144"/>
            <a:ext cx="3291840" cy="256032"/>
          </a:xfrm>
          <a:prstGeom prst="rect">
            <a:avLst/>
          </a:prstGeom>
          <a:noFill/>
          <a:ln/>
        </p:spPr>
        <p:txBody>
          <a:bodyPr wrap="square" lIns="0" tIns="0" rIns="0" bIns="0" rtlCol="0" anchor="t"/>
          <a:lstStyle/>
          <a:p>
            <a:pPr indent="0" marL="0">
              <a:buNone/>
            </a:pPr>
            <a:r>
              <a:rPr lang="en-US" sz="1150" b="1" dirty="0">
                <a:solidFill>
                  <a:srgbClr val="E9B44C"/>
                </a:solidFill>
                <a:latin typeface="Calibri" pitchFamily="34" charset="0"/>
                <a:ea typeface="Calibri" pitchFamily="34" charset="-122"/>
                <a:cs typeface="Calibri" pitchFamily="34" charset="-120"/>
              </a:rPr>
              <a:t>Then say which pair differs</a:t>
            </a:r>
          </a:p>
        </p:txBody>
      </p:sp>
      <p:sp>
        <p:nvSpPr>
          <p:cNvPr id="217" name="Text"/>
          <p:cNvSpPr/>
          <p:nvPr/>
        </p:nvSpPr>
        <p:spPr>
          <a:xfrm>
            <a:off x="1033272" y="3730752"/>
            <a:ext cx="3291840" cy="530352"/>
          </a:xfrm>
          <a:prstGeom prst="rect">
            <a:avLst/>
          </a:prstGeom>
          <a:noFill/>
          <a:ln/>
        </p:spPr>
        <p:txBody>
          <a:bodyPr wrap="square" lIns="0" tIns="0" rIns="0" bIns="0" rtlCol="0" anchor="t"/>
          <a:lstStyle/>
          <a:p>
            <a:pPr indent="0" marL="0">
              <a:buNone/>
            </a:pPr>
            <a:r>
              <a:rPr lang="en-US" sz="950" dirty="0">
                <a:solidFill>
                  <a:srgbClr val="D9E4DC"/>
                </a:solidFill>
                <a:latin typeface="Calibri" pitchFamily="34" charset="0"/>
                <a:ea typeface="Calibri" pitchFamily="34" charset="-122"/>
                <a:cs typeface="Calibri" pitchFamily="34" charset="-120"/>
              </a:rPr>
              <a:t>A significant omnibus test says “somebody differs”. A post-hoc test (Nemenyi, Dunn) says who. Report the critical difference.</a:t>
            </a:r>
          </a:p>
        </p:txBody>
      </p:sp>
      <p:sp>
        <p:nvSpPr>
          <p:cNvPr id="218" name="Shape"/>
          <p:cNvSpPr/>
          <p:nvPr/>
        </p:nvSpPr>
        <p:spPr>
          <a:xfrm>
            <a:off x="4663440" y="3291840"/>
            <a:ext cx="3977640" cy="1051560"/>
          </a:xfrm>
          <a:prstGeom prst="roundRect">
            <a:avLst>
              <a:gd name="adj" fmla="val 3830"/>
            </a:avLst>
          </a:prstGeom>
          <a:solidFill>
            <a:srgbClr val="1B4A38"/>
          </a:solidFill>
          <a:ln>
            <a:noFill/>
          </a:ln>
        </p:spPr>
        <p:txBody>
          <a:bodyPr/>
          <a:lstStyle/>
          <a:p/>
        </p:txBody>
      </p:sp>
      <p:sp>
        <p:nvSpPr>
          <p:cNvPr id="219" name="Circle"/>
          <p:cNvSpPr/>
          <p:nvPr/>
        </p:nvSpPr>
        <p:spPr>
          <a:xfrm>
            <a:off x="4828032" y="3438144"/>
            <a:ext cx="274320" cy="274320"/>
          </a:xfrm>
          <a:prstGeom prst="ellipse">
            <a:avLst/>
          </a:prstGeom>
          <a:solidFill>
            <a:srgbClr val="E9B44C"/>
          </a:solidFill>
          <a:ln>
            <a:noFill/>
          </a:ln>
        </p:spPr>
        <p:txBody>
          <a:bodyPr/>
          <a:lstStyle/>
          <a:p/>
        </p:txBody>
      </p:sp>
      <p:sp>
        <p:nvSpPr>
          <p:cNvPr id="220" name="Text"/>
          <p:cNvSpPr/>
          <p:nvPr/>
        </p:nvSpPr>
        <p:spPr>
          <a:xfrm>
            <a:off x="4828032" y="3438144"/>
            <a:ext cx="274320" cy="274320"/>
          </a:xfrm>
          <a:prstGeom prst="rect">
            <a:avLst/>
          </a:prstGeom>
          <a:noFill/>
          <a:ln/>
        </p:spPr>
        <p:txBody>
          <a:bodyPr wrap="square" lIns="0" tIns="0" rIns="0" bIns="0" rtlCol="0" anchor="ctr"/>
          <a:lstStyle/>
          <a:p>
            <a:pPr indent="0" marL="0" algn="ctr">
              <a:buNone/>
            </a:pPr>
            <a:r>
              <a:rPr lang="en-US" sz="1000" b="1" dirty="0">
                <a:solidFill>
                  <a:srgbClr val="12362A"/>
                </a:solidFill>
                <a:latin typeface="Calibri" pitchFamily="34" charset="0"/>
                <a:ea typeface="Calibri" pitchFamily="34" charset="-122"/>
                <a:cs typeface="Calibri" pitchFamily="34" charset="-120"/>
              </a:rPr>
              <a:t>4</a:t>
            </a:r>
          </a:p>
        </p:txBody>
      </p:sp>
      <p:sp>
        <p:nvSpPr>
          <p:cNvPr id="221" name="Text"/>
          <p:cNvSpPr/>
          <p:nvPr/>
        </p:nvSpPr>
        <p:spPr>
          <a:xfrm>
            <a:off x="5193792" y="3438144"/>
            <a:ext cx="3291840" cy="256032"/>
          </a:xfrm>
          <a:prstGeom prst="rect">
            <a:avLst/>
          </a:prstGeom>
          <a:noFill/>
          <a:ln/>
        </p:spPr>
        <p:txBody>
          <a:bodyPr wrap="square" lIns="0" tIns="0" rIns="0" bIns="0" rtlCol="0" anchor="t"/>
          <a:lstStyle/>
          <a:p>
            <a:pPr indent="0" marL="0">
              <a:buNone/>
            </a:pPr>
            <a:r>
              <a:rPr lang="en-US" sz="1150" b="1" dirty="0">
                <a:solidFill>
                  <a:srgbClr val="E9B44C"/>
                </a:solidFill>
                <a:latin typeface="Calibri" pitchFamily="34" charset="0"/>
                <a:ea typeface="Calibri" pitchFamily="34" charset="-122"/>
                <a:cs typeface="Calibri" pitchFamily="34" charset="-120"/>
              </a:rPr>
              <a:t>Report the trade-off, not just the score</a:t>
            </a:r>
          </a:p>
        </p:txBody>
      </p:sp>
      <p:sp>
        <p:nvSpPr>
          <p:cNvPr id="222" name="Text"/>
          <p:cNvSpPr/>
          <p:nvPr/>
        </p:nvSpPr>
        <p:spPr>
          <a:xfrm>
            <a:off x="5193792" y="3730752"/>
            <a:ext cx="3291840" cy="530352"/>
          </a:xfrm>
          <a:prstGeom prst="rect">
            <a:avLst/>
          </a:prstGeom>
          <a:noFill/>
          <a:ln/>
        </p:spPr>
        <p:txBody>
          <a:bodyPr wrap="square" lIns="0" tIns="0" rIns="0" bIns="0" rtlCol="0" anchor="t"/>
          <a:lstStyle/>
          <a:p>
            <a:pPr indent="0" marL="0">
              <a:buNone/>
            </a:pPr>
            <a:r>
              <a:rPr lang="en-US" sz="950" dirty="0">
                <a:solidFill>
                  <a:srgbClr val="D9E4DC"/>
                </a:solidFill>
                <a:latin typeface="Calibri" pitchFamily="34" charset="0"/>
                <a:ea typeface="Calibri" pitchFamily="34" charset="-122"/>
                <a:cs typeface="Calibri" pitchFamily="34" charset="-120"/>
              </a:rPr>
              <a:t>Accuracy, parameters, GFLOPs, inference time. On a $50 phone, 1.2 ms at 3.1M parameters IS the contribution.</a:t>
            </a:r>
          </a:p>
        </p:txBody>
      </p:sp>
      <p:sp>
        <p:nvSpPr>
          <p:cNvPr id="223" name="Text"/>
          <p:cNvSpPr/>
          <p:nvPr/>
        </p:nvSpPr>
        <p:spPr>
          <a:xfrm>
            <a:off x="502920" y="4480560"/>
            <a:ext cx="8138160" cy="320040"/>
          </a:xfrm>
          <a:prstGeom prst="rect">
            <a:avLst/>
          </a:prstGeom>
          <a:noFill/>
          <a:ln/>
        </p:spPr>
        <p:txBody>
          <a:bodyPr wrap="square" lIns="0" tIns="0" rIns="0" bIns="0" rtlCol="0" anchor="t"/>
          <a:lstStyle/>
          <a:p>
            <a:pPr indent="0" marL="0">
              <a:buNone/>
            </a:pPr>
            <a:r>
              <a:rPr lang="en-US" sz="1100" i="1" dirty="0">
                <a:solidFill>
                  <a:srgbClr val="E9B44C"/>
                </a:solidFill>
                <a:latin typeface="Calibri" pitchFamily="34" charset="0"/>
                <a:ea typeface="Calibri" pitchFamily="34" charset="-122"/>
                <a:cs typeface="Calibri" pitchFamily="34" charset="-120"/>
              </a:rPr>
              <a:t>This is exactly what the chili-pepper paper does — and it is the single cheapest way to look like a serious lab.</a:t>
            </a:r>
          </a:p>
        </p:txBody>
      </p:sp>
      <p:pic>
        <p:nvPicPr>
          <p:cNvPr id="224" name="QR kit" descr="img"/>
          <p:cNvPicPr>
            <a:picLocks noChangeAspect="1"/>
          </p:cNvPicPr>
          <p:nvPr/>
        </p:nvPicPr>
        <p:blipFill>
          <a:blip r:embed="rId4"/>
          <a:stretch>
            <a:fillRect/>
          </a:stretch>
        </p:blipFill>
        <p:spPr>
          <a:xfrm>
            <a:off x="7699248" y="4672584"/>
            <a:ext cx="402336" cy="402336"/>
          </a:xfrm>
          <a:prstGeom prst="rect">
            <a:avLst/>
          </a:prstGeom>
        </p:spPr>
      </p:pic>
      <p:sp>
        <p:nvSpPr>
          <p:cNvPr id="225"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E9B44C"/>
                </a:solidFill>
                <a:latin typeface="Calibri" pitchFamily="34" charset="0"/>
                <a:ea typeface="Calibri" pitchFamily="34" charset="-122"/>
                <a:cs typeface="Calibri" pitchFamily="34" charset="-120"/>
              </a:rPr>
              <a:t>Resource Kit →</a:t>
            </a:r>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name="Slide real abstract">
    <p:spTree>
      <p:nvGrpSpPr>
        <p:cNvPr id="1" name=""/>
        <p:cNvGrpSpPr/>
        <p:nvPr/>
      </p:nvGrpSpPr>
      <p:grpSpPr>
        <a:xfrm>
          <a:off x="0" y="0"/>
          <a:ext cx="0" cy="0"/>
          <a:chOff x="0" y="0"/>
          <a:chExt cx="0" cy="0"/>
        </a:xfrm>
      </p:grpSpPr>
      <p:sp>
        <p:nvSpPr>
          <p:cNvPr id="163" name="Circle"/>
          <p:cNvSpPr/>
          <p:nvPr/>
        </p:nvSpPr>
        <p:spPr>
          <a:xfrm>
            <a:off x="457200" y="384048"/>
            <a:ext cx="475488" cy="475488"/>
          </a:xfrm>
          <a:prstGeom prst="ellipse">
            <a:avLst/>
          </a:prstGeom>
          <a:solidFill>
            <a:srgbClr val="1E5A3F"/>
          </a:solidFill>
          <a:ln>
            <a:noFill/>
          </a:ln>
        </p:spPr>
        <p:txBody>
          <a:bodyPr/>
          <a:lstStyle/>
          <a:p/>
        </p:txBody>
      </p:sp>
      <p:sp>
        <p:nvSpPr>
          <p:cNvPr id="164" name="Text"/>
          <p:cNvSpPr/>
          <p:nvPr/>
        </p:nvSpPr>
        <p:spPr>
          <a:xfrm>
            <a:off x="1051560" y="329184"/>
            <a:ext cx="6400800" cy="256032"/>
          </a:xfrm>
          <a:prstGeom prst="rect">
            <a:avLst/>
          </a:prstGeom>
          <a:noFill/>
          <a:ln/>
        </p:spPr>
        <p:txBody>
          <a:bodyPr wrap="square" lIns="0" tIns="0" rIns="0" bIns="0" rtlCol="0" anchor="t"/>
          <a:lstStyle/>
          <a:p>
            <a:pPr indent="0" marL="0">
              <a:buNone/>
            </a:pPr>
            <a:r>
              <a:rPr lang="en-US" sz="1100" b="1" spc="200" dirty="0">
                <a:solidFill>
                  <a:srgbClr val="C9922F"/>
                </a:solidFill>
                <a:latin typeface="Calibri" pitchFamily="34" charset="0"/>
                <a:ea typeface="Calibri" pitchFamily="34" charset="-122"/>
                <a:cs typeface="Calibri" pitchFamily="34" charset="-120"/>
              </a:rPr>
              <a:t>CASE STUDY · THE ABSTRACT THAT WORKS</a:t>
            </a:r>
          </a:p>
        </p:txBody>
      </p:sp>
      <p:sp>
        <p:nvSpPr>
          <p:cNvPr id="165" name="Text"/>
          <p:cNvSpPr/>
          <p:nvPr/>
        </p:nvSpPr>
        <p:spPr>
          <a:xfrm>
            <a:off x="1051560" y="548640"/>
            <a:ext cx="7315200" cy="502920"/>
          </a:xfrm>
          <a:prstGeom prst="rect">
            <a:avLst/>
          </a:prstGeom>
          <a:noFill/>
          <a:ln/>
        </p:spPr>
        <p:txBody>
          <a:bodyPr wrap="square" lIns="0" tIns="0" rIns="0" bIns="0" rtlCol="0" anchor="t"/>
          <a:lstStyle/>
          <a:p>
            <a:pPr indent="0" marL="0">
              <a:buNone/>
            </a:pPr>
            <a:r>
              <a:rPr lang="en-US" sz="2500" b="1" dirty="0">
                <a:solidFill>
                  <a:srgbClr val="12362A"/>
                </a:solidFill>
                <a:latin typeface="Cambria" pitchFamily="34" charset="0"/>
                <a:ea typeface="Cambria" pitchFamily="34" charset="-122"/>
                <a:cs typeface="Cambria" pitchFamily="34" charset="-120"/>
              </a:rPr>
              <a:t>A published African abstract, move by move</a:t>
            </a:r>
          </a:p>
        </p:txBody>
      </p:sp>
      <p:sp>
        <p:nvSpPr>
          <p:cNvPr id="166" name="Shape"/>
          <p:cNvSpPr/>
          <p:nvPr/>
        </p:nvSpPr>
        <p:spPr>
          <a:xfrm>
            <a:off x="502920" y="1234440"/>
            <a:ext cx="4892040" cy="2788920"/>
          </a:xfrm>
          <a:prstGeom prst="roundRect">
            <a:avLst>
              <a:gd name="adj" fmla="val 3830"/>
            </a:avLst>
          </a:prstGeom>
          <a:solidFill>
            <a:srgbClr val="EFF5F0"/>
          </a:solidFill>
          <a:ln>
            <a:noFill/>
          </a:ln>
        </p:spPr>
        <p:txBody>
          <a:bodyPr/>
          <a:lstStyle/>
          <a:p/>
        </p:txBody>
      </p:sp>
      <p:sp>
        <p:nvSpPr>
          <p:cNvPr id="167" name="Text"/>
          <p:cNvSpPr/>
          <p:nvPr/>
        </p:nvSpPr>
        <p:spPr>
          <a:xfrm>
            <a:off x="685800" y="1389888"/>
            <a:ext cx="4526280" cy="228600"/>
          </a:xfrm>
          <a:prstGeom prst="rect">
            <a:avLst/>
          </a:prstGeom>
          <a:noFill/>
          <a:ln/>
        </p:spPr>
        <p:txBody>
          <a:bodyPr wrap="square" lIns="0" tIns="0" rIns="0" bIns="0" rtlCol="0" anchor="t"/>
          <a:lstStyle/>
          <a:p>
            <a:pPr indent="0" marL="0">
              <a:buNone/>
            </a:pPr>
            <a:r>
              <a:rPr lang="en-US" sz="950" b="1" dirty="0">
                <a:solidFill>
                  <a:srgbClr val="C9922F"/>
                </a:solidFill>
                <a:latin typeface="Calibri" pitchFamily="34" charset="0"/>
                <a:ea typeface="Calibri" pitchFamily="34" charset="-122"/>
                <a:cs typeface="Calibri" pitchFamily="34" charset="-120"/>
              </a:rPr>
              <a:t>Odounfa, Hounmenou et al. — Discover Artificial Intelligence, 2025</a:t>
            </a:r>
          </a:p>
        </p:txBody>
      </p:sp>
      <p:sp>
        <p:nvSpPr>
          <p:cNvPr id="168" name="Text"/>
          <p:cNvSpPr/>
          <p:nvPr/>
        </p:nvSpPr>
        <p:spPr>
          <a:xfrm>
            <a:off x="685800" y="1691640"/>
            <a:ext cx="4526280" cy="2194560"/>
          </a:xfrm>
          <a:prstGeom prst="rect">
            <a:avLst/>
          </a:prstGeom>
          <a:noFill/>
          <a:ln/>
        </p:spPr>
        <p:txBody>
          <a:bodyPr wrap="square" lIns="0" tIns="0" rIns="0" bIns="0" rtlCol="0" anchor="t"/>
          <a:lstStyle/>
          <a:p>
            <a:pPr indent="0" marL="0">
              <a:lnSpc>
                <a:spcPct val="105000"/>
              </a:lnSpc>
              <a:buNone/>
            </a:pPr>
            <a:r>
              <a:rPr lang="en-US" sz="1000" dirty="0">
                <a:solidFill>
                  <a:srgbClr val="23312B"/>
                </a:solidFill>
                <a:latin typeface="Calibri" pitchFamily="34" charset="0"/>
                <a:ea typeface="Calibri" pitchFamily="34" charset="-122"/>
                <a:cs typeface="Calibri" pitchFamily="34" charset="-120"/>
              </a:rPr>
              <a:t>Chili pepper is a major crop in West Africa, but anthracnose and TYLCV severely cut its yields and farmers' income. Visual inspection is slow, labour-intensive and depends on individual expertise. We built a dataset of 534 leaf images collected in Benin under varied lighting, angles and backgrounds, and compared 13 deep-learning models. YOLOv8 reaches mAP@0.5 = 0.995 while MobileNetV2 and DenseNet121 reach 96.25% accuracy; YOLOv8 runs in 1.2 ms per image with only 3.1M parameters. Deep learning can therefore support real-time, automated disease detection for smallholder farmers.</a:t>
            </a:r>
          </a:p>
        </p:txBody>
      </p:sp>
      <p:sp>
        <p:nvSpPr>
          <p:cNvPr id="169" name="Shape"/>
          <p:cNvSpPr/>
          <p:nvPr/>
        </p:nvSpPr>
        <p:spPr>
          <a:xfrm>
            <a:off x="5623560" y="1234440"/>
            <a:ext cx="3017520" cy="502920"/>
          </a:xfrm>
          <a:prstGeom prst="roundRect">
            <a:avLst>
              <a:gd name="adj" fmla="val 3830"/>
            </a:avLst>
          </a:prstGeom>
          <a:solidFill>
            <a:srgbClr val="EFF5F0"/>
          </a:solidFill>
          <a:ln>
            <a:noFill/>
          </a:ln>
        </p:spPr>
        <p:txBody>
          <a:bodyPr/>
          <a:lstStyle/>
          <a:p/>
        </p:txBody>
      </p:sp>
      <p:sp>
        <p:nvSpPr>
          <p:cNvPr id="170" name="Circle"/>
          <p:cNvSpPr/>
          <p:nvPr/>
        </p:nvSpPr>
        <p:spPr>
          <a:xfrm>
            <a:off x="5760720" y="1353312"/>
            <a:ext cx="265176" cy="265176"/>
          </a:xfrm>
          <a:prstGeom prst="ellipse">
            <a:avLst/>
          </a:prstGeom>
          <a:solidFill>
            <a:srgbClr val="1E5A3F"/>
          </a:solidFill>
          <a:ln>
            <a:noFill/>
          </a:ln>
        </p:spPr>
        <p:txBody>
          <a:bodyPr/>
          <a:lstStyle/>
          <a:p/>
        </p:txBody>
      </p:sp>
      <p:sp>
        <p:nvSpPr>
          <p:cNvPr id="171" name="Text"/>
          <p:cNvSpPr/>
          <p:nvPr/>
        </p:nvSpPr>
        <p:spPr>
          <a:xfrm>
            <a:off x="5760720" y="1353312"/>
            <a:ext cx="265176" cy="265176"/>
          </a:xfrm>
          <a:prstGeom prst="rect">
            <a:avLst/>
          </a:prstGeom>
          <a:noFill/>
          <a:ln/>
        </p:spPr>
        <p:txBody>
          <a:bodyPr wrap="square" lIns="0" tIns="0" rIns="0" bIns="0" rtlCol="0" anchor="ctr"/>
          <a:lstStyle/>
          <a:p>
            <a:pPr indent="0" marL="0" algn="ctr">
              <a:buNone/>
            </a:pPr>
            <a:r>
              <a:rPr lang="en-US" sz="1000" b="1" dirty="0">
                <a:solidFill>
                  <a:srgbClr val="E9B44C"/>
                </a:solidFill>
                <a:latin typeface="Calibri" pitchFamily="34" charset="0"/>
                <a:ea typeface="Calibri" pitchFamily="34" charset="-122"/>
                <a:cs typeface="Calibri" pitchFamily="34" charset="-120"/>
              </a:rPr>
              <a:t>1</a:t>
            </a:r>
          </a:p>
        </p:txBody>
      </p:sp>
      <p:sp>
        <p:nvSpPr>
          <p:cNvPr id="172" name="Text"/>
          <p:cNvSpPr/>
          <p:nvPr/>
        </p:nvSpPr>
        <p:spPr>
          <a:xfrm>
            <a:off x="6126480" y="1316736"/>
            <a:ext cx="2377440" cy="201168"/>
          </a:xfrm>
          <a:prstGeom prst="rect">
            <a:avLst/>
          </a:prstGeom>
          <a:noFill/>
          <a:ln/>
        </p:spPr>
        <p:txBody>
          <a:bodyPr wrap="square" lIns="0" tIns="0" rIns="0" bIns="0" rtlCol="0" anchor="t"/>
          <a:lstStyle/>
          <a:p>
            <a:pPr indent="0" marL="0">
              <a:buNone/>
            </a:pPr>
            <a:r>
              <a:rPr lang="en-US" sz="1000" b="1" spc="100" dirty="0">
                <a:solidFill>
                  <a:srgbClr val="12362A"/>
                </a:solidFill>
                <a:latin typeface="Calibri" pitchFamily="34" charset="0"/>
                <a:ea typeface="Calibri" pitchFamily="34" charset="-122"/>
                <a:cs typeface="Calibri" pitchFamily="34" charset="-120"/>
              </a:rPr>
              <a:t>CONTEXT</a:t>
            </a:r>
          </a:p>
        </p:txBody>
      </p:sp>
      <p:sp>
        <p:nvSpPr>
          <p:cNvPr id="173" name="Text"/>
          <p:cNvSpPr/>
          <p:nvPr/>
        </p:nvSpPr>
        <p:spPr>
          <a:xfrm>
            <a:off x="6126480" y="1508760"/>
            <a:ext cx="2377440" cy="201168"/>
          </a:xfrm>
          <a:prstGeom prst="rect">
            <a:avLst/>
          </a:prstGeom>
          <a:noFill/>
          <a:ln/>
        </p:spPr>
        <p:txBody>
          <a:bodyPr wrap="square" lIns="0" tIns="0" rIns="0" bIns="0" rtlCol="0" anchor="t"/>
          <a:lstStyle/>
          <a:p>
            <a:pPr indent="0" marL="0">
              <a:buNone/>
            </a:pPr>
            <a:r>
              <a:rPr lang="en-US" sz="900" dirty="0">
                <a:solidFill>
                  <a:srgbClr val="5E6E66"/>
                </a:solidFill>
                <a:latin typeface="Calibri" pitchFamily="34" charset="0"/>
                <a:ea typeface="Calibri" pitchFamily="34" charset="-122"/>
                <a:cs typeface="Calibri" pitchFamily="34" charset="-120"/>
              </a:rPr>
              <a:t>the crop, the region, the stakes</a:t>
            </a:r>
          </a:p>
        </p:txBody>
      </p:sp>
      <p:sp>
        <p:nvSpPr>
          <p:cNvPr id="174" name="Shape"/>
          <p:cNvSpPr/>
          <p:nvPr/>
        </p:nvSpPr>
        <p:spPr>
          <a:xfrm>
            <a:off x="5623560" y="1801368"/>
            <a:ext cx="3017520" cy="502920"/>
          </a:xfrm>
          <a:prstGeom prst="roundRect">
            <a:avLst>
              <a:gd name="adj" fmla="val 3830"/>
            </a:avLst>
          </a:prstGeom>
          <a:solidFill>
            <a:srgbClr val="EFF5F0"/>
          </a:solidFill>
          <a:ln>
            <a:noFill/>
          </a:ln>
        </p:spPr>
        <p:txBody>
          <a:bodyPr/>
          <a:lstStyle/>
          <a:p/>
        </p:txBody>
      </p:sp>
      <p:sp>
        <p:nvSpPr>
          <p:cNvPr id="175" name="Circle"/>
          <p:cNvSpPr/>
          <p:nvPr/>
        </p:nvSpPr>
        <p:spPr>
          <a:xfrm>
            <a:off x="5760720" y="1920240"/>
            <a:ext cx="265176" cy="265176"/>
          </a:xfrm>
          <a:prstGeom prst="ellipse">
            <a:avLst/>
          </a:prstGeom>
          <a:solidFill>
            <a:srgbClr val="1E5A3F"/>
          </a:solidFill>
          <a:ln>
            <a:noFill/>
          </a:ln>
        </p:spPr>
        <p:txBody>
          <a:bodyPr/>
          <a:lstStyle/>
          <a:p/>
        </p:txBody>
      </p:sp>
      <p:sp>
        <p:nvSpPr>
          <p:cNvPr id="176" name="Text"/>
          <p:cNvSpPr/>
          <p:nvPr/>
        </p:nvSpPr>
        <p:spPr>
          <a:xfrm>
            <a:off x="5760720" y="1920240"/>
            <a:ext cx="265176" cy="265176"/>
          </a:xfrm>
          <a:prstGeom prst="rect">
            <a:avLst/>
          </a:prstGeom>
          <a:noFill/>
          <a:ln/>
        </p:spPr>
        <p:txBody>
          <a:bodyPr wrap="square" lIns="0" tIns="0" rIns="0" bIns="0" rtlCol="0" anchor="ctr"/>
          <a:lstStyle/>
          <a:p>
            <a:pPr indent="0" marL="0" algn="ctr">
              <a:buNone/>
            </a:pPr>
            <a:r>
              <a:rPr lang="en-US" sz="1000" b="1" dirty="0">
                <a:solidFill>
                  <a:srgbClr val="E9B44C"/>
                </a:solidFill>
                <a:latin typeface="Calibri" pitchFamily="34" charset="0"/>
                <a:ea typeface="Calibri" pitchFamily="34" charset="-122"/>
                <a:cs typeface="Calibri" pitchFamily="34" charset="-120"/>
              </a:rPr>
              <a:t>2</a:t>
            </a:r>
          </a:p>
        </p:txBody>
      </p:sp>
      <p:sp>
        <p:nvSpPr>
          <p:cNvPr id="177" name="Text"/>
          <p:cNvSpPr/>
          <p:nvPr/>
        </p:nvSpPr>
        <p:spPr>
          <a:xfrm>
            <a:off x="6126480" y="1883664"/>
            <a:ext cx="2377440" cy="201168"/>
          </a:xfrm>
          <a:prstGeom prst="rect">
            <a:avLst/>
          </a:prstGeom>
          <a:noFill/>
          <a:ln/>
        </p:spPr>
        <p:txBody>
          <a:bodyPr wrap="square" lIns="0" tIns="0" rIns="0" bIns="0" rtlCol="0" anchor="t"/>
          <a:lstStyle/>
          <a:p>
            <a:pPr indent="0" marL="0">
              <a:buNone/>
            </a:pPr>
            <a:r>
              <a:rPr lang="en-US" sz="1000" b="1" spc="100" dirty="0">
                <a:solidFill>
                  <a:srgbClr val="12362A"/>
                </a:solidFill>
                <a:latin typeface="Calibri" pitchFamily="34" charset="0"/>
                <a:ea typeface="Calibri" pitchFamily="34" charset="-122"/>
                <a:cs typeface="Calibri" pitchFamily="34" charset="-120"/>
              </a:rPr>
              <a:t>GAP</a:t>
            </a:r>
          </a:p>
        </p:txBody>
      </p:sp>
      <p:sp>
        <p:nvSpPr>
          <p:cNvPr id="178" name="Text"/>
          <p:cNvSpPr/>
          <p:nvPr/>
        </p:nvSpPr>
        <p:spPr>
          <a:xfrm>
            <a:off x="6126480" y="2075688"/>
            <a:ext cx="2377440" cy="201168"/>
          </a:xfrm>
          <a:prstGeom prst="rect">
            <a:avLst/>
          </a:prstGeom>
          <a:noFill/>
          <a:ln/>
        </p:spPr>
        <p:txBody>
          <a:bodyPr wrap="square" lIns="0" tIns="0" rIns="0" bIns="0" rtlCol="0" anchor="t"/>
          <a:lstStyle/>
          <a:p>
            <a:pPr indent="0" marL="0">
              <a:buNone/>
            </a:pPr>
            <a:r>
              <a:rPr lang="en-US" sz="900" dirty="0">
                <a:solidFill>
                  <a:srgbClr val="5E6E66"/>
                </a:solidFill>
                <a:latin typeface="Calibri" pitchFamily="34" charset="0"/>
                <a:ea typeface="Calibri" pitchFamily="34" charset="-122"/>
                <a:cs typeface="Calibri" pitchFamily="34" charset="-120"/>
              </a:rPr>
              <a:t>why today's practice fails</a:t>
            </a:r>
          </a:p>
        </p:txBody>
      </p:sp>
      <p:sp>
        <p:nvSpPr>
          <p:cNvPr id="179" name="Shape"/>
          <p:cNvSpPr/>
          <p:nvPr/>
        </p:nvSpPr>
        <p:spPr>
          <a:xfrm>
            <a:off x="5623560" y="2368296"/>
            <a:ext cx="3017520" cy="502920"/>
          </a:xfrm>
          <a:prstGeom prst="roundRect">
            <a:avLst>
              <a:gd name="adj" fmla="val 3830"/>
            </a:avLst>
          </a:prstGeom>
          <a:solidFill>
            <a:srgbClr val="EFF5F0"/>
          </a:solidFill>
          <a:ln>
            <a:noFill/>
          </a:ln>
        </p:spPr>
        <p:txBody>
          <a:bodyPr/>
          <a:lstStyle/>
          <a:p/>
        </p:txBody>
      </p:sp>
      <p:sp>
        <p:nvSpPr>
          <p:cNvPr id="180" name="Circle"/>
          <p:cNvSpPr/>
          <p:nvPr/>
        </p:nvSpPr>
        <p:spPr>
          <a:xfrm>
            <a:off x="5760720" y="2487168"/>
            <a:ext cx="265176" cy="265176"/>
          </a:xfrm>
          <a:prstGeom prst="ellipse">
            <a:avLst/>
          </a:prstGeom>
          <a:solidFill>
            <a:srgbClr val="1E5A3F"/>
          </a:solidFill>
          <a:ln>
            <a:noFill/>
          </a:ln>
        </p:spPr>
        <p:txBody>
          <a:bodyPr/>
          <a:lstStyle/>
          <a:p/>
        </p:txBody>
      </p:sp>
      <p:sp>
        <p:nvSpPr>
          <p:cNvPr id="181" name="Text"/>
          <p:cNvSpPr/>
          <p:nvPr/>
        </p:nvSpPr>
        <p:spPr>
          <a:xfrm>
            <a:off x="5760720" y="2487168"/>
            <a:ext cx="265176" cy="265176"/>
          </a:xfrm>
          <a:prstGeom prst="rect">
            <a:avLst/>
          </a:prstGeom>
          <a:noFill/>
          <a:ln/>
        </p:spPr>
        <p:txBody>
          <a:bodyPr wrap="square" lIns="0" tIns="0" rIns="0" bIns="0" rtlCol="0" anchor="ctr"/>
          <a:lstStyle/>
          <a:p>
            <a:pPr indent="0" marL="0" algn="ctr">
              <a:buNone/>
            </a:pPr>
            <a:r>
              <a:rPr lang="en-US" sz="1000" b="1" dirty="0">
                <a:solidFill>
                  <a:srgbClr val="E9B44C"/>
                </a:solidFill>
                <a:latin typeface="Calibri" pitchFamily="34" charset="0"/>
                <a:ea typeface="Calibri" pitchFamily="34" charset="-122"/>
                <a:cs typeface="Calibri" pitchFamily="34" charset="-120"/>
              </a:rPr>
              <a:t>3</a:t>
            </a:r>
          </a:p>
        </p:txBody>
      </p:sp>
      <p:sp>
        <p:nvSpPr>
          <p:cNvPr id="182" name="Text"/>
          <p:cNvSpPr/>
          <p:nvPr/>
        </p:nvSpPr>
        <p:spPr>
          <a:xfrm>
            <a:off x="6126480" y="2450592"/>
            <a:ext cx="2377440" cy="201168"/>
          </a:xfrm>
          <a:prstGeom prst="rect">
            <a:avLst/>
          </a:prstGeom>
          <a:noFill/>
          <a:ln/>
        </p:spPr>
        <p:txBody>
          <a:bodyPr wrap="square" lIns="0" tIns="0" rIns="0" bIns="0" rtlCol="0" anchor="t"/>
          <a:lstStyle/>
          <a:p>
            <a:pPr indent="0" marL="0">
              <a:buNone/>
            </a:pPr>
            <a:r>
              <a:rPr lang="en-US" sz="1000" b="1" spc="100" dirty="0">
                <a:solidFill>
                  <a:srgbClr val="12362A"/>
                </a:solidFill>
                <a:latin typeface="Calibri" pitchFamily="34" charset="0"/>
                <a:ea typeface="Calibri" pitchFamily="34" charset="-122"/>
                <a:cs typeface="Calibri" pitchFamily="34" charset="-120"/>
              </a:rPr>
              <a:t>METHOD</a:t>
            </a:r>
          </a:p>
        </p:txBody>
      </p:sp>
      <p:sp>
        <p:nvSpPr>
          <p:cNvPr id="183" name="Text"/>
          <p:cNvSpPr/>
          <p:nvPr/>
        </p:nvSpPr>
        <p:spPr>
          <a:xfrm>
            <a:off x="6126480" y="2642616"/>
            <a:ext cx="2377440" cy="201168"/>
          </a:xfrm>
          <a:prstGeom prst="rect">
            <a:avLst/>
          </a:prstGeom>
          <a:noFill/>
          <a:ln/>
        </p:spPr>
        <p:txBody>
          <a:bodyPr wrap="square" lIns="0" tIns="0" rIns="0" bIns="0" rtlCol="0" anchor="t"/>
          <a:lstStyle/>
          <a:p>
            <a:pPr indent="0" marL="0">
              <a:buNone/>
            </a:pPr>
            <a:r>
              <a:rPr lang="en-US" sz="900" dirty="0">
                <a:solidFill>
                  <a:srgbClr val="5E6E66"/>
                </a:solidFill>
                <a:latin typeface="Calibri" pitchFamily="34" charset="0"/>
                <a:ea typeface="Calibri" pitchFamily="34" charset="-122"/>
                <a:cs typeface="Calibri" pitchFamily="34" charset="-120"/>
              </a:rPr>
              <a:t>the dataset + what was compared</a:t>
            </a:r>
          </a:p>
        </p:txBody>
      </p:sp>
      <p:sp>
        <p:nvSpPr>
          <p:cNvPr id="184" name="Shape"/>
          <p:cNvSpPr/>
          <p:nvPr/>
        </p:nvSpPr>
        <p:spPr>
          <a:xfrm>
            <a:off x="5623560" y="2935224"/>
            <a:ext cx="3017520" cy="502920"/>
          </a:xfrm>
          <a:prstGeom prst="roundRect">
            <a:avLst>
              <a:gd name="adj" fmla="val 3830"/>
            </a:avLst>
          </a:prstGeom>
          <a:solidFill>
            <a:srgbClr val="EFF5F0"/>
          </a:solidFill>
          <a:ln>
            <a:noFill/>
          </a:ln>
        </p:spPr>
        <p:txBody>
          <a:bodyPr/>
          <a:lstStyle/>
          <a:p/>
        </p:txBody>
      </p:sp>
      <p:sp>
        <p:nvSpPr>
          <p:cNvPr id="185" name="Circle"/>
          <p:cNvSpPr/>
          <p:nvPr/>
        </p:nvSpPr>
        <p:spPr>
          <a:xfrm>
            <a:off x="5760720" y="3054096"/>
            <a:ext cx="265176" cy="265176"/>
          </a:xfrm>
          <a:prstGeom prst="ellipse">
            <a:avLst/>
          </a:prstGeom>
          <a:solidFill>
            <a:srgbClr val="1E5A3F"/>
          </a:solidFill>
          <a:ln>
            <a:noFill/>
          </a:ln>
        </p:spPr>
        <p:txBody>
          <a:bodyPr/>
          <a:lstStyle/>
          <a:p/>
        </p:txBody>
      </p:sp>
      <p:sp>
        <p:nvSpPr>
          <p:cNvPr id="186" name="Text"/>
          <p:cNvSpPr/>
          <p:nvPr/>
        </p:nvSpPr>
        <p:spPr>
          <a:xfrm>
            <a:off x="5760720" y="3054096"/>
            <a:ext cx="265176" cy="265176"/>
          </a:xfrm>
          <a:prstGeom prst="rect">
            <a:avLst/>
          </a:prstGeom>
          <a:noFill/>
          <a:ln/>
        </p:spPr>
        <p:txBody>
          <a:bodyPr wrap="square" lIns="0" tIns="0" rIns="0" bIns="0" rtlCol="0" anchor="ctr"/>
          <a:lstStyle/>
          <a:p>
            <a:pPr indent="0" marL="0" algn="ctr">
              <a:buNone/>
            </a:pPr>
            <a:r>
              <a:rPr lang="en-US" sz="1000" b="1" dirty="0">
                <a:solidFill>
                  <a:srgbClr val="E9B44C"/>
                </a:solidFill>
                <a:latin typeface="Calibri" pitchFamily="34" charset="0"/>
                <a:ea typeface="Calibri" pitchFamily="34" charset="-122"/>
                <a:cs typeface="Calibri" pitchFamily="34" charset="-120"/>
              </a:rPr>
              <a:t>4</a:t>
            </a:r>
          </a:p>
        </p:txBody>
      </p:sp>
      <p:sp>
        <p:nvSpPr>
          <p:cNvPr id="187" name="Text"/>
          <p:cNvSpPr/>
          <p:nvPr/>
        </p:nvSpPr>
        <p:spPr>
          <a:xfrm>
            <a:off x="6126480" y="3017520"/>
            <a:ext cx="2377440" cy="201168"/>
          </a:xfrm>
          <a:prstGeom prst="rect">
            <a:avLst/>
          </a:prstGeom>
          <a:noFill/>
          <a:ln/>
        </p:spPr>
        <p:txBody>
          <a:bodyPr wrap="square" lIns="0" tIns="0" rIns="0" bIns="0" rtlCol="0" anchor="t"/>
          <a:lstStyle/>
          <a:p>
            <a:pPr indent="0" marL="0">
              <a:buNone/>
            </a:pPr>
            <a:r>
              <a:rPr lang="en-US" sz="1000" b="1" spc="100" dirty="0">
                <a:solidFill>
                  <a:srgbClr val="12362A"/>
                </a:solidFill>
                <a:latin typeface="Calibri" pitchFamily="34" charset="0"/>
                <a:ea typeface="Calibri" pitchFamily="34" charset="-122"/>
                <a:cs typeface="Calibri" pitchFamily="34" charset="-120"/>
              </a:rPr>
              <a:t>RESULTS</a:t>
            </a:r>
          </a:p>
        </p:txBody>
      </p:sp>
      <p:sp>
        <p:nvSpPr>
          <p:cNvPr id="188" name="Text"/>
          <p:cNvSpPr/>
          <p:nvPr/>
        </p:nvSpPr>
        <p:spPr>
          <a:xfrm>
            <a:off x="6126480" y="3209544"/>
            <a:ext cx="2377440" cy="201168"/>
          </a:xfrm>
          <a:prstGeom prst="rect">
            <a:avLst/>
          </a:prstGeom>
          <a:noFill/>
          <a:ln/>
        </p:spPr>
        <p:txBody>
          <a:bodyPr wrap="square" lIns="0" tIns="0" rIns="0" bIns="0" rtlCol="0" anchor="t"/>
          <a:lstStyle/>
          <a:p>
            <a:pPr indent="0" marL="0">
              <a:buNone/>
            </a:pPr>
            <a:r>
              <a:rPr lang="en-US" sz="900" dirty="0">
                <a:solidFill>
                  <a:srgbClr val="5E6E66"/>
                </a:solidFill>
                <a:latin typeface="Calibri" pitchFamily="34" charset="0"/>
                <a:ea typeface="Calibri" pitchFamily="34" charset="-122"/>
                <a:cs typeface="Calibri" pitchFamily="34" charset="-120"/>
              </a:rPr>
              <a:t>named metrics, exact numbers</a:t>
            </a:r>
          </a:p>
        </p:txBody>
      </p:sp>
      <p:sp>
        <p:nvSpPr>
          <p:cNvPr id="189" name="Shape"/>
          <p:cNvSpPr/>
          <p:nvPr/>
        </p:nvSpPr>
        <p:spPr>
          <a:xfrm>
            <a:off x="5623560" y="3502152"/>
            <a:ext cx="3017520" cy="502920"/>
          </a:xfrm>
          <a:prstGeom prst="roundRect">
            <a:avLst>
              <a:gd name="adj" fmla="val 3830"/>
            </a:avLst>
          </a:prstGeom>
          <a:solidFill>
            <a:srgbClr val="EFF5F0"/>
          </a:solidFill>
          <a:ln>
            <a:noFill/>
          </a:ln>
        </p:spPr>
        <p:txBody>
          <a:bodyPr/>
          <a:lstStyle/>
          <a:p/>
        </p:txBody>
      </p:sp>
      <p:sp>
        <p:nvSpPr>
          <p:cNvPr id="190" name="Circle"/>
          <p:cNvSpPr/>
          <p:nvPr/>
        </p:nvSpPr>
        <p:spPr>
          <a:xfrm>
            <a:off x="5760720" y="3621024"/>
            <a:ext cx="265176" cy="265176"/>
          </a:xfrm>
          <a:prstGeom prst="ellipse">
            <a:avLst/>
          </a:prstGeom>
          <a:solidFill>
            <a:srgbClr val="1E5A3F"/>
          </a:solidFill>
          <a:ln>
            <a:noFill/>
          </a:ln>
        </p:spPr>
        <p:txBody>
          <a:bodyPr/>
          <a:lstStyle/>
          <a:p/>
        </p:txBody>
      </p:sp>
      <p:sp>
        <p:nvSpPr>
          <p:cNvPr id="191" name="Text"/>
          <p:cNvSpPr/>
          <p:nvPr/>
        </p:nvSpPr>
        <p:spPr>
          <a:xfrm>
            <a:off x="5760720" y="3621024"/>
            <a:ext cx="265176" cy="265176"/>
          </a:xfrm>
          <a:prstGeom prst="rect">
            <a:avLst/>
          </a:prstGeom>
          <a:noFill/>
          <a:ln/>
        </p:spPr>
        <p:txBody>
          <a:bodyPr wrap="square" lIns="0" tIns="0" rIns="0" bIns="0" rtlCol="0" anchor="ctr"/>
          <a:lstStyle/>
          <a:p>
            <a:pPr indent="0" marL="0" algn="ctr">
              <a:buNone/>
            </a:pPr>
            <a:r>
              <a:rPr lang="en-US" sz="1000" b="1" dirty="0">
                <a:solidFill>
                  <a:srgbClr val="E9B44C"/>
                </a:solidFill>
                <a:latin typeface="Calibri" pitchFamily="34" charset="0"/>
                <a:ea typeface="Calibri" pitchFamily="34" charset="-122"/>
                <a:cs typeface="Calibri" pitchFamily="34" charset="-120"/>
              </a:rPr>
              <a:t>5</a:t>
            </a:r>
          </a:p>
        </p:txBody>
      </p:sp>
      <p:sp>
        <p:nvSpPr>
          <p:cNvPr id="192" name="Text"/>
          <p:cNvSpPr/>
          <p:nvPr/>
        </p:nvSpPr>
        <p:spPr>
          <a:xfrm>
            <a:off x="6126480" y="3584448"/>
            <a:ext cx="2377440" cy="201168"/>
          </a:xfrm>
          <a:prstGeom prst="rect">
            <a:avLst/>
          </a:prstGeom>
          <a:noFill/>
          <a:ln/>
        </p:spPr>
        <p:txBody>
          <a:bodyPr wrap="square" lIns="0" tIns="0" rIns="0" bIns="0" rtlCol="0" anchor="t"/>
          <a:lstStyle/>
          <a:p>
            <a:pPr indent="0" marL="0">
              <a:buNone/>
            </a:pPr>
            <a:r>
              <a:rPr lang="en-US" sz="1000" b="1" spc="100" dirty="0">
                <a:solidFill>
                  <a:srgbClr val="12362A"/>
                </a:solidFill>
                <a:latin typeface="Calibri" pitchFamily="34" charset="0"/>
                <a:ea typeface="Calibri" pitchFamily="34" charset="-122"/>
                <a:cs typeface="Calibri" pitchFamily="34" charset="-120"/>
              </a:rPr>
              <a:t>IMPACT</a:t>
            </a:r>
          </a:p>
        </p:txBody>
      </p:sp>
      <p:sp>
        <p:nvSpPr>
          <p:cNvPr id="193" name="Text"/>
          <p:cNvSpPr/>
          <p:nvPr/>
        </p:nvSpPr>
        <p:spPr>
          <a:xfrm>
            <a:off x="6126480" y="3776472"/>
            <a:ext cx="2377440" cy="201168"/>
          </a:xfrm>
          <a:prstGeom prst="rect">
            <a:avLst/>
          </a:prstGeom>
          <a:noFill/>
          <a:ln/>
        </p:spPr>
        <p:txBody>
          <a:bodyPr wrap="square" lIns="0" tIns="0" rIns="0" bIns="0" rtlCol="0" anchor="t"/>
          <a:lstStyle/>
          <a:p>
            <a:pPr indent="0" marL="0">
              <a:buNone/>
            </a:pPr>
            <a:r>
              <a:rPr lang="en-US" sz="900" dirty="0">
                <a:solidFill>
                  <a:srgbClr val="5E6E66"/>
                </a:solidFill>
                <a:latin typeface="Calibri" pitchFamily="34" charset="0"/>
                <a:ea typeface="Calibri" pitchFamily="34" charset="-122"/>
                <a:cs typeface="Calibri" pitchFamily="34" charset="-120"/>
              </a:rPr>
              <a:t>the door it opens</a:t>
            </a:r>
          </a:p>
        </p:txBody>
      </p:sp>
      <p:sp>
        <p:nvSpPr>
          <p:cNvPr id="194" name="Shape"/>
          <p:cNvSpPr/>
          <p:nvPr/>
        </p:nvSpPr>
        <p:spPr>
          <a:xfrm>
            <a:off x="502920" y="4078224"/>
            <a:ext cx="8138160" cy="640080"/>
          </a:xfrm>
          <a:prstGeom prst="roundRect">
            <a:avLst>
              <a:gd name="adj" fmla="val 14516"/>
            </a:avLst>
          </a:prstGeom>
          <a:solidFill>
            <a:srgbClr val="F7F4EC"/>
          </a:solidFill>
          <a:ln>
            <a:noFill/>
          </a:ln>
        </p:spPr>
        <p:txBody>
          <a:bodyPr/>
          <a:lstStyle/>
          <a:p/>
        </p:txBody>
      </p:sp>
      <p:sp>
        <p:nvSpPr>
          <p:cNvPr id="195" name="Text"/>
          <p:cNvSpPr/>
          <p:nvPr/>
        </p:nvSpPr>
        <p:spPr>
          <a:xfrm>
            <a:off x="704088" y="4133088"/>
            <a:ext cx="7735824" cy="530352"/>
          </a:xfrm>
          <a:prstGeom prst="rect">
            <a:avLst/>
          </a:prstGeom>
          <a:noFill/>
          <a:ln/>
        </p:spPr>
        <p:txBody>
          <a:bodyPr wrap="square" lIns="0" tIns="0" rIns="0" bIns="0" rtlCol="0" anchor="ctr"/>
          <a:lstStyle/>
          <a:p>
            <a:pPr indent="0" marL="0">
              <a:lnSpc>
                <a:spcPct val="100000"/>
              </a:lnSpc>
              <a:buNone/>
            </a:pPr>
            <a:r>
              <a:rPr lang="en-US" sz="1150" b="1" dirty="0">
                <a:solidFill>
                  <a:srgbClr val="C9922F"/>
                </a:solidFill>
                <a:latin typeface="Calibri" pitchFamily="34" charset="0"/>
                <a:ea typeface="Calibri" pitchFamily="34" charset="-122"/>
                <a:cs typeface="Calibri" pitchFamily="34" charset="-120"/>
              </a:rPr>
              <a:t>Notice:</a:t>
            </a:r>
            <a:r>
              <a:rPr lang="en-US" sz="1150" dirty="0">
                <a:solidFill>
                  <a:srgbClr val="23312B"/>
                </a:solidFill>
                <a:latin typeface="Calibri" pitchFamily="34" charset="0"/>
                <a:ea typeface="Calibri" pitchFamily="34" charset="-122"/>
                <a:cs typeface="Calibri" pitchFamily="34" charset="-120"/>
              </a:rPr>
              <a:t>  no adjective does any work. Every claim is a number a reviewer can check, against a named baseline.</a:t>
            </a:r>
          </a:p>
        </p:txBody>
      </p:sp>
      <p:sp>
        <p:nvSpPr>
          <p:cNvPr id="196" name="Text"/>
          <p:cNvSpPr/>
          <p:nvPr/>
        </p:nvSpPr>
        <p:spPr>
          <a:xfrm>
            <a:off x="457200" y="4846320"/>
            <a:ext cx="5943600" cy="228600"/>
          </a:xfrm>
          <a:prstGeom prst="rect">
            <a:avLst/>
          </a:prstGeom>
          <a:noFill/>
          <a:ln/>
        </p:spPr>
        <p:txBody>
          <a:bodyPr wrap="square" lIns="0" tIns="0" rIns="0" bIns="0" rtlCol="0" anchor="t"/>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p>
        </p:txBody>
      </p:sp>
      <p:sp>
        <p:nvSpPr>
          <p:cNvPr id="197" name="Text"/>
          <p:cNvSpPr/>
          <p:nvPr/>
        </p:nvSpPr>
        <p:spPr>
          <a:xfrm>
            <a:off x="8503920" y="4846320"/>
            <a:ext cx="320040" cy="228600"/>
          </a:xfrm>
          <a:prstGeom prst="rect">
            <a:avLst/>
          </a:prstGeom>
          <a:noFill/>
          <a:ln/>
        </p:spPr>
        <p:txBody>
          <a:bodyPr wrap="square" lIns="0" tIns="0" rIns="0" bIns="0" rtlCol="0" anchor="t"/>
          <a:lstStyle/>
          <a:p>
            <a:pPr indent="0" marL="0" algn="r">
              <a:buNone/>
            </a:pPr>
            <a:r>
              <a:rPr lang="en-US" sz="850" dirty="0">
                <a:solidFill>
                  <a:srgbClr val="5E6E66"/>
                </a:solidFill>
                <a:latin typeface="Calibri" pitchFamily="34" charset="0"/>
                <a:ea typeface="Calibri" pitchFamily="34" charset="-122"/>
                <a:cs typeface="Calibri" pitchFamily="34" charset="-120"/>
              </a:rPr>
              <a:t>13</a:t>
            </a:r>
          </a:p>
        </p:txBody>
      </p:sp>
      <p:pic>
        <p:nvPicPr>
          <p:cNvPr id="198"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99"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name="Slide refs">
    <p:spTree>
      <p:nvGrpSpPr>
        <p:cNvPr id="1" name=""/>
        <p:cNvGrpSpPr/>
        <p:nvPr/>
      </p:nvGrpSpPr>
      <p:grpSpPr>
        <a:xfrm>
          <a:off x="0" y="0"/>
          <a:ext cx="0" cy="0"/>
          <a:chOff x="0" y="0"/>
          <a:chExt cx="0" cy="0"/>
        </a:xfrm>
      </p:grpSpPr>
      <p:sp>
        <p:nvSpPr>
          <p:cNvPr id="226" name="Circle"/>
          <p:cNvSpPr/>
          <p:nvPr/>
        </p:nvSpPr>
        <p:spPr>
          <a:xfrm>
            <a:off x="457200" y="384048"/>
            <a:ext cx="475488" cy="475488"/>
          </a:xfrm>
          <a:prstGeom prst="ellipse">
            <a:avLst/>
          </a:prstGeom>
          <a:solidFill>
            <a:srgbClr val="1E5A3F"/>
          </a:solidFill>
          <a:ln>
            <a:noFill/>
          </a:ln>
        </p:spPr>
        <p:txBody>
          <a:bodyPr/>
          <a:lstStyle/>
          <a:p/>
        </p:txBody>
      </p:sp>
      <p:sp>
        <p:nvSpPr>
          <p:cNvPr id="227" name="Text"/>
          <p:cNvSpPr/>
          <p:nvPr/>
        </p:nvSpPr>
        <p:spPr>
          <a:xfrm>
            <a:off x="1051560" y="329184"/>
            <a:ext cx="6400800" cy="256032"/>
          </a:xfrm>
          <a:prstGeom prst="rect">
            <a:avLst/>
          </a:prstGeom>
          <a:noFill/>
          <a:ln/>
        </p:spPr>
        <p:txBody>
          <a:bodyPr wrap="square" lIns="0" tIns="0" rIns="0" bIns="0" rtlCol="0" anchor="t"/>
          <a:lstStyle/>
          <a:p>
            <a:pPr indent="0" marL="0">
              <a:buNone/>
            </a:pPr>
            <a:r>
              <a:rPr lang="en-US" sz="1100" b="1" spc="200" dirty="0">
                <a:solidFill>
                  <a:srgbClr val="C9922F"/>
                </a:solidFill>
                <a:latin typeface="Calibri" pitchFamily="34" charset="0"/>
                <a:ea typeface="Calibri" pitchFamily="34" charset="-122"/>
                <a:cs typeface="Calibri" pitchFamily="34" charset="-120"/>
              </a:rPr>
              <a:t>TAKE-HOME</a:t>
            </a:r>
          </a:p>
        </p:txBody>
      </p:sp>
      <p:sp>
        <p:nvSpPr>
          <p:cNvPr id="228" name="Text"/>
          <p:cNvSpPr/>
          <p:nvPr/>
        </p:nvSpPr>
        <p:spPr>
          <a:xfrm>
            <a:off x="1051560" y="548640"/>
            <a:ext cx="7315200" cy="502920"/>
          </a:xfrm>
          <a:prstGeom prst="rect">
            <a:avLst/>
          </a:prstGeom>
          <a:noFill/>
          <a:ln/>
        </p:spPr>
        <p:txBody>
          <a:bodyPr wrap="square" lIns="0" tIns="0" rIns="0" bIns="0" rtlCol="0" anchor="t"/>
          <a:lstStyle/>
          <a:p>
            <a:pPr indent="0" marL="0">
              <a:buNone/>
            </a:pPr>
            <a:r>
              <a:rPr lang="en-US" sz="2500" b="1" dirty="0">
                <a:solidFill>
                  <a:srgbClr val="12362A"/>
                </a:solidFill>
                <a:latin typeface="Cambria" pitchFamily="34" charset="0"/>
                <a:ea typeface="Cambria" pitchFamily="34" charset="-122"/>
                <a:cs typeface="Cambria" pitchFamily="34" charset="-120"/>
              </a:rPr>
              <a:t>The papers behind this session</a:t>
            </a:r>
          </a:p>
        </p:txBody>
      </p:sp>
      <p:sp>
        <p:nvSpPr>
          <p:cNvPr id="229" name="Shape"/>
          <p:cNvSpPr/>
          <p:nvPr/>
        </p:nvSpPr>
        <p:spPr>
          <a:xfrm>
            <a:off x="502920" y="1280160"/>
            <a:ext cx="8138160" cy="731520"/>
          </a:xfrm>
          <a:prstGeom prst="roundRect">
            <a:avLst>
              <a:gd name="adj" fmla="val 3830"/>
            </a:avLst>
          </a:prstGeom>
          <a:solidFill>
            <a:srgbClr val="EFF5F0"/>
          </a:solidFill>
          <a:ln>
            <a:noFill/>
          </a:ln>
        </p:spPr>
        <p:txBody>
          <a:bodyPr/>
          <a:lstStyle/>
          <a:p/>
        </p:txBody>
      </p:sp>
      <p:sp>
        <p:nvSpPr>
          <p:cNvPr id="230" name="Circle"/>
          <p:cNvSpPr/>
          <p:nvPr/>
        </p:nvSpPr>
        <p:spPr>
          <a:xfrm>
            <a:off x="685800" y="1499616"/>
            <a:ext cx="292608" cy="292608"/>
          </a:xfrm>
          <a:prstGeom prst="ellipse">
            <a:avLst/>
          </a:prstGeom>
          <a:solidFill>
            <a:srgbClr val="1E5A3F"/>
          </a:solidFill>
          <a:ln>
            <a:noFill/>
          </a:ln>
        </p:spPr>
        <p:txBody>
          <a:bodyPr/>
          <a:lstStyle/>
          <a:p/>
        </p:txBody>
      </p:sp>
      <p:sp>
        <p:nvSpPr>
          <p:cNvPr id="231" name="Text"/>
          <p:cNvSpPr/>
          <p:nvPr/>
        </p:nvSpPr>
        <p:spPr>
          <a:xfrm>
            <a:off x="685800" y="1499616"/>
            <a:ext cx="292608" cy="292608"/>
          </a:xfrm>
          <a:prstGeom prst="rect">
            <a:avLst/>
          </a:prstGeom>
          <a:noFill/>
          <a:ln/>
        </p:spPr>
        <p:txBody>
          <a:bodyPr wrap="square" lIns="0" tIns="0" rIns="0" bIns="0" rtlCol="0" anchor="ctr"/>
          <a:lstStyle/>
          <a:p>
            <a:pPr indent="0" marL="0" algn="ctr">
              <a:buNone/>
            </a:pPr>
            <a:r>
              <a:rPr lang="en-US" sz="1100" b="1" dirty="0">
                <a:solidFill>
                  <a:srgbClr val="E9B44C"/>
                </a:solidFill>
                <a:latin typeface="Calibri" pitchFamily="34" charset="0"/>
                <a:ea typeface="Calibri" pitchFamily="34" charset="-122"/>
                <a:cs typeface="Calibri" pitchFamily="34" charset="-120"/>
              </a:rPr>
              <a:t>§</a:t>
            </a:r>
          </a:p>
        </p:txBody>
      </p:sp>
      <p:sp>
        <p:nvSpPr>
          <p:cNvPr id="232" name="Text"/>
          <p:cNvSpPr/>
          <p:nvPr/>
        </p:nvSpPr>
        <p:spPr>
          <a:xfrm>
            <a:off x="1115568" y="1399032"/>
            <a:ext cx="7360920" cy="219456"/>
          </a:xfrm>
          <a:prstGeom prst="rect">
            <a:avLst/>
          </a:prstGeom>
          <a:noFill/>
          <a:ln/>
        </p:spPr>
        <p:txBody>
          <a:bodyPr wrap="square" lIns="0" tIns="0" rIns="0" bIns="0" rtlCol="0" anchor="t"/>
          <a:lstStyle/>
          <a:p>
            <a:pPr indent="0" marL="0">
              <a:buNone/>
            </a:pPr>
            <a:r>
              <a:rPr lang="en-US" sz="1150" b="1" dirty="0">
                <a:solidFill>
                  <a:srgbClr val="12362A"/>
                </a:solidFill>
                <a:latin typeface="Calibri" pitchFamily="34" charset="0"/>
                <a:ea typeface="Calibri" pitchFamily="34" charset="-122"/>
                <a:cs typeface="Calibri" pitchFamily="34" charset="-120"/>
              </a:rPr>
              <a:t>The reading method</a:t>
            </a:r>
          </a:p>
        </p:txBody>
      </p:sp>
      <p:sp>
        <p:nvSpPr>
          <p:cNvPr id="233" name="Text"/>
          <p:cNvSpPr/>
          <p:nvPr/>
        </p:nvSpPr>
        <p:spPr>
          <a:xfrm>
            <a:off x="1115568" y="1627632"/>
            <a:ext cx="7360920" cy="365760"/>
          </a:xfrm>
          <a:prstGeom prst="rect">
            <a:avLst/>
          </a:prstGeom>
          <a:noFill/>
          <a:ln/>
        </p:spPr>
        <p:txBody>
          <a:bodyPr wrap="square" lIns="0" tIns="0" rIns="0" bIns="0" rtlCol="0" anchor="t"/>
          <a:lstStyle/>
          <a:p>
            <a:pPr indent="0" marL="0">
              <a:buNone/>
            </a:pPr>
            <a:r>
              <a:rPr lang="en-US" sz="950" dirty="0">
                <a:solidFill>
                  <a:srgbClr val="23312B"/>
                </a:solidFill>
                <a:latin typeface="Calibri" pitchFamily="34" charset="0"/>
                <a:ea typeface="Calibri" pitchFamily="34" charset="-122"/>
                <a:cs typeface="Calibri" pitchFamily="34" charset="-120"/>
              </a:rPr>
              <a:t>S. Keshav (2007). “How to Read a Paper.” ACM SIGCOMM Computer Communication Review, 37(3):83–84. — the 3-Pass method, 2 pages, read it tonight.</a:t>
            </a:r>
          </a:p>
        </p:txBody>
      </p:sp>
      <p:sp>
        <p:nvSpPr>
          <p:cNvPr id="234" name="Shape"/>
          <p:cNvSpPr/>
          <p:nvPr/>
        </p:nvSpPr>
        <p:spPr>
          <a:xfrm>
            <a:off x="502920" y="2121408"/>
            <a:ext cx="8138160" cy="731520"/>
          </a:xfrm>
          <a:prstGeom prst="roundRect">
            <a:avLst>
              <a:gd name="adj" fmla="val 3830"/>
            </a:avLst>
          </a:prstGeom>
          <a:solidFill>
            <a:srgbClr val="EFF5F0"/>
          </a:solidFill>
          <a:ln>
            <a:noFill/>
          </a:ln>
        </p:spPr>
        <p:txBody>
          <a:bodyPr/>
          <a:lstStyle/>
          <a:p/>
        </p:txBody>
      </p:sp>
      <p:sp>
        <p:nvSpPr>
          <p:cNvPr id="235" name="Circle"/>
          <p:cNvSpPr/>
          <p:nvPr/>
        </p:nvSpPr>
        <p:spPr>
          <a:xfrm>
            <a:off x="685800" y="2340864"/>
            <a:ext cx="292608" cy="292608"/>
          </a:xfrm>
          <a:prstGeom prst="ellipse">
            <a:avLst/>
          </a:prstGeom>
          <a:solidFill>
            <a:srgbClr val="1E5A3F"/>
          </a:solidFill>
          <a:ln>
            <a:noFill/>
          </a:ln>
        </p:spPr>
        <p:txBody>
          <a:bodyPr/>
          <a:lstStyle/>
          <a:p/>
        </p:txBody>
      </p:sp>
      <p:sp>
        <p:nvSpPr>
          <p:cNvPr id="236" name="Text"/>
          <p:cNvSpPr/>
          <p:nvPr/>
        </p:nvSpPr>
        <p:spPr>
          <a:xfrm>
            <a:off x="685800" y="2340864"/>
            <a:ext cx="292608" cy="292608"/>
          </a:xfrm>
          <a:prstGeom prst="rect">
            <a:avLst/>
          </a:prstGeom>
          <a:noFill/>
          <a:ln/>
        </p:spPr>
        <p:txBody>
          <a:bodyPr wrap="square" lIns="0" tIns="0" rIns="0" bIns="0" rtlCol="0" anchor="ctr"/>
          <a:lstStyle/>
          <a:p>
            <a:pPr indent="0" marL="0" algn="ctr">
              <a:buNone/>
            </a:pPr>
            <a:r>
              <a:rPr lang="en-US" sz="1100" b="1" dirty="0">
                <a:solidFill>
                  <a:srgbClr val="E9B44C"/>
                </a:solidFill>
                <a:latin typeface="Calibri" pitchFamily="34" charset="0"/>
                <a:ea typeface="Calibri" pitchFamily="34" charset="-122"/>
                <a:cs typeface="Calibri" pitchFamily="34" charset="-120"/>
              </a:rPr>
              <a:t>§</a:t>
            </a:r>
          </a:p>
        </p:txBody>
      </p:sp>
      <p:sp>
        <p:nvSpPr>
          <p:cNvPr id="237" name="Text"/>
          <p:cNvSpPr/>
          <p:nvPr/>
        </p:nvSpPr>
        <p:spPr>
          <a:xfrm>
            <a:off x="1115568" y="2240280"/>
            <a:ext cx="7360920" cy="219456"/>
          </a:xfrm>
          <a:prstGeom prst="rect">
            <a:avLst/>
          </a:prstGeom>
          <a:noFill/>
          <a:ln/>
        </p:spPr>
        <p:txBody>
          <a:bodyPr wrap="square" lIns="0" tIns="0" rIns="0" bIns="0" rtlCol="0" anchor="t"/>
          <a:lstStyle/>
          <a:p>
            <a:pPr indent="0" marL="0">
              <a:buNone/>
            </a:pPr>
            <a:r>
              <a:rPr lang="en-US" sz="1150" b="1" dirty="0">
                <a:solidFill>
                  <a:srgbClr val="12362A"/>
                </a:solidFill>
                <a:latin typeface="Calibri" pitchFamily="34" charset="0"/>
                <a:ea typeface="Calibri" pitchFamily="34" charset="-122"/>
                <a:cs typeface="Calibri" pitchFamily="34" charset="-120"/>
              </a:rPr>
              <a:t>The paper we scanned live</a:t>
            </a:r>
          </a:p>
        </p:txBody>
      </p:sp>
      <p:sp>
        <p:nvSpPr>
          <p:cNvPr id="238" name="Text"/>
          <p:cNvSpPr/>
          <p:nvPr/>
        </p:nvSpPr>
        <p:spPr>
          <a:xfrm>
            <a:off x="1115568" y="2468880"/>
            <a:ext cx="7360920" cy="365760"/>
          </a:xfrm>
          <a:prstGeom prst="rect">
            <a:avLst/>
          </a:prstGeom>
          <a:noFill/>
          <a:ln/>
        </p:spPr>
        <p:txBody>
          <a:bodyPr wrap="square" lIns="0" tIns="0" rIns="0" bIns="0" rtlCol="0" anchor="t"/>
          <a:lstStyle/>
          <a:p>
            <a:pPr indent="0" marL="0">
              <a:buNone/>
            </a:pPr>
            <a:r>
              <a:rPr lang="en-US" sz="950" dirty="0">
                <a:solidFill>
                  <a:srgbClr val="23312B"/>
                </a:solidFill>
                <a:latin typeface="Calibri" pitchFamily="34" charset="0"/>
                <a:ea typeface="Calibri" pitchFamily="34" charset="-122"/>
                <a:cs typeface="Calibri" pitchFamily="34" charset="-120"/>
              </a:rPr>
              <a:t>Vaswani et al. (2017). “Attention Is All You Need.” NeurIPS 2017. — proceedings.neurips.cc/paper_files/paper/2017</a:t>
            </a:r>
          </a:p>
        </p:txBody>
      </p:sp>
      <p:sp>
        <p:nvSpPr>
          <p:cNvPr id="239" name="Shape"/>
          <p:cNvSpPr/>
          <p:nvPr/>
        </p:nvSpPr>
        <p:spPr>
          <a:xfrm>
            <a:off x="502920" y="2962656"/>
            <a:ext cx="8138160" cy="731520"/>
          </a:xfrm>
          <a:prstGeom prst="roundRect">
            <a:avLst>
              <a:gd name="adj" fmla="val 3830"/>
            </a:avLst>
          </a:prstGeom>
          <a:solidFill>
            <a:srgbClr val="EFF5F0"/>
          </a:solidFill>
          <a:ln>
            <a:noFill/>
          </a:ln>
        </p:spPr>
        <p:txBody>
          <a:bodyPr/>
          <a:lstStyle/>
          <a:p/>
        </p:txBody>
      </p:sp>
      <p:sp>
        <p:nvSpPr>
          <p:cNvPr id="240" name="Circle"/>
          <p:cNvSpPr/>
          <p:nvPr/>
        </p:nvSpPr>
        <p:spPr>
          <a:xfrm>
            <a:off x="685800" y="3182112"/>
            <a:ext cx="292608" cy="292608"/>
          </a:xfrm>
          <a:prstGeom prst="ellipse">
            <a:avLst/>
          </a:prstGeom>
          <a:solidFill>
            <a:srgbClr val="1E5A3F"/>
          </a:solidFill>
          <a:ln>
            <a:noFill/>
          </a:ln>
        </p:spPr>
        <p:txBody>
          <a:bodyPr/>
          <a:lstStyle/>
          <a:p/>
        </p:txBody>
      </p:sp>
      <p:sp>
        <p:nvSpPr>
          <p:cNvPr id="241" name="Text"/>
          <p:cNvSpPr/>
          <p:nvPr/>
        </p:nvSpPr>
        <p:spPr>
          <a:xfrm>
            <a:off x="685800" y="3182112"/>
            <a:ext cx="292608" cy="292608"/>
          </a:xfrm>
          <a:prstGeom prst="rect">
            <a:avLst/>
          </a:prstGeom>
          <a:noFill/>
          <a:ln/>
        </p:spPr>
        <p:txBody>
          <a:bodyPr wrap="square" lIns="0" tIns="0" rIns="0" bIns="0" rtlCol="0" anchor="ctr"/>
          <a:lstStyle/>
          <a:p>
            <a:pPr indent="0" marL="0" algn="ctr">
              <a:buNone/>
            </a:pPr>
            <a:r>
              <a:rPr lang="en-US" sz="1100" b="1" dirty="0">
                <a:solidFill>
                  <a:srgbClr val="E9B44C"/>
                </a:solidFill>
                <a:latin typeface="Calibri" pitchFamily="34" charset="0"/>
                <a:ea typeface="Calibri" pitchFamily="34" charset="-122"/>
                <a:cs typeface="Calibri" pitchFamily="34" charset="-120"/>
              </a:rPr>
              <a:t>§</a:t>
            </a:r>
          </a:p>
        </p:txBody>
      </p:sp>
      <p:sp>
        <p:nvSpPr>
          <p:cNvPr id="242" name="Text"/>
          <p:cNvSpPr/>
          <p:nvPr/>
        </p:nvSpPr>
        <p:spPr>
          <a:xfrm>
            <a:off x="1115568" y="3081528"/>
            <a:ext cx="7360920" cy="219456"/>
          </a:xfrm>
          <a:prstGeom prst="rect">
            <a:avLst/>
          </a:prstGeom>
          <a:noFill/>
          <a:ln/>
        </p:spPr>
        <p:txBody>
          <a:bodyPr wrap="square" lIns="0" tIns="0" rIns="0" bIns="0" rtlCol="0" anchor="t"/>
          <a:lstStyle/>
          <a:p>
            <a:pPr indent="0" marL="0">
              <a:buNone/>
            </a:pPr>
            <a:r>
              <a:rPr lang="en-US" sz="1150" b="1" dirty="0">
                <a:solidFill>
                  <a:srgbClr val="12362A"/>
                </a:solidFill>
                <a:latin typeface="Calibri" pitchFamily="34" charset="0"/>
                <a:ea typeface="Calibri" pitchFamily="34" charset="-122"/>
                <a:cs typeface="Calibri" pitchFamily="34" charset="-120"/>
              </a:rPr>
              <a:t>An African AI paper, published</a:t>
            </a:r>
          </a:p>
        </p:txBody>
      </p:sp>
      <p:sp>
        <p:nvSpPr>
          <p:cNvPr id="243" name="Text"/>
          <p:cNvSpPr/>
          <p:nvPr/>
        </p:nvSpPr>
        <p:spPr>
          <a:xfrm>
            <a:off x="1115568" y="3310128"/>
            <a:ext cx="7360920" cy="365760"/>
          </a:xfrm>
          <a:prstGeom prst="rect">
            <a:avLst/>
          </a:prstGeom>
          <a:noFill/>
          <a:ln/>
        </p:spPr>
        <p:txBody>
          <a:bodyPr wrap="square" lIns="0" tIns="0" rIns="0" bIns="0" rtlCol="0" anchor="t"/>
          <a:lstStyle/>
          <a:p>
            <a:pPr indent="0" marL="0">
              <a:buNone/>
            </a:pPr>
            <a:r>
              <a:rPr lang="en-US" sz="950" dirty="0">
                <a:solidFill>
                  <a:srgbClr val="23312B"/>
                </a:solidFill>
                <a:latin typeface="Calibri" pitchFamily="34" charset="0"/>
                <a:ea typeface="Calibri" pitchFamily="34" charset="-122"/>
                <a:cs typeface="Calibri" pitchFamily="34" charset="-120"/>
              </a:rPr>
              <a:t>Odounfa, Hounmenou et al. (2025). “Deep learning enables precision agriculture for sustainable chili pepper disease detection in Benin.” Discover Artificial Intelligence 5:315 — open access.</a:t>
            </a:r>
          </a:p>
        </p:txBody>
      </p:sp>
      <p:sp>
        <p:nvSpPr>
          <p:cNvPr id="244" name="Shape"/>
          <p:cNvSpPr/>
          <p:nvPr/>
        </p:nvSpPr>
        <p:spPr>
          <a:xfrm>
            <a:off x="502920" y="3803904"/>
            <a:ext cx="8138160" cy="731520"/>
          </a:xfrm>
          <a:prstGeom prst="roundRect">
            <a:avLst>
              <a:gd name="adj" fmla="val 3830"/>
            </a:avLst>
          </a:prstGeom>
          <a:solidFill>
            <a:srgbClr val="EFF5F0"/>
          </a:solidFill>
          <a:ln>
            <a:noFill/>
          </a:ln>
        </p:spPr>
        <p:txBody>
          <a:bodyPr/>
          <a:lstStyle/>
          <a:p/>
        </p:txBody>
      </p:sp>
      <p:sp>
        <p:nvSpPr>
          <p:cNvPr id="245" name="Circle"/>
          <p:cNvSpPr/>
          <p:nvPr/>
        </p:nvSpPr>
        <p:spPr>
          <a:xfrm>
            <a:off x="685800" y="4023360"/>
            <a:ext cx="292608" cy="292608"/>
          </a:xfrm>
          <a:prstGeom prst="ellipse">
            <a:avLst/>
          </a:prstGeom>
          <a:solidFill>
            <a:srgbClr val="1E5A3F"/>
          </a:solidFill>
          <a:ln>
            <a:noFill/>
          </a:ln>
        </p:spPr>
        <p:txBody>
          <a:bodyPr/>
          <a:lstStyle/>
          <a:p/>
        </p:txBody>
      </p:sp>
      <p:sp>
        <p:nvSpPr>
          <p:cNvPr id="246" name="Text"/>
          <p:cNvSpPr/>
          <p:nvPr/>
        </p:nvSpPr>
        <p:spPr>
          <a:xfrm>
            <a:off x="685800" y="4023360"/>
            <a:ext cx="292608" cy="292608"/>
          </a:xfrm>
          <a:prstGeom prst="rect">
            <a:avLst/>
          </a:prstGeom>
          <a:noFill/>
          <a:ln/>
        </p:spPr>
        <p:txBody>
          <a:bodyPr wrap="square" lIns="0" tIns="0" rIns="0" bIns="0" rtlCol="0" anchor="ctr"/>
          <a:lstStyle/>
          <a:p>
            <a:pPr indent="0" marL="0" algn="ctr">
              <a:buNone/>
            </a:pPr>
            <a:r>
              <a:rPr lang="en-US" sz="1100" b="1" dirty="0">
                <a:solidFill>
                  <a:srgbClr val="E9B44C"/>
                </a:solidFill>
                <a:latin typeface="Calibri" pitchFamily="34" charset="0"/>
                <a:ea typeface="Calibri" pitchFamily="34" charset="-122"/>
                <a:cs typeface="Calibri" pitchFamily="34" charset="-120"/>
              </a:rPr>
              <a:t>§</a:t>
            </a:r>
          </a:p>
        </p:txBody>
      </p:sp>
      <p:sp>
        <p:nvSpPr>
          <p:cNvPr id="247" name="Text"/>
          <p:cNvSpPr/>
          <p:nvPr/>
        </p:nvSpPr>
        <p:spPr>
          <a:xfrm>
            <a:off x="1115568" y="3922776"/>
            <a:ext cx="7360920" cy="219456"/>
          </a:xfrm>
          <a:prstGeom prst="rect">
            <a:avLst/>
          </a:prstGeom>
          <a:noFill/>
          <a:ln/>
        </p:spPr>
        <p:txBody>
          <a:bodyPr wrap="square" lIns="0" tIns="0" rIns="0" bIns="0" rtlCol="0" anchor="t"/>
          <a:lstStyle/>
          <a:p>
            <a:pPr indent="0" marL="0">
              <a:buNone/>
            </a:pPr>
            <a:r>
              <a:rPr lang="en-US" sz="1150" b="1" dirty="0">
                <a:solidFill>
                  <a:srgbClr val="12362A"/>
                </a:solidFill>
                <a:latin typeface="Calibri" pitchFamily="34" charset="0"/>
                <a:ea typeface="Calibri" pitchFamily="34" charset="-122"/>
                <a:cs typeface="Calibri" pitchFamily="34" charset="-120"/>
              </a:rPr>
              <a:t>An African AI paper, at NeurIPS</a:t>
            </a:r>
          </a:p>
        </p:txBody>
      </p:sp>
      <p:sp>
        <p:nvSpPr>
          <p:cNvPr id="248" name="Text"/>
          <p:cNvSpPr/>
          <p:nvPr/>
        </p:nvSpPr>
        <p:spPr>
          <a:xfrm>
            <a:off x="1115568" y="4151376"/>
            <a:ext cx="7360920" cy="365760"/>
          </a:xfrm>
          <a:prstGeom prst="rect">
            <a:avLst/>
          </a:prstGeom>
          <a:noFill/>
          <a:ln/>
        </p:spPr>
        <p:txBody>
          <a:bodyPr wrap="square" lIns="0" tIns="0" rIns="0" bIns="0" rtlCol="0" anchor="t"/>
          <a:lstStyle/>
          <a:p>
            <a:pPr indent="0" marL="0">
              <a:buNone/>
            </a:pPr>
            <a:r>
              <a:rPr lang="en-US" sz="950" dirty="0">
                <a:solidFill>
                  <a:srgbClr val="23312B"/>
                </a:solidFill>
                <a:latin typeface="Calibri" pitchFamily="34" charset="0"/>
                <a:ea typeface="Calibri" pitchFamily="34" charset="-122"/>
                <a:cs typeface="Calibri" pitchFamily="34" charset="-120"/>
              </a:rPr>
              <a:t>Tahi, Houndji, Hounmenou &amp; Glèlè Kakaï (2024). “Using pattern mining to determine fine climatic parameters for maize yield in Benin.” IJ-AI 13(4):3930–3941 — first shown at a NeurIPS 2022 workshop.</a:t>
            </a:r>
          </a:p>
        </p:txBody>
      </p:sp>
      <p:sp>
        <p:nvSpPr>
          <p:cNvPr id="249" name="Text"/>
          <p:cNvSpPr/>
          <p:nvPr/>
        </p:nvSpPr>
        <p:spPr>
          <a:xfrm>
            <a:off x="502920" y="4736592"/>
            <a:ext cx="6949440" cy="256032"/>
          </a:xfrm>
          <a:prstGeom prst="rect">
            <a:avLst/>
          </a:prstGeom>
          <a:noFill/>
          <a:ln/>
        </p:spPr>
        <p:txBody>
          <a:bodyPr wrap="square" lIns="0" tIns="0" rIns="0" bIns="0" rtlCol="0" anchor="t"/>
          <a:lstStyle/>
          <a:p>
            <a:pPr indent="0" marL="0">
              <a:buNone/>
            </a:pPr>
            <a:r>
              <a:rPr lang="en-US" sz="950" i="1" dirty="0">
                <a:solidFill>
                  <a:srgbClr val="5E6E66"/>
                </a:solidFill>
                <a:latin typeface="Calibri" pitchFamily="34" charset="0"/>
                <a:ea typeface="Calibri" pitchFamily="34" charset="-122"/>
                <a:cs typeface="Calibri" pitchFamily="34" charset="-120"/>
              </a:rPr>
              <a:t>All of these — plus the checklist, Overleaf templates and dataset-card template — are in your Resource Kit.</a:t>
            </a:r>
          </a:p>
        </p:txBody>
      </p:sp>
      <p:pic>
        <p:nvPicPr>
          <p:cNvPr id="250" name="QR kit" descr="img"/>
          <p:cNvPicPr>
            <a:picLocks noChangeAspect="1"/>
          </p:cNvPicPr>
          <p:nvPr/>
        </p:nvPicPr>
        <p:blipFill>
          <a:blip r:embed="rId5"/>
          <a:stretch>
            <a:fillRect/>
          </a:stretch>
        </p:blipFill>
        <p:spPr>
          <a:xfrm>
            <a:off x="7699248" y="4672584"/>
            <a:ext cx="402336" cy="402336"/>
          </a:xfrm>
          <a:prstGeom prst="rect">
            <a:avLst/>
          </a:prstGeom>
        </p:spPr>
      </p:pic>
      <p:sp>
        <p:nvSpPr>
          <p:cNvPr id="251"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name="Slide case journey">
    <p:spTree>
      <p:nvGrpSpPr>
        <p:cNvPr id="1" name=""/>
        <p:cNvGrpSpPr/>
        <p:nvPr/>
      </p:nvGrpSpPr>
      <p:grpSpPr>
        <a:xfrm>
          <a:off x="0" y="0"/>
          <a:ext cx="0" cy="0"/>
          <a:chOff x="0" y="0"/>
          <a:chExt cx="0" cy="0"/>
        </a:xfrm>
      </p:grpSpPr>
      <p:sp>
        <p:nvSpPr>
          <p:cNvPr id="133" name="Circle"/>
          <p:cNvSpPr/>
          <p:nvPr/>
        </p:nvSpPr>
        <p:spPr>
          <a:xfrm>
            <a:off x="457200" y="384048"/>
            <a:ext cx="475488" cy="475488"/>
          </a:xfrm>
          <a:prstGeom prst="ellipse">
            <a:avLst/>
          </a:prstGeom>
          <a:solidFill>
            <a:srgbClr val="1E5A3F"/>
          </a:solidFill>
          <a:ln>
            <a:noFill/>
          </a:ln>
        </p:spPr>
        <p:txBody>
          <a:bodyPr/>
          <a:lstStyle/>
          <a:p/>
        </p:txBody>
      </p:sp>
      <p:sp>
        <p:nvSpPr>
          <p:cNvPr id="134" name="Text"/>
          <p:cNvSpPr/>
          <p:nvPr/>
        </p:nvSpPr>
        <p:spPr>
          <a:xfrm>
            <a:off x="1051560" y="329184"/>
            <a:ext cx="6400800" cy="256032"/>
          </a:xfrm>
          <a:prstGeom prst="rect">
            <a:avLst/>
          </a:prstGeom>
          <a:noFill/>
          <a:ln/>
        </p:spPr>
        <p:txBody>
          <a:bodyPr wrap="square" lIns="0" tIns="0" rIns="0" bIns="0" rtlCol="0" anchor="t"/>
          <a:lstStyle/>
          <a:p>
            <a:pPr indent="0" marL="0">
              <a:buNone/>
            </a:pPr>
            <a:r>
              <a:rPr lang="en-US" sz="1100" b="1" spc="200" dirty="0">
                <a:solidFill>
                  <a:srgbClr val="C9922F"/>
                </a:solidFill>
                <a:latin typeface="Calibri" pitchFamily="34" charset="0"/>
                <a:ea typeface="Calibri" pitchFamily="34" charset="-122"/>
                <a:cs typeface="Calibri" pitchFamily="34" charset="-120"/>
              </a:rPr>
              <a:t>CASE STUDY · A REAL AFRICAN PAPER</a:t>
            </a:r>
          </a:p>
        </p:txBody>
      </p:sp>
      <p:sp>
        <p:nvSpPr>
          <p:cNvPr id="135" name="Text"/>
          <p:cNvSpPr/>
          <p:nvPr/>
        </p:nvSpPr>
        <p:spPr>
          <a:xfrm>
            <a:off x="1051560" y="548640"/>
            <a:ext cx="7315200" cy="502920"/>
          </a:xfrm>
          <a:prstGeom prst="rect">
            <a:avLst/>
          </a:prstGeom>
          <a:noFill/>
          <a:ln/>
        </p:spPr>
        <p:txBody>
          <a:bodyPr wrap="square" lIns="0" tIns="0" rIns="0" bIns="0" rtlCol="0" anchor="t"/>
          <a:lstStyle/>
          <a:p>
            <a:pPr indent="0" marL="0">
              <a:buNone/>
            </a:pPr>
            <a:r>
              <a:rPr lang="en-US" sz="2500" b="1" dirty="0">
                <a:solidFill>
                  <a:srgbClr val="12362A"/>
                </a:solidFill>
                <a:latin typeface="Cambria" pitchFamily="34" charset="0"/>
                <a:ea typeface="Cambria" pitchFamily="34" charset="-122"/>
                <a:cs typeface="Cambria" pitchFamily="34" charset="-120"/>
              </a:rPr>
              <a:t>From a field in Benin to a NeurIPS poster</a:t>
            </a:r>
          </a:p>
        </p:txBody>
      </p:sp>
      <p:sp>
        <p:nvSpPr>
          <p:cNvPr id="136" name="Text"/>
          <p:cNvSpPr/>
          <p:nvPr/>
        </p:nvSpPr>
        <p:spPr>
          <a:xfrm>
            <a:off x="502920" y="1298448"/>
            <a:ext cx="8138160" cy="320040"/>
          </a:xfrm>
          <a:prstGeom prst="rect">
            <a:avLst/>
          </a:prstGeom>
          <a:noFill/>
          <a:ln/>
        </p:spPr>
        <p:txBody>
          <a:bodyPr wrap="square" lIns="0" tIns="0" rIns="0" bIns="0" rtlCol="0" anchor="t"/>
          <a:lstStyle/>
          <a:p>
            <a:pPr indent="0" marL="0">
              <a:buNone/>
            </a:pPr>
            <a:r>
              <a:rPr lang="en-US" sz="1350" dirty="0">
                <a:solidFill>
                  <a:srgbClr val="23312B"/>
                </a:solidFill>
                <a:latin typeface="Calibri" pitchFamily="34" charset="0"/>
                <a:ea typeface="Calibri" pitchFamily="34" charset="-122"/>
                <a:cs typeface="Calibri" pitchFamily="34" charset="-120"/>
              </a:rPr>
              <a:t>A real African paper, told properly — this is narrative sovereignty in practice.</a:t>
            </a:r>
          </a:p>
        </p:txBody>
      </p:sp>
      <p:sp>
        <p:nvSpPr>
          <p:cNvPr id="137" name="Shape"/>
          <p:cNvSpPr/>
          <p:nvPr/>
        </p:nvSpPr>
        <p:spPr>
          <a:xfrm>
            <a:off x="502920" y="1783080"/>
            <a:ext cx="1938528" cy="2148840"/>
          </a:xfrm>
          <a:prstGeom prst="roundRect">
            <a:avLst>
              <a:gd name="adj" fmla="val 3830"/>
            </a:avLst>
          </a:prstGeom>
          <a:solidFill>
            <a:srgbClr val="EFF5F0"/>
          </a:solidFill>
          <a:ln>
            <a:noFill/>
          </a:ln>
        </p:spPr>
        <p:txBody>
          <a:bodyPr/>
          <a:lstStyle/>
          <a:p/>
        </p:txBody>
      </p:sp>
      <p:sp>
        <p:nvSpPr>
          <p:cNvPr id="138" name="Circle"/>
          <p:cNvSpPr/>
          <p:nvPr/>
        </p:nvSpPr>
        <p:spPr>
          <a:xfrm>
            <a:off x="685800" y="1947672"/>
            <a:ext cx="402336" cy="402336"/>
          </a:xfrm>
          <a:prstGeom prst="ellipse">
            <a:avLst/>
          </a:prstGeom>
          <a:solidFill>
            <a:srgbClr val="1E5A3F"/>
          </a:solidFill>
          <a:ln>
            <a:noFill/>
          </a:ln>
        </p:spPr>
        <p:txBody>
          <a:bodyPr/>
          <a:lstStyle/>
          <a:p/>
        </p:txBody>
      </p:sp>
      <p:sp>
        <p:nvSpPr>
          <p:cNvPr id="139" name="Text"/>
          <p:cNvSpPr/>
          <p:nvPr/>
        </p:nvSpPr>
        <p:spPr>
          <a:xfrm>
            <a:off x="685800" y="1947672"/>
            <a:ext cx="402336" cy="402336"/>
          </a:xfrm>
          <a:prstGeom prst="rect">
            <a:avLst/>
          </a:prstGeom>
          <a:noFill/>
          <a:ln/>
        </p:spPr>
        <p:txBody>
          <a:bodyPr wrap="square" lIns="0" tIns="0" rIns="0" bIns="0" rtlCol="0" anchor="ctr"/>
          <a:lstStyle/>
          <a:p>
            <a:pPr indent="0" marL="0" algn="ctr">
              <a:buNone/>
            </a:pPr>
            <a:r>
              <a:rPr lang="en-US" sz="1400" b="1" dirty="0">
                <a:solidFill>
                  <a:srgbClr val="E9B44C"/>
                </a:solidFill>
                <a:latin typeface="Calibri" pitchFamily="34" charset="0"/>
                <a:ea typeface="Calibri" pitchFamily="34" charset="-122"/>
                <a:cs typeface="Calibri" pitchFamily="34" charset="-120"/>
              </a:rPr>
              <a:t>1</a:t>
            </a:r>
          </a:p>
        </p:txBody>
      </p:sp>
      <p:sp>
        <p:nvSpPr>
          <p:cNvPr id="140" name="Text"/>
          <p:cNvSpPr/>
          <p:nvPr/>
        </p:nvSpPr>
        <p:spPr>
          <a:xfrm>
            <a:off x="685800" y="2441448"/>
            <a:ext cx="1572768" cy="502920"/>
          </a:xfrm>
          <a:prstGeom prst="rect">
            <a:avLst/>
          </a:prstGeom>
          <a:noFill/>
          <a:ln/>
        </p:spPr>
        <p:txBody>
          <a:bodyPr wrap="square" lIns="0" tIns="0" rIns="0" bIns="0" rtlCol="0" anchor="t"/>
          <a:lstStyle/>
          <a:p>
            <a:pPr indent="0" marL="0">
              <a:buNone/>
            </a:pPr>
            <a:r>
              <a:rPr lang="en-US" sz="1250" b="1" dirty="0">
                <a:solidFill>
                  <a:srgbClr val="12362A"/>
                </a:solidFill>
                <a:latin typeface="Calibri" pitchFamily="34" charset="0"/>
                <a:ea typeface="Calibri" pitchFamily="34" charset="-122"/>
                <a:cs typeface="Calibri" pitchFamily="34" charset="-120"/>
              </a:rPr>
              <a:t>The local question</a:t>
            </a:r>
          </a:p>
        </p:txBody>
      </p:sp>
      <p:sp>
        <p:nvSpPr>
          <p:cNvPr id="141" name="Text"/>
          <p:cNvSpPr/>
          <p:nvPr/>
        </p:nvSpPr>
        <p:spPr>
          <a:xfrm>
            <a:off x="685800" y="2971800"/>
            <a:ext cx="1572768" cy="868680"/>
          </a:xfrm>
          <a:prstGeom prst="rect">
            <a:avLst/>
          </a:prstGeom>
          <a:noFill/>
          <a:ln/>
        </p:spPr>
        <p:txBody>
          <a:bodyPr wrap="square" lIns="0" tIns="0" rIns="0" bIns="0" rtlCol="0" anchor="t"/>
          <a:lstStyle/>
          <a:p>
            <a:pPr indent="0" marL="0">
              <a:buNone/>
            </a:pPr>
            <a:r>
              <a:rPr lang="en-US" sz="950" dirty="0">
                <a:solidFill>
                  <a:srgbClr val="23312B"/>
                </a:solidFill>
                <a:latin typeface="Calibri" pitchFamily="34" charset="0"/>
                <a:ea typeface="Calibri" pitchFamily="34" charset="-122"/>
                <a:cs typeface="Calibri" pitchFamily="34" charset="-120"/>
              </a:rPr>
              <a:t>Climate change is cutting maize yields in Benin, and farmers cannot control the weather. Which climatic parameters actually drive a high yield?</a:t>
            </a:r>
          </a:p>
        </p:txBody>
      </p:sp>
      <p:sp>
        <p:nvSpPr>
          <p:cNvPr id="142" name="Shape"/>
          <p:cNvSpPr/>
          <p:nvPr/>
        </p:nvSpPr>
        <p:spPr>
          <a:xfrm>
            <a:off x="2615184" y="1783080"/>
            <a:ext cx="1938528" cy="2148840"/>
          </a:xfrm>
          <a:prstGeom prst="roundRect">
            <a:avLst>
              <a:gd name="adj" fmla="val 3830"/>
            </a:avLst>
          </a:prstGeom>
          <a:solidFill>
            <a:srgbClr val="EFF5F0"/>
          </a:solidFill>
          <a:ln>
            <a:noFill/>
          </a:ln>
        </p:spPr>
        <p:txBody>
          <a:bodyPr/>
          <a:lstStyle/>
          <a:p/>
        </p:txBody>
      </p:sp>
      <p:sp>
        <p:nvSpPr>
          <p:cNvPr id="143" name="Circle"/>
          <p:cNvSpPr/>
          <p:nvPr/>
        </p:nvSpPr>
        <p:spPr>
          <a:xfrm>
            <a:off x="2798064" y="1947672"/>
            <a:ext cx="402336" cy="402336"/>
          </a:xfrm>
          <a:prstGeom prst="ellipse">
            <a:avLst/>
          </a:prstGeom>
          <a:solidFill>
            <a:srgbClr val="1E5A3F"/>
          </a:solidFill>
          <a:ln>
            <a:noFill/>
          </a:ln>
        </p:spPr>
        <p:txBody>
          <a:bodyPr/>
          <a:lstStyle/>
          <a:p/>
        </p:txBody>
      </p:sp>
      <p:sp>
        <p:nvSpPr>
          <p:cNvPr id="144" name="Text"/>
          <p:cNvSpPr/>
          <p:nvPr/>
        </p:nvSpPr>
        <p:spPr>
          <a:xfrm>
            <a:off x="2798064" y="1947672"/>
            <a:ext cx="402336" cy="402336"/>
          </a:xfrm>
          <a:prstGeom prst="rect">
            <a:avLst/>
          </a:prstGeom>
          <a:noFill/>
          <a:ln/>
        </p:spPr>
        <p:txBody>
          <a:bodyPr wrap="square" lIns="0" tIns="0" rIns="0" bIns="0" rtlCol="0" anchor="ctr"/>
          <a:lstStyle/>
          <a:p>
            <a:pPr indent="0" marL="0" algn="ctr">
              <a:buNone/>
            </a:pPr>
            <a:r>
              <a:rPr lang="en-US" sz="1400" b="1" dirty="0">
                <a:solidFill>
                  <a:srgbClr val="E9B44C"/>
                </a:solidFill>
                <a:latin typeface="Calibri" pitchFamily="34" charset="0"/>
                <a:ea typeface="Calibri" pitchFamily="34" charset="-122"/>
                <a:cs typeface="Calibri" pitchFamily="34" charset="-120"/>
              </a:rPr>
              <a:t>2</a:t>
            </a:r>
          </a:p>
        </p:txBody>
      </p:sp>
      <p:sp>
        <p:nvSpPr>
          <p:cNvPr id="145" name="Text"/>
          <p:cNvSpPr/>
          <p:nvPr/>
        </p:nvSpPr>
        <p:spPr>
          <a:xfrm>
            <a:off x="2798064" y="2441448"/>
            <a:ext cx="1572768" cy="502920"/>
          </a:xfrm>
          <a:prstGeom prst="rect">
            <a:avLst/>
          </a:prstGeom>
          <a:noFill/>
          <a:ln/>
        </p:spPr>
        <p:txBody>
          <a:bodyPr wrap="square" lIns="0" tIns="0" rIns="0" bIns="0" rtlCol="0" anchor="t"/>
          <a:lstStyle/>
          <a:p>
            <a:pPr indent="0" marL="0">
              <a:buNone/>
            </a:pPr>
            <a:r>
              <a:rPr lang="en-US" sz="1250" b="1" dirty="0">
                <a:solidFill>
                  <a:srgbClr val="12362A"/>
                </a:solidFill>
                <a:latin typeface="Calibri" pitchFamily="34" charset="0"/>
                <a:ea typeface="Calibri" pitchFamily="34" charset="-122"/>
                <a:cs typeface="Calibri" pitchFamily="34" charset="-120"/>
              </a:rPr>
              <a:t>The African dataset</a:t>
            </a:r>
          </a:p>
        </p:txBody>
      </p:sp>
      <p:sp>
        <p:nvSpPr>
          <p:cNvPr id="146" name="Text"/>
          <p:cNvSpPr/>
          <p:nvPr/>
        </p:nvSpPr>
        <p:spPr>
          <a:xfrm>
            <a:off x="2798064" y="2971800"/>
            <a:ext cx="1572768" cy="868680"/>
          </a:xfrm>
          <a:prstGeom prst="rect">
            <a:avLst/>
          </a:prstGeom>
          <a:noFill/>
          <a:ln/>
        </p:spPr>
        <p:txBody>
          <a:bodyPr wrap="square" lIns="0" tIns="0" rIns="0" bIns="0" rtlCol="0" anchor="t"/>
          <a:lstStyle/>
          <a:p>
            <a:pPr indent="0" marL="0">
              <a:buNone/>
            </a:pPr>
            <a:r>
              <a:rPr lang="en-US" sz="950" dirty="0">
                <a:solidFill>
                  <a:srgbClr val="23312B"/>
                </a:solidFill>
                <a:latin typeface="Calibri" pitchFamily="34" charset="0"/>
                <a:ea typeface="Calibri" pitchFamily="34" charset="-122"/>
                <a:cs typeface="Calibri" pitchFamily="34" charset="-120"/>
              </a:rPr>
              <a:t>26 years (1995–2020) of climate and maize-yield data, 5 districts with synoptic stations, across two agro-climatic zones — Sudanian and Sudano-Guinean.</a:t>
            </a:r>
          </a:p>
        </p:txBody>
      </p:sp>
      <p:sp>
        <p:nvSpPr>
          <p:cNvPr id="147" name="Shape"/>
          <p:cNvSpPr/>
          <p:nvPr/>
        </p:nvSpPr>
        <p:spPr>
          <a:xfrm>
            <a:off x="4727448" y="1783080"/>
            <a:ext cx="1938528" cy="2148840"/>
          </a:xfrm>
          <a:prstGeom prst="roundRect">
            <a:avLst>
              <a:gd name="adj" fmla="val 3830"/>
            </a:avLst>
          </a:prstGeom>
          <a:solidFill>
            <a:srgbClr val="EFF5F0"/>
          </a:solidFill>
          <a:ln>
            <a:noFill/>
          </a:ln>
        </p:spPr>
        <p:txBody>
          <a:bodyPr/>
          <a:lstStyle/>
          <a:p/>
        </p:txBody>
      </p:sp>
      <p:sp>
        <p:nvSpPr>
          <p:cNvPr id="148" name="Circle"/>
          <p:cNvSpPr/>
          <p:nvPr/>
        </p:nvSpPr>
        <p:spPr>
          <a:xfrm>
            <a:off x="4910328" y="1947672"/>
            <a:ext cx="402336" cy="402336"/>
          </a:xfrm>
          <a:prstGeom prst="ellipse">
            <a:avLst/>
          </a:prstGeom>
          <a:solidFill>
            <a:srgbClr val="1E5A3F"/>
          </a:solidFill>
          <a:ln>
            <a:noFill/>
          </a:ln>
        </p:spPr>
        <p:txBody>
          <a:bodyPr/>
          <a:lstStyle/>
          <a:p/>
        </p:txBody>
      </p:sp>
      <p:sp>
        <p:nvSpPr>
          <p:cNvPr id="149" name="Text"/>
          <p:cNvSpPr/>
          <p:nvPr/>
        </p:nvSpPr>
        <p:spPr>
          <a:xfrm>
            <a:off x="4910328" y="1947672"/>
            <a:ext cx="402336" cy="402336"/>
          </a:xfrm>
          <a:prstGeom prst="rect">
            <a:avLst/>
          </a:prstGeom>
          <a:noFill/>
          <a:ln/>
        </p:spPr>
        <p:txBody>
          <a:bodyPr wrap="square" lIns="0" tIns="0" rIns="0" bIns="0" rtlCol="0" anchor="ctr"/>
          <a:lstStyle/>
          <a:p>
            <a:pPr indent="0" marL="0" algn="ctr">
              <a:buNone/>
            </a:pPr>
            <a:r>
              <a:rPr lang="en-US" sz="1400" b="1" dirty="0">
                <a:solidFill>
                  <a:srgbClr val="E9B44C"/>
                </a:solidFill>
                <a:latin typeface="Calibri" pitchFamily="34" charset="0"/>
                <a:ea typeface="Calibri" pitchFamily="34" charset="-122"/>
                <a:cs typeface="Calibri" pitchFamily="34" charset="-120"/>
              </a:rPr>
              <a:t>3</a:t>
            </a:r>
          </a:p>
        </p:txBody>
      </p:sp>
      <p:sp>
        <p:nvSpPr>
          <p:cNvPr id="150" name="Text"/>
          <p:cNvSpPr/>
          <p:nvPr/>
        </p:nvSpPr>
        <p:spPr>
          <a:xfrm>
            <a:off x="4910328" y="2441448"/>
            <a:ext cx="1572768" cy="502920"/>
          </a:xfrm>
          <a:prstGeom prst="rect">
            <a:avLst/>
          </a:prstGeom>
          <a:noFill/>
          <a:ln/>
        </p:spPr>
        <p:txBody>
          <a:bodyPr wrap="square" lIns="0" tIns="0" rIns="0" bIns="0" rtlCol="0" anchor="t"/>
          <a:lstStyle/>
          <a:p>
            <a:pPr indent="0" marL="0">
              <a:buNone/>
            </a:pPr>
            <a:r>
              <a:rPr lang="en-US" sz="1250" b="1" dirty="0">
                <a:solidFill>
                  <a:srgbClr val="12362A"/>
                </a:solidFill>
                <a:latin typeface="Calibri" pitchFamily="34" charset="0"/>
                <a:ea typeface="Calibri" pitchFamily="34" charset="-122"/>
                <a:cs typeface="Calibri" pitchFamily="34" charset="-120"/>
              </a:rPr>
              <a:t>The honest result</a:t>
            </a:r>
          </a:p>
        </p:txBody>
      </p:sp>
      <p:sp>
        <p:nvSpPr>
          <p:cNvPr id="151" name="Text"/>
          <p:cNvSpPr/>
          <p:nvPr/>
        </p:nvSpPr>
        <p:spPr>
          <a:xfrm>
            <a:off x="4910328" y="2971800"/>
            <a:ext cx="1572768" cy="868680"/>
          </a:xfrm>
          <a:prstGeom prst="rect">
            <a:avLst/>
          </a:prstGeom>
          <a:noFill/>
          <a:ln/>
        </p:spPr>
        <p:txBody>
          <a:bodyPr wrap="square" lIns="0" tIns="0" rIns="0" bIns="0" rtlCol="0" anchor="t"/>
          <a:lstStyle/>
          <a:p>
            <a:pPr indent="0" marL="0">
              <a:buNone/>
            </a:pPr>
            <a:r>
              <a:rPr lang="en-US" sz="950" dirty="0">
                <a:solidFill>
                  <a:srgbClr val="23312B"/>
                </a:solidFill>
                <a:latin typeface="Calibri" pitchFamily="34" charset="0"/>
                <a:ea typeface="Calibri" pitchFamily="34" charset="-122"/>
                <a:cs typeface="Calibri" pitchFamily="34" charset="-120"/>
              </a:rPr>
              <a:t>A decision tree fits almost perfectly (R² = 0.998) but nobody can read it — so the team mined frequent patterns to produce rules a farmer can act on.</a:t>
            </a:r>
          </a:p>
        </p:txBody>
      </p:sp>
      <p:sp>
        <p:nvSpPr>
          <p:cNvPr id="152" name="Shape"/>
          <p:cNvSpPr/>
          <p:nvPr/>
        </p:nvSpPr>
        <p:spPr>
          <a:xfrm>
            <a:off x="6839712" y="1783080"/>
            <a:ext cx="1938528" cy="2148840"/>
          </a:xfrm>
          <a:prstGeom prst="roundRect">
            <a:avLst>
              <a:gd name="adj" fmla="val 3830"/>
            </a:avLst>
          </a:prstGeom>
          <a:solidFill>
            <a:srgbClr val="EFF5F0"/>
          </a:solidFill>
          <a:ln>
            <a:noFill/>
          </a:ln>
        </p:spPr>
        <p:txBody>
          <a:bodyPr/>
          <a:lstStyle/>
          <a:p/>
        </p:txBody>
      </p:sp>
      <p:sp>
        <p:nvSpPr>
          <p:cNvPr id="153" name="Circle"/>
          <p:cNvSpPr/>
          <p:nvPr/>
        </p:nvSpPr>
        <p:spPr>
          <a:xfrm>
            <a:off x="7022592" y="1947672"/>
            <a:ext cx="402336" cy="402336"/>
          </a:xfrm>
          <a:prstGeom prst="ellipse">
            <a:avLst/>
          </a:prstGeom>
          <a:solidFill>
            <a:srgbClr val="1E5A3F"/>
          </a:solidFill>
          <a:ln>
            <a:noFill/>
          </a:ln>
        </p:spPr>
        <p:txBody>
          <a:bodyPr/>
          <a:lstStyle/>
          <a:p/>
        </p:txBody>
      </p:sp>
      <p:sp>
        <p:nvSpPr>
          <p:cNvPr id="154" name="Text"/>
          <p:cNvSpPr/>
          <p:nvPr/>
        </p:nvSpPr>
        <p:spPr>
          <a:xfrm>
            <a:off x="7022592" y="1947672"/>
            <a:ext cx="402336" cy="402336"/>
          </a:xfrm>
          <a:prstGeom prst="rect">
            <a:avLst/>
          </a:prstGeom>
          <a:noFill/>
          <a:ln/>
        </p:spPr>
        <p:txBody>
          <a:bodyPr wrap="square" lIns="0" tIns="0" rIns="0" bIns="0" rtlCol="0" anchor="ctr"/>
          <a:lstStyle/>
          <a:p>
            <a:pPr indent="0" marL="0" algn="ctr">
              <a:buNone/>
            </a:pPr>
            <a:r>
              <a:rPr lang="en-US" sz="1400" b="1" dirty="0">
                <a:solidFill>
                  <a:srgbClr val="E9B44C"/>
                </a:solidFill>
                <a:latin typeface="Calibri" pitchFamily="34" charset="0"/>
                <a:ea typeface="Calibri" pitchFamily="34" charset="-122"/>
                <a:cs typeface="Calibri" pitchFamily="34" charset="-120"/>
              </a:rPr>
              <a:t>4</a:t>
            </a:r>
          </a:p>
        </p:txBody>
      </p:sp>
      <p:sp>
        <p:nvSpPr>
          <p:cNvPr id="155" name="Text"/>
          <p:cNvSpPr/>
          <p:nvPr/>
        </p:nvSpPr>
        <p:spPr>
          <a:xfrm>
            <a:off x="7022592" y="2441448"/>
            <a:ext cx="1572768" cy="502920"/>
          </a:xfrm>
          <a:prstGeom prst="rect">
            <a:avLst/>
          </a:prstGeom>
          <a:noFill/>
          <a:ln/>
        </p:spPr>
        <p:txBody>
          <a:bodyPr wrap="square" lIns="0" tIns="0" rIns="0" bIns="0" rtlCol="0" anchor="t"/>
          <a:lstStyle/>
          <a:p>
            <a:pPr indent="0" marL="0">
              <a:buNone/>
            </a:pPr>
            <a:r>
              <a:rPr lang="en-US" sz="1250" b="1" dirty="0">
                <a:solidFill>
                  <a:srgbClr val="12362A"/>
                </a:solidFill>
                <a:latin typeface="Calibri" pitchFamily="34" charset="0"/>
                <a:ea typeface="Calibri" pitchFamily="34" charset="-122"/>
                <a:cs typeface="Calibri" pitchFamily="34" charset="-120"/>
              </a:rPr>
              <a:t>The global venue</a:t>
            </a:r>
          </a:p>
        </p:txBody>
      </p:sp>
      <p:sp>
        <p:nvSpPr>
          <p:cNvPr id="156" name="Text"/>
          <p:cNvSpPr/>
          <p:nvPr/>
        </p:nvSpPr>
        <p:spPr>
          <a:xfrm>
            <a:off x="7022592" y="2971800"/>
            <a:ext cx="1572768" cy="868680"/>
          </a:xfrm>
          <a:prstGeom prst="rect">
            <a:avLst/>
          </a:prstGeom>
          <a:noFill/>
          <a:ln/>
        </p:spPr>
        <p:txBody>
          <a:bodyPr wrap="square" lIns="0" tIns="0" rIns="0" bIns="0" rtlCol="0" anchor="t"/>
          <a:lstStyle/>
          <a:p>
            <a:pPr indent="0" marL="0">
              <a:buNone/>
            </a:pPr>
            <a:r>
              <a:rPr lang="en-US" sz="950" dirty="0">
                <a:solidFill>
                  <a:srgbClr val="23312B"/>
                </a:solidFill>
                <a:latin typeface="Calibri" pitchFamily="34" charset="0"/>
                <a:ea typeface="Calibri" pitchFamily="34" charset="-122"/>
                <a:cs typeface="Calibri" pitchFamily="34" charset="-120"/>
              </a:rPr>
              <a:t>Presented at a NeurIPS 2022 workshop, then published in IJ-AI (2024). Local problem → global conversation.</a:t>
            </a:r>
          </a:p>
        </p:txBody>
      </p:sp>
      <p:sp>
        <p:nvSpPr>
          <p:cNvPr id="157" name="Shape"/>
          <p:cNvSpPr/>
          <p:nvPr/>
        </p:nvSpPr>
        <p:spPr>
          <a:xfrm>
            <a:off x="502920" y="4078224"/>
            <a:ext cx="8138160" cy="640080"/>
          </a:xfrm>
          <a:prstGeom prst="roundRect">
            <a:avLst>
              <a:gd name="adj" fmla="val 14516"/>
            </a:avLst>
          </a:prstGeom>
          <a:solidFill>
            <a:srgbClr val="F7F4EC"/>
          </a:solidFill>
          <a:ln>
            <a:noFill/>
          </a:ln>
        </p:spPr>
        <p:txBody>
          <a:bodyPr/>
          <a:lstStyle/>
          <a:p/>
        </p:txBody>
      </p:sp>
      <p:sp>
        <p:nvSpPr>
          <p:cNvPr id="158" name="Text"/>
          <p:cNvSpPr/>
          <p:nvPr/>
        </p:nvSpPr>
        <p:spPr>
          <a:xfrm>
            <a:off x="704088" y="4133088"/>
            <a:ext cx="7735824" cy="530352"/>
          </a:xfrm>
          <a:prstGeom prst="rect">
            <a:avLst/>
          </a:prstGeom>
          <a:noFill/>
          <a:ln/>
        </p:spPr>
        <p:txBody>
          <a:bodyPr wrap="square" lIns="0" tIns="0" rIns="0" bIns="0" rtlCol="0" anchor="ctr"/>
          <a:lstStyle/>
          <a:p>
            <a:pPr indent="0" marL="0">
              <a:lnSpc>
                <a:spcPct val="100000"/>
              </a:lnSpc>
              <a:buNone/>
            </a:pPr>
            <a:r>
              <a:rPr lang="en-US" sz="1150" b="1" dirty="0">
                <a:solidFill>
                  <a:srgbClr val="C9922F"/>
                </a:solidFill>
                <a:latin typeface="Calibri" pitchFamily="34" charset="0"/>
                <a:ea typeface="Calibri" pitchFamily="34" charset="-122"/>
                <a:cs typeface="Calibri" pitchFamily="34" charset="-120"/>
              </a:rPr>
              <a:t>Read the paper:</a:t>
            </a:r>
            <a:r>
              <a:rPr lang="en-US" sz="1150" dirty="0">
                <a:solidFill>
                  <a:srgbClr val="23312B"/>
                </a:solidFill>
                <a:latin typeface="Calibri" pitchFamily="34" charset="0"/>
                <a:ea typeface="Calibri" pitchFamily="34" charset="-122"/>
                <a:cs typeface="Calibri" pitchFamily="34" charset="-120"/>
              </a:rPr>
              <a:t>  Tahi, Houndji, Hounmenou &amp; Glèlè Kakaï — IJ-AI 13(4):3930–3941, 2024. Full reference in your kit.</a:t>
            </a:r>
          </a:p>
        </p:txBody>
      </p:sp>
      <p:sp>
        <p:nvSpPr>
          <p:cNvPr id="159" name="Text"/>
          <p:cNvSpPr/>
          <p:nvPr/>
        </p:nvSpPr>
        <p:spPr>
          <a:xfrm>
            <a:off x="457200" y="4846320"/>
            <a:ext cx="5943600" cy="228600"/>
          </a:xfrm>
          <a:prstGeom prst="rect">
            <a:avLst/>
          </a:prstGeom>
          <a:noFill/>
          <a:ln/>
        </p:spPr>
        <p:txBody>
          <a:bodyPr wrap="square" lIns="0" tIns="0" rIns="0" bIns="0" rtlCol="0" anchor="t"/>
          <a:lstStyle/>
          <a:p>
            <a:pPr indent="0" marL="0">
              <a:buNone/>
            </a:pPr>
            <a:r>
              <a:rPr lang="en-US" sz="850" dirty="0">
                <a:solidFill>
                  <a:srgbClr val="5E6E66"/>
                </a:solidFill>
                <a:latin typeface="Calibri" pitchFamily="34" charset="0"/>
                <a:ea typeface="Calibri" pitchFamily="34" charset="-122"/>
                <a:cs typeface="Calibri" pitchFamily="34" charset="-120"/>
              </a:rPr>
              <a:t>Mastering the Scientific Narrative  ·  C. G. Hounmenou  ·  Skill Session</a:t>
            </a:r>
          </a:p>
        </p:txBody>
      </p:sp>
      <p:sp>
        <p:nvSpPr>
          <p:cNvPr id="160" name="Text"/>
          <p:cNvSpPr/>
          <p:nvPr/>
        </p:nvSpPr>
        <p:spPr>
          <a:xfrm>
            <a:off x="8503920" y="4846320"/>
            <a:ext cx="320040" cy="228600"/>
          </a:xfrm>
          <a:prstGeom prst="rect">
            <a:avLst/>
          </a:prstGeom>
          <a:noFill/>
          <a:ln/>
        </p:spPr>
        <p:txBody>
          <a:bodyPr wrap="square" lIns="0" tIns="0" rIns="0" bIns="0" rtlCol="0" anchor="t"/>
          <a:lstStyle/>
          <a:p>
            <a:pPr indent="0" marL="0" algn="r">
              <a:buNone/>
            </a:pPr>
            <a:r>
              <a:rPr lang="en-US" sz="850" dirty="0">
                <a:solidFill>
                  <a:srgbClr val="5E6E66"/>
                </a:solidFill>
                <a:latin typeface="Calibri" pitchFamily="34" charset="0"/>
                <a:ea typeface="Calibri" pitchFamily="34" charset="-122"/>
                <a:cs typeface="Calibri" pitchFamily="34" charset="-120"/>
              </a:rPr>
              <a:t>12</a:t>
            </a:r>
          </a:p>
        </p:txBody>
      </p:sp>
      <p:pic>
        <p:nvPicPr>
          <p:cNvPr id="161" name="QR kit" descr="img"/>
          <p:cNvPicPr>
            <a:picLocks noChangeAspect="1"/>
          </p:cNvPicPr>
          <p:nvPr/>
        </p:nvPicPr>
        <p:blipFill>
          <a:blip r:embed="rId4"/>
          <a:stretch>
            <a:fillRect/>
          </a:stretch>
        </p:blipFill>
        <p:spPr>
          <a:xfrm>
            <a:off x="7699248" y="4672584"/>
            <a:ext cx="402336" cy="402336"/>
          </a:xfrm>
          <a:prstGeom prst="rect">
            <a:avLst/>
          </a:prstGeom>
        </p:spPr>
      </p:pic>
      <p:sp>
        <p:nvSpPr>
          <p:cNvPr id="162"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5E6E66"/>
                </a:solidFill>
                <a:latin typeface="Calibri" pitchFamily="34" charset="0"/>
                <a:ea typeface="Calibri" pitchFamily="34" charset="-122"/>
                <a:cs typeface="Calibri" pitchFamily="34" charset="-120"/>
              </a:rPr>
              <a:t>Resource Kit →</a:t>
            </a:r>
          </a:p>
        </p:txBody>
      </p:sp>
    </p:spTree>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name="Slide discussion">
    <p:bg>
      <p:bgPr>
        <a:solidFill>
          <a:srgbClr val="12362A"/>
        </a:solidFill>
      </p:bgPr>
    </p:bg>
    <p:spTree>
      <p:nvGrpSpPr>
        <p:cNvPr id="1" name=""/>
        <p:cNvGrpSpPr/>
        <p:nvPr/>
      </p:nvGrpSpPr>
      <p:grpSpPr>
        <a:xfrm>
          <a:off x="0" y="0"/>
          <a:ext cx="0" cy="0"/>
          <a:chOff x="0" y="0"/>
          <a:chExt cx="0" cy="0"/>
        </a:xfrm>
      </p:grpSpPr>
      <p:sp>
        <p:nvSpPr>
          <p:cNvPr id="252" name="Text"/>
          <p:cNvSpPr/>
          <p:nvPr/>
        </p:nvSpPr>
        <p:spPr>
          <a:xfrm>
            <a:off x="502920" y="502920"/>
            <a:ext cx="5029200" cy="274320"/>
          </a:xfrm>
          <a:prstGeom prst="rect">
            <a:avLst/>
          </a:prstGeom>
          <a:noFill/>
          <a:ln/>
        </p:spPr>
        <p:txBody>
          <a:bodyPr wrap="square" lIns="0" tIns="0" rIns="0" bIns="0" rtlCol="0" anchor="t"/>
          <a:lstStyle/>
          <a:p>
            <a:pPr indent="0" marL="0">
              <a:buNone/>
            </a:pPr>
            <a:r>
              <a:rPr lang="en-US" sz="1100" b="1" spc="200" dirty="0">
                <a:solidFill>
                  <a:srgbClr val="E9B44C"/>
                </a:solidFill>
                <a:latin typeface="Calibri" pitchFamily="34" charset="0"/>
                <a:ea typeface="Calibri" pitchFamily="34" charset="-122"/>
                <a:cs typeface="Calibri" pitchFamily="34" charset="-120"/>
              </a:rPr>
              <a:t>EXTENDED DISCUSSION · 15 MIN</a:t>
            </a:r>
          </a:p>
        </p:txBody>
      </p:sp>
      <p:sp>
        <p:nvSpPr>
          <p:cNvPr id="253" name="Text"/>
          <p:cNvSpPr/>
          <p:nvPr/>
        </p:nvSpPr>
        <p:spPr>
          <a:xfrm>
            <a:off x="502920" y="868680"/>
            <a:ext cx="8138160" cy="548640"/>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Now the floor is yours</a:t>
            </a:r>
          </a:p>
        </p:txBody>
      </p:sp>
      <p:sp>
        <p:nvSpPr>
          <p:cNvPr id="254" name="Text"/>
          <p:cNvSpPr/>
          <p:nvPr/>
        </p:nvSpPr>
        <p:spPr>
          <a:xfrm>
            <a:off x="502920" y="1554480"/>
            <a:ext cx="8138160" cy="365760"/>
          </a:xfrm>
          <a:prstGeom prst="rect">
            <a:avLst/>
          </a:prstGeom>
          <a:noFill/>
          <a:ln/>
        </p:spPr>
        <p:txBody>
          <a:bodyPr wrap="square" lIns="0" tIns="0" rIns="0" bIns="0" rtlCol="0" anchor="t"/>
          <a:lstStyle/>
          <a:p>
            <a:pPr indent="0" marL="0">
              <a:buNone/>
            </a:pPr>
            <a:r>
              <a:rPr lang="en-US" sz="1300" i="1" dirty="0">
                <a:solidFill>
                  <a:srgbClr val="9CBFA7"/>
                </a:solidFill>
                <a:latin typeface="Calibri" pitchFamily="34" charset="0"/>
                <a:ea typeface="Calibri" pitchFamily="34" charset="-122"/>
                <a:cs typeface="Calibri" pitchFamily="34" charset="-120"/>
              </a:rPr>
              <a:t>30 extra minutes beyond the core hour: keep writing in Overleaf, or bring me your hardest question.</a:t>
            </a:r>
          </a:p>
        </p:txBody>
      </p:sp>
      <p:sp>
        <p:nvSpPr>
          <p:cNvPr id="255" name="Shape"/>
          <p:cNvSpPr/>
          <p:nvPr/>
        </p:nvSpPr>
        <p:spPr>
          <a:xfrm>
            <a:off x="502920" y="2148840"/>
            <a:ext cx="1938528" cy="1691640"/>
          </a:xfrm>
          <a:prstGeom prst="roundRect">
            <a:avLst>
              <a:gd name="adj" fmla="val 3830"/>
            </a:avLst>
          </a:prstGeom>
          <a:solidFill>
            <a:srgbClr val="1B4A38"/>
          </a:solidFill>
          <a:ln>
            <a:noFill/>
          </a:ln>
        </p:spPr>
        <p:txBody>
          <a:bodyPr/>
          <a:lstStyle/>
          <a:p/>
        </p:txBody>
      </p:sp>
      <p:sp>
        <p:nvSpPr>
          <p:cNvPr id="256" name="Circle"/>
          <p:cNvSpPr/>
          <p:nvPr/>
        </p:nvSpPr>
        <p:spPr>
          <a:xfrm>
            <a:off x="685800" y="2331720"/>
            <a:ext cx="329184" cy="329184"/>
          </a:xfrm>
          <a:prstGeom prst="ellipse">
            <a:avLst/>
          </a:prstGeom>
          <a:solidFill>
            <a:srgbClr val="E9B44C"/>
          </a:solidFill>
          <a:ln>
            <a:noFill/>
          </a:ln>
        </p:spPr>
        <p:txBody>
          <a:bodyPr/>
          <a:lstStyle/>
          <a:p/>
        </p:txBody>
      </p:sp>
      <p:sp>
        <p:nvSpPr>
          <p:cNvPr id="257" name="Text"/>
          <p:cNvSpPr/>
          <p:nvPr/>
        </p:nvSpPr>
        <p:spPr>
          <a:xfrm>
            <a:off x="685800" y="2331720"/>
            <a:ext cx="329184" cy="329184"/>
          </a:xfrm>
          <a:prstGeom prst="rect">
            <a:avLst/>
          </a:prstGeom>
          <a:noFill/>
          <a:ln/>
        </p:spPr>
        <p:txBody>
          <a:bodyPr wrap="square" lIns="0" tIns="0" rIns="0" bIns="0" rtlCol="0" anchor="ctr"/>
          <a:lstStyle/>
          <a:p>
            <a:pPr indent="0" marL="0" algn="ctr">
              <a:buNone/>
            </a:pPr>
            <a:r>
              <a:rPr lang="en-US" sz="1300" b="1" dirty="0">
                <a:solidFill>
                  <a:srgbClr val="12362A"/>
                </a:solidFill>
                <a:latin typeface="Calibri" pitchFamily="34" charset="0"/>
                <a:ea typeface="Calibri" pitchFamily="34" charset="-122"/>
                <a:cs typeface="Calibri" pitchFamily="34" charset="-120"/>
              </a:rPr>
              <a:t>?</a:t>
            </a:r>
          </a:p>
        </p:txBody>
      </p:sp>
      <p:sp>
        <p:nvSpPr>
          <p:cNvPr id="258" name="Text"/>
          <p:cNvSpPr/>
          <p:nvPr/>
        </p:nvSpPr>
        <p:spPr>
          <a:xfrm>
            <a:off x="685800" y="2770632"/>
            <a:ext cx="1572768" cy="256032"/>
          </a:xfrm>
          <a:prstGeom prst="rect">
            <a:avLst/>
          </a:prstGeom>
          <a:noFill/>
          <a:ln/>
        </p:spPr>
        <p:txBody>
          <a:bodyPr wrap="square" lIns="0" tIns="0" rIns="0" bIns="0" rtlCol="0" anchor="t"/>
          <a:lstStyle/>
          <a:p>
            <a:pPr indent="0" marL="0">
              <a:buNone/>
            </a:pPr>
            <a:r>
              <a:rPr lang="en-US" sz="1250" b="1" dirty="0">
                <a:solidFill>
                  <a:srgbClr val="E9B44C"/>
                </a:solidFill>
                <a:latin typeface="Calibri" pitchFamily="34" charset="0"/>
                <a:ea typeface="Calibri" pitchFamily="34" charset="-122"/>
                <a:cs typeface="Calibri" pitchFamily="34" charset="-120"/>
              </a:rPr>
              <a:t>Submitting</a:t>
            </a:r>
          </a:p>
        </p:txBody>
      </p:sp>
      <p:sp>
        <p:nvSpPr>
          <p:cNvPr id="259" name="Text"/>
          <p:cNvSpPr/>
          <p:nvPr/>
        </p:nvSpPr>
        <p:spPr>
          <a:xfrm>
            <a:off x="685800" y="3081528"/>
            <a:ext cx="1572768" cy="640080"/>
          </a:xfrm>
          <a:prstGeom prst="rect">
            <a:avLst/>
          </a:prstGeom>
          <a:noFill/>
          <a:ln/>
        </p:spPr>
        <p:txBody>
          <a:bodyPr wrap="square" lIns="0" tIns="0" rIns="0" bIns="0" rtlCol="0" anchor="t"/>
          <a:lstStyle/>
          <a:p>
            <a:pPr indent="0" marL="0">
              <a:buNone/>
            </a:pPr>
            <a:r>
              <a:rPr lang="en-US" sz="950" dirty="0">
                <a:solidFill>
                  <a:srgbClr val="D9E4DC"/>
                </a:solidFill>
                <a:latin typeface="Calibri" pitchFamily="34" charset="0"/>
                <a:ea typeface="Calibri" pitchFamily="34" charset="-122"/>
                <a:cs typeface="Calibri" pitchFamily="34" charset="-120"/>
              </a:rPr>
              <a:t>Which venue for my first paper? What does a rebuttal look like? How do I answer Reviewer 2?</a:t>
            </a:r>
          </a:p>
        </p:txBody>
      </p:sp>
      <p:sp>
        <p:nvSpPr>
          <p:cNvPr id="260" name="Shape"/>
          <p:cNvSpPr/>
          <p:nvPr/>
        </p:nvSpPr>
        <p:spPr>
          <a:xfrm>
            <a:off x="2615184" y="2148840"/>
            <a:ext cx="1938528" cy="1691640"/>
          </a:xfrm>
          <a:prstGeom prst="roundRect">
            <a:avLst>
              <a:gd name="adj" fmla="val 3830"/>
            </a:avLst>
          </a:prstGeom>
          <a:solidFill>
            <a:srgbClr val="1B4A38"/>
          </a:solidFill>
          <a:ln>
            <a:noFill/>
          </a:ln>
        </p:spPr>
        <p:txBody>
          <a:bodyPr/>
          <a:lstStyle/>
          <a:p/>
        </p:txBody>
      </p:sp>
      <p:sp>
        <p:nvSpPr>
          <p:cNvPr id="261" name="Circle"/>
          <p:cNvSpPr/>
          <p:nvPr/>
        </p:nvSpPr>
        <p:spPr>
          <a:xfrm>
            <a:off x="2798064" y="2331720"/>
            <a:ext cx="329184" cy="329184"/>
          </a:xfrm>
          <a:prstGeom prst="ellipse">
            <a:avLst/>
          </a:prstGeom>
          <a:solidFill>
            <a:srgbClr val="E9B44C"/>
          </a:solidFill>
          <a:ln>
            <a:noFill/>
          </a:ln>
        </p:spPr>
        <p:txBody>
          <a:bodyPr/>
          <a:lstStyle/>
          <a:p/>
        </p:txBody>
      </p:sp>
      <p:sp>
        <p:nvSpPr>
          <p:cNvPr id="262" name="Text"/>
          <p:cNvSpPr/>
          <p:nvPr/>
        </p:nvSpPr>
        <p:spPr>
          <a:xfrm>
            <a:off x="2798064" y="2331720"/>
            <a:ext cx="329184" cy="329184"/>
          </a:xfrm>
          <a:prstGeom prst="rect">
            <a:avLst/>
          </a:prstGeom>
          <a:noFill/>
          <a:ln/>
        </p:spPr>
        <p:txBody>
          <a:bodyPr wrap="square" lIns="0" tIns="0" rIns="0" bIns="0" rtlCol="0" anchor="ctr"/>
          <a:lstStyle/>
          <a:p>
            <a:pPr indent="0" marL="0" algn="ctr">
              <a:buNone/>
            </a:pPr>
            <a:r>
              <a:rPr lang="en-US" sz="1300" b="1" dirty="0">
                <a:solidFill>
                  <a:srgbClr val="12362A"/>
                </a:solidFill>
                <a:latin typeface="Calibri" pitchFamily="34" charset="0"/>
                <a:ea typeface="Calibri" pitchFamily="34" charset="-122"/>
                <a:cs typeface="Calibri" pitchFamily="34" charset="-120"/>
              </a:rPr>
              <a:t>?</a:t>
            </a:r>
          </a:p>
        </p:txBody>
      </p:sp>
      <p:sp>
        <p:nvSpPr>
          <p:cNvPr id="263" name="Text"/>
          <p:cNvSpPr/>
          <p:nvPr/>
        </p:nvSpPr>
        <p:spPr>
          <a:xfrm>
            <a:off x="2798064" y="2770632"/>
            <a:ext cx="1572768" cy="256032"/>
          </a:xfrm>
          <a:prstGeom prst="rect">
            <a:avLst/>
          </a:prstGeom>
          <a:noFill/>
          <a:ln/>
        </p:spPr>
        <p:txBody>
          <a:bodyPr wrap="square" lIns="0" tIns="0" rIns="0" bIns="0" rtlCol="0" anchor="t"/>
          <a:lstStyle/>
          <a:p>
            <a:pPr indent="0" marL="0">
              <a:buNone/>
            </a:pPr>
            <a:r>
              <a:rPr lang="en-US" sz="1250" b="1" dirty="0">
                <a:solidFill>
                  <a:srgbClr val="E9B44C"/>
                </a:solidFill>
                <a:latin typeface="Calibri" pitchFamily="34" charset="0"/>
                <a:ea typeface="Calibri" pitchFamily="34" charset="-122"/>
                <a:cs typeface="Calibri" pitchFamily="34" charset="-120"/>
              </a:rPr>
              <a:t>Collaborating</a:t>
            </a:r>
          </a:p>
        </p:txBody>
      </p:sp>
      <p:sp>
        <p:nvSpPr>
          <p:cNvPr id="264" name="Text"/>
          <p:cNvSpPr/>
          <p:nvPr/>
        </p:nvSpPr>
        <p:spPr>
          <a:xfrm>
            <a:off x="2798064" y="3081528"/>
            <a:ext cx="1572768" cy="640080"/>
          </a:xfrm>
          <a:prstGeom prst="rect">
            <a:avLst/>
          </a:prstGeom>
          <a:noFill/>
          <a:ln/>
        </p:spPr>
        <p:txBody>
          <a:bodyPr wrap="square" lIns="0" tIns="0" rIns="0" bIns="0" rtlCol="0" anchor="t"/>
          <a:lstStyle/>
          <a:p>
            <a:pPr indent="0" marL="0">
              <a:buNone/>
            </a:pPr>
            <a:r>
              <a:rPr lang="en-US" sz="950" dirty="0">
                <a:solidFill>
                  <a:srgbClr val="D9E4DC"/>
                </a:solidFill>
                <a:latin typeface="Calibri" pitchFamily="34" charset="0"/>
                <a:ea typeface="Calibri" pitchFamily="34" charset="-122"/>
                <a:cs typeface="Calibri" pitchFamily="34" charset="-120"/>
              </a:rPr>
              <a:t>How do I find co-authors and mentors? How do authorship orders work? Who pays the APC?</a:t>
            </a:r>
          </a:p>
        </p:txBody>
      </p:sp>
      <p:sp>
        <p:nvSpPr>
          <p:cNvPr id="265" name="Shape"/>
          <p:cNvSpPr/>
          <p:nvPr/>
        </p:nvSpPr>
        <p:spPr>
          <a:xfrm>
            <a:off x="4727448" y="2148840"/>
            <a:ext cx="1938528" cy="1691640"/>
          </a:xfrm>
          <a:prstGeom prst="roundRect">
            <a:avLst>
              <a:gd name="adj" fmla="val 3830"/>
            </a:avLst>
          </a:prstGeom>
          <a:solidFill>
            <a:srgbClr val="1B4A38"/>
          </a:solidFill>
          <a:ln>
            <a:noFill/>
          </a:ln>
        </p:spPr>
        <p:txBody>
          <a:bodyPr/>
          <a:lstStyle/>
          <a:p/>
        </p:txBody>
      </p:sp>
      <p:sp>
        <p:nvSpPr>
          <p:cNvPr id="266" name="Circle"/>
          <p:cNvSpPr/>
          <p:nvPr/>
        </p:nvSpPr>
        <p:spPr>
          <a:xfrm>
            <a:off x="4910328" y="2331720"/>
            <a:ext cx="329184" cy="329184"/>
          </a:xfrm>
          <a:prstGeom prst="ellipse">
            <a:avLst/>
          </a:prstGeom>
          <a:solidFill>
            <a:srgbClr val="E9B44C"/>
          </a:solidFill>
          <a:ln>
            <a:noFill/>
          </a:ln>
        </p:spPr>
        <p:txBody>
          <a:bodyPr/>
          <a:lstStyle/>
          <a:p/>
        </p:txBody>
      </p:sp>
      <p:sp>
        <p:nvSpPr>
          <p:cNvPr id="267" name="Text"/>
          <p:cNvSpPr/>
          <p:nvPr/>
        </p:nvSpPr>
        <p:spPr>
          <a:xfrm>
            <a:off x="4910328" y="2331720"/>
            <a:ext cx="329184" cy="329184"/>
          </a:xfrm>
          <a:prstGeom prst="rect">
            <a:avLst/>
          </a:prstGeom>
          <a:noFill/>
          <a:ln/>
        </p:spPr>
        <p:txBody>
          <a:bodyPr wrap="square" lIns="0" tIns="0" rIns="0" bIns="0" rtlCol="0" anchor="ctr"/>
          <a:lstStyle/>
          <a:p>
            <a:pPr indent="0" marL="0" algn="ctr">
              <a:buNone/>
            </a:pPr>
            <a:r>
              <a:rPr lang="en-US" sz="1300" b="1" dirty="0">
                <a:solidFill>
                  <a:srgbClr val="12362A"/>
                </a:solidFill>
                <a:latin typeface="Calibri" pitchFamily="34" charset="0"/>
                <a:ea typeface="Calibri" pitchFamily="34" charset="-122"/>
                <a:cs typeface="Calibri" pitchFamily="34" charset="-120"/>
              </a:rPr>
              <a:t>?</a:t>
            </a:r>
          </a:p>
        </p:txBody>
      </p:sp>
      <p:sp>
        <p:nvSpPr>
          <p:cNvPr id="268" name="Text"/>
          <p:cNvSpPr/>
          <p:nvPr/>
        </p:nvSpPr>
        <p:spPr>
          <a:xfrm>
            <a:off x="4910328" y="2770632"/>
            <a:ext cx="1572768" cy="256032"/>
          </a:xfrm>
          <a:prstGeom prst="rect">
            <a:avLst/>
          </a:prstGeom>
          <a:noFill/>
          <a:ln/>
        </p:spPr>
        <p:txBody>
          <a:bodyPr wrap="square" lIns="0" tIns="0" rIns="0" bIns="0" rtlCol="0" anchor="t"/>
          <a:lstStyle/>
          <a:p>
            <a:pPr indent="0" marL="0">
              <a:buNone/>
            </a:pPr>
            <a:r>
              <a:rPr lang="en-US" sz="1250" b="1" dirty="0">
                <a:solidFill>
                  <a:srgbClr val="E9B44C"/>
                </a:solidFill>
                <a:latin typeface="Calibri" pitchFamily="34" charset="0"/>
                <a:ea typeface="Calibri" pitchFamily="34" charset="-122"/>
                <a:cs typeface="Calibri" pitchFamily="34" charset="-120"/>
              </a:rPr>
              <a:t>Data &amp; ethics</a:t>
            </a:r>
          </a:p>
        </p:txBody>
      </p:sp>
      <p:sp>
        <p:nvSpPr>
          <p:cNvPr id="269" name="Text"/>
          <p:cNvSpPr/>
          <p:nvPr/>
        </p:nvSpPr>
        <p:spPr>
          <a:xfrm>
            <a:off x="4910328" y="3081528"/>
            <a:ext cx="1572768" cy="640080"/>
          </a:xfrm>
          <a:prstGeom prst="rect">
            <a:avLst/>
          </a:prstGeom>
          <a:noFill/>
          <a:ln/>
        </p:spPr>
        <p:txBody>
          <a:bodyPr wrap="square" lIns="0" tIns="0" rIns="0" bIns="0" rtlCol="0" anchor="t"/>
          <a:lstStyle/>
          <a:p>
            <a:pPr indent="0" marL="0">
              <a:buNone/>
            </a:pPr>
            <a:r>
              <a:rPr lang="en-US" sz="950" dirty="0">
                <a:solidFill>
                  <a:srgbClr val="D9E4DC"/>
                </a:solidFill>
                <a:latin typeface="Calibri" pitchFamily="34" charset="0"/>
                <a:ea typeface="Calibri" pitchFamily="34" charset="-122"/>
                <a:cs typeface="Calibri" pitchFamily="34" charset="-120"/>
              </a:rPr>
              <a:t>Community consent, anonymisation, and who owns an African dataset once it is on Hugging Face.</a:t>
            </a:r>
          </a:p>
        </p:txBody>
      </p:sp>
      <p:sp>
        <p:nvSpPr>
          <p:cNvPr id="270" name="Shape"/>
          <p:cNvSpPr/>
          <p:nvPr/>
        </p:nvSpPr>
        <p:spPr>
          <a:xfrm>
            <a:off x="6839712" y="2148840"/>
            <a:ext cx="1938528" cy="1691640"/>
          </a:xfrm>
          <a:prstGeom prst="roundRect">
            <a:avLst>
              <a:gd name="adj" fmla="val 3830"/>
            </a:avLst>
          </a:prstGeom>
          <a:solidFill>
            <a:srgbClr val="1B4A38"/>
          </a:solidFill>
          <a:ln>
            <a:noFill/>
          </a:ln>
        </p:spPr>
        <p:txBody>
          <a:bodyPr/>
          <a:lstStyle/>
          <a:p/>
        </p:txBody>
      </p:sp>
      <p:sp>
        <p:nvSpPr>
          <p:cNvPr id="271" name="Circle"/>
          <p:cNvSpPr/>
          <p:nvPr/>
        </p:nvSpPr>
        <p:spPr>
          <a:xfrm>
            <a:off x="7022592" y="2331720"/>
            <a:ext cx="329184" cy="329184"/>
          </a:xfrm>
          <a:prstGeom prst="ellipse">
            <a:avLst/>
          </a:prstGeom>
          <a:solidFill>
            <a:srgbClr val="E9B44C"/>
          </a:solidFill>
          <a:ln>
            <a:noFill/>
          </a:ln>
        </p:spPr>
        <p:txBody>
          <a:bodyPr/>
          <a:lstStyle/>
          <a:p/>
        </p:txBody>
      </p:sp>
      <p:sp>
        <p:nvSpPr>
          <p:cNvPr id="272" name="Text"/>
          <p:cNvSpPr/>
          <p:nvPr/>
        </p:nvSpPr>
        <p:spPr>
          <a:xfrm>
            <a:off x="7022592" y="2331720"/>
            <a:ext cx="329184" cy="329184"/>
          </a:xfrm>
          <a:prstGeom prst="rect">
            <a:avLst/>
          </a:prstGeom>
          <a:noFill/>
          <a:ln/>
        </p:spPr>
        <p:txBody>
          <a:bodyPr wrap="square" lIns="0" tIns="0" rIns="0" bIns="0" rtlCol="0" anchor="ctr"/>
          <a:lstStyle/>
          <a:p>
            <a:pPr indent="0" marL="0" algn="ctr">
              <a:buNone/>
            </a:pPr>
            <a:r>
              <a:rPr lang="en-US" sz="1300" b="1" dirty="0">
                <a:solidFill>
                  <a:srgbClr val="12362A"/>
                </a:solidFill>
                <a:latin typeface="Calibri" pitchFamily="34" charset="0"/>
                <a:ea typeface="Calibri" pitchFamily="34" charset="-122"/>
                <a:cs typeface="Calibri" pitchFamily="34" charset="-120"/>
              </a:rPr>
              <a:t>?</a:t>
            </a:r>
          </a:p>
        </p:txBody>
      </p:sp>
      <p:sp>
        <p:nvSpPr>
          <p:cNvPr id="273" name="Text"/>
          <p:cNvSpPr/>
          <p:nvPr/>
        </p:nvSpPr>
        <p:spPr>
          <a:xfrm>
            <a:off x="7022592" y="2770632"/>
            <a:ext cx="1572768" cy="256032"/>
          </a:xfrm>
          <a:prstGeom prst="rect">
            <a:avLst/>
          </a:prstGeom>
          <a:noFill/>
          <a:ln/>
        </p:spPr>
        <p:txBody>
          <a:bodyPr wrap="square" lIns="0" tIns="0" rIns="0" bIns="0" rtlCol="0" anchor="t"/>
          <a:lstStyle/>
          <a:p>
            <a:pPr indent="0" marL="0">
              <a:buNone/>
            </a:pPr>
            <a:r>
              <a:rPr lang="en-US" sz="1250" b="1" dirty="0">
                <a:solidFill>
                  <a:srgbClr val="E9B44C"/>
                </a:solidFill>
                <a:latin typeface="Calibri" pitchFamily="34" charset="0"/>
                <a:ea typeface="Calibri" pitchFamily="34" charset="-122"/>
                <a:cs typeface="Calibri" pitchFamily="34" charset="-120"/>
              </a:rPr>
              <a:t>Your abstract</a:t>
            </a:r>
          </a:p>
        </p:txBody>
      </p:sp>
      <p:sp>
        <p:nvSpPr>
          <p:cNvPr id="274" name="Text"/>
          <p:cNvSpPr/>
          <p:nvPr/>
        </p:nvSpPr>
        <p:spPr>
          <a:xfrm>
            <a:off x="7022592" y="3081528"/>
            <a:ext cx="1572768" cy="640080"/>
          </a:xfrm>
          <a:prstGeom prst="rect">
            <a:avLst/>
          </a:prstGeom>
          <a:noFill/>
          <a:ln/>
        </p:spPr>
        <p:txBody>
          <a:bodyPr wrap="square" lIns="0" tIns="0" rIns="0" bIns="0" rtlCol="0" anchor="t"/>
          <a:lstStyle/>
          <a:p>
            <a:pPr indent="0" marL="0">
              <a:buNone/>
            </a:pPr>
            <a:r>
              <a:rPr lang="en-US" sz="950" dirty="0">
                <a:solidFill>
                  <a:srgbClr val="D9E4DC"/>
                </a:solidFill>
                <a:latin typeface="Calibri" pitchFamily="34" charset="0"/>
                <a:ea typeface="Calibri" pitchFamily="34" charset="-122"/>
                <a:cs typeface="Calibri" pitchFamily="34" charset="-120"/>
              </a:rPr>
              <a:t>Bring me the three sentences you just wrote. I will tell you what a reviewer would say.</a:t>
            </a:r>
          </a:p>
        </p:txBody>
      </p:sp>
      <p:sp>
        <p:nvSpPr>
          <p:cNvPr id="275" name="Text"/>
          <p:cNvSpPr/>
          <p:nvPr/>
        </p:nvSpPr>
        <p:spPr>
          <a:xfrm>
            <a:off x="502920" y="4114800"/>
            <a:ext cx="8138160" cy="320040"/>
          </a:xfrm>
          <a:prstGeom prst="rect">
            <a:avLst/>
          </a:prstGeom>
          <a:noFill/>
          <a:ln/>
        </p:spPr>
        <p:txBody>
          <a:bodyPr wrap="square" lIns="0" tIns="0" rIns="0" bIns="0" rtlCol="0" anchor="t"/>
          <a:lstStyle/>
          <a:p>
            <a:pPr indent="0" marL="0">
              <a:buNone/>
            </a:pPr>
            <a:r>
              <a:rPr lang="en-US" sz="1150" i="1" dirty="0">
                <a:solidFill>
                  <a:srgbClr val="E9B44C"/>
                </a:solidFill>
                <a:latin typeface="Calibri" pitchFamily="34" charset="0"/>
                <a:ea typeface="Calibri" pitchFamily="34" charset="-122"/>
                <a:cs typeface="Calibri" pitchFamily="34" charset="-120"/>
              </a:rPr>
              <a:t>No question is too basic. The questions you are afraid to ask are the ones the whole room needs answered.</a:t>
            </a:r>
          </a:p>
        </p:txBody>
      </p:sp>
      <p:pic>
        <p:nvPicPr>
          <p:cNvPr id="276" name="QR kit" descr="img"/>
          <p:cNvPicPr>
            <a:picLocks noChangeAspect="1"/>
          </p:cNvPicPr>
          <p:nvPr/>
        </p:nvPicPr>
        <p:blipFill>
          <a:blip r:embed="rId5"/>
          <a:stretch>
            <a:fillRect/>
          </a:stretch>
        </p:blipFill>
        <p:spPr>
          <a:xfrm>
            <a:off x="7699248" y="4672584"/>
            <a:ext cx="402336" cy="402336"/>
          </a:xfrm>
          <a:prstGeom prst="rect">
            <a:avLst/>
          </a:prstGeom>
        </p:spPr>
      </p:pic>
      <p:sp>
        <p:nvSpPr>
          <p:cNvPr id="277" name="Text"/>
          <p:cNvSpPr/>
          <p:nvPr/>
        </p:nvSpPr>
        <p:spPr>
          <a:xfrm>
            <a:off x="6281928" y="4773168"/>
            <a:ext cx="1325880" cy="201168"/>
          </a:xfrm>
          <a:prstGeom prst="rect">
            <a:avLst/>
          </a:prstGeom>
          <a:noFill/>
          <a:ln/>
        </p:spPr>
        <p:txBody>
          <a:bodyPr wrap="square" lIns="0" tIns="0" rIns="0" bIns="0" rtlCol="0" anchor="t"/>
          <a:lstStyle/>
          <a:p>
            <a:pPr indent="0" marL="0" algn="r">
              <a:buNone/>
            </a:pPr>
            <a:r>
              <a:rPr lang="en-US" sz="750" b="1" dirty="0">
                <a:solidFill>
                  <a:srgbClr val="E9B44C"/>
                </a:solidFill>
                <a:latin typeface="Calibri" pitchFamily="34" charset="0"/>
                <a:ea typeface="Calibri" pitchFamily="34" charset="-122"/>
                <a:cs typeface="Calibri" pitchFamily="34" charset="-120"/>
              </a:rPr>
              <a:t>Resource Kit →</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the Scientific Narrative</dc:title>
  <dc:subject>PptxGenJS Presentation</dc:subject>
  <dc:creator>Castro Gbêmêmali Hounmenou</dc:creator>
  <cp:lastModifiedBy>Castro Gbêmêmali Hounmenou</cp:lastModifiedBy>
  <cp:revision>1</cp:revision>
  <dcterms:created xsi:type="dcterms:W3CDTF">2026-07-04T06:37:43Z</dcterms:created>
  <dcterms:modified xsi:type="dcterms:W3CDTF">2026-07-04T06:37:43Z</dcterms:modified>
</cp:coreProperties>
</file>