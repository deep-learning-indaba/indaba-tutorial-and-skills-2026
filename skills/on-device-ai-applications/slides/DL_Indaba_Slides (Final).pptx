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12192000"/>
  <p:embeddedFontLs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hLmA7UNmNOL++l5SRtS0ch4utu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9E7D03-E4D3-4AF1-A5B3-DCE444A1380E}">
  <a:tblStyle styleId="{E19E7D03-E4D3-4AF1-A5B3-DCE444A138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FP32 size</c:v>
                </c:pt>
              </c:strCache>
            </c:strRef>
          </c:tx>
          <c:spPr>
            <a:solidFill>
              <a:srgbClr val="D97B4F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FP32</c:v>
                  </c:pt>
                  <c:pt idx="1">
                    <c:v>FP16</c:v>
                  </c:pt>
                  <c:pt idx="2">
                    <c:v>INT8</c:v>
                  </c:pt>
                  <c:pt idx="3">
                    <c:v>INT4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50</c:v>
                </c:pt>
                <c:pt idx="2">
                  <c:v>25</c:v>
                </c:pt>
                <c:pt idx="3">
                  <c:v>12.5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100" u="none">
                  <a:solidFill>
                    <a:srgbClr val="1C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9525" cap="flat">
              <a:solidFill>
                <a:srgbClr val="E4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F7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6F76"/>
                    </a:solidFill>
                    <a:latin typeface="Arial"/>
                  </a:rPr>
                  <a:t>% of FP32 size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error (%)</c:v>
                </c:pt>
              </c:strCache>
            </c:strRef>
          </c:tx>
          <c:spPr>
            <a:solidFill>
              <a:srgbClr val="D97B4F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Symmetric</c:v>
                  </c:pt>
                  <c:pt idx="1">
                    <c:v>Asymmetric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8.5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100" u="none">
                  <a:solidFill>
                    <a:srgbClr val="1C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F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blog post by Ngrok is a great resource: https://ngrok.com/blog/quantization</a:t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symmetric quantization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when your data is already balanced around zero — that is, the largest and smallest values are roughly equal in magnitude (like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-0.9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0.9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). Here 0 sits naturally in the middle, so squishing values around it wastes little range. It’s also cheaper: you only store a single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scale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per block, and dequantization is a simple multiplication.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asymmetric quantization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when your data is lopsided. Check this by comparing the max and min: if one side dwarfs the other (like min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-0.89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but max only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0.16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), symmetry forces the range to stretch to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0.89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on both sides, leaving a large unused gap and inflating error. Asymmetric fixes this by centering on the data’s midpoint and storing a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zero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point alongside the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scale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roughly halving the error in the article’s example, at the cost of a bit more overhead and a slightly more complex dequantize step.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quick rule: check whether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|max|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|min|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are close. If yes, go symmetric for its simplicity; if they diverge, go asymmetric to reclaim the wasted range.</a:t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Align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The two numbers usually have different exponents, so their mantissas must be shifted until the exponents match before they can be added.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Compute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Add the aligned mantissas together.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Normalise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Shift the result back into standard scientific notation (a single leading digit before the point) and adjust the exponent.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Round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Truncate the result to fit the available mantissa bits, introducing a tiny rounding error.</a:t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deeplearning.ai/short-courses/quantization-fundamentals-with-hugging-face/" TargetMode="External"/><Relationship Id="rId10" Type="http://schemas.openxmlformats.org/officeDocument/2006/relationships/hyperlink" Target="https://www.deeplearning.ai/courses/quantization-in-depth/" TargetMode="External"/><Relationship Id="rId13" Type="http://schemas.openxmlformats.org/officeDocument/2006/relationships/hyperlink" Target="https://newsletter.maartengrootendorst.com/" TargetMode="External"/><Relationship Id="rId12" Type="http://schemas.openxmlformats.org/officeDocument/2006/relationships/hyperlink" Target="https://www.deeplearning.ai/short-courses/quantization-fundamentals-with-hugging-face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ithub.com/FloatinggOnion/dl-indaba-resources" TargetMode="External"/><Relationship Id="rId4" Type="http://schemas.openxmlformats.org/officeDocument/2006/relationships/hyperlink" Target="https://github.com/FloatinggOnion/dl-indaba-resources" TargetMode="External"/><Relationship Id="rId9" Type="http://schemas.openxmlformats.org/officeDocument/2006/relationships/hyperlink" Target="https://www.deeplearning.ai/courses/quantization-in-depth/" TargetMode="External"/><Relationship Id="rId15" Type="http://schemas.openxmlformats.org/officeDocument/2006/relationships/hyperlink" Target="https://arxiv.org/pdf/2306.00978" TargetMode="External"/><Relationship Id="rId14" Type="http://schemas.openxmlformats.org/officeDocument/2006/relationships/hyperlink" Target="https://newsletter.maartengrootendorst.com/" TargetMode="External"/><Relationship Id="rId17" Type="http://schemas.openxmlformats.org/officeDocument/2006/relationships/hyperlink" Target="mailto:jesseosems123@gmail.com" TargetMode="External"/><Relationship Id="rId16" Type="http://schemas.openxmlformats.org/officeDocument/2006/relationships/hyperlink" Target="https://arxiv.org/pdf/2306.00978" TargetMode="External"/><Relationship Id="rId5" Type="http://schemas.openxmlformats.org/officeDocument/2006/relationships/hyperlink" Target="https://drive.google.com/drive/folders/1hwQdn33zvQeudof5uLUrdvYQRXdmbLiI?usp=sharing" TargetMode="External"/><Relationship Id="rId19" Type="http://schemas.openxmlformats.org/officeDocument/2006/relationships/hyperlink" Target="https://ngrok.com/blog/quantization" TargetMode="External"/><Relationship Id="rId6" Type="http://schemas.openxmlformats.org/officeDocument/2006/relationships/hyperlink" Target="https://drive.google.com/drive/folders/1hwQdn33zvQeudof5uLUrdvYQRXdmbLiI?usp=sharing" TargetMode="External"/><Relationship Id="rId18" Type="http://schemas.openxmlformats.org/officeDocument/2006/relationships/hyperlink" Target="https://ngrok.com/blog/quantization" TargetMode="External"/><Relationship Id="rId7" Type="http://schemas.openxmlformats.org/officeDocument/2006/relationships/hyperlink" Target="https://hf.co/FloatinggOnion/mobile-llm-quant-demo" TargetMode="External"/><Relationship Id="rId8" Type="http://schemas.openxmlformats.org/officeDocument/2006/relationships/hyperlink" Target="https://hf.co/FloatinggOnion/mobile-llm-quant-demo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FloatinggOnion/dl-indaba-resources" TargetMode="External"/><Relationship Id="rId4" Type="http://schemas.openxmlformats.org/officeDocument/2006/relationships/hyperlink" Target="https://drive.google.com/drive/folders/1hwQdn33zvQeudof5uLUrdvYQRXdmbLiI?usp=sharing" TargetMode="External"/><Relationship Id="rId5" Type="http://schemas.openxmlformats.org/officeDocument/2006/relationships/hyperlink" Target="mailto:jesseosems123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DEEP LEARNING INDABA  ·  SKILLS SESSION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Building On-Device AI Applications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with Gemma 3n</a:t>
            </a:r>
            <a:r>
              <a:rPr b="0" i="1" lang="en-US" sz="1800" u="none" cap="none" strike="noStrike">
                <a:solidFill>
                  <a:srgbClr val="B7BAD9"/>
                </a:solidFill>
                <a:latin typeface="Cambria"/>
                <a:ea typeface="Cambria"/>
                <a:cs typeface="Cambria"/>
                <a:sym typeface="Cambria"/>
              </a:rPr>
              <a:t>   (…or pick your own fighter)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397764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Jesse-Paul Osemeke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562356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“Sovereign Intelligence: Africa’s Path in a Frontier AI World”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SESSION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What we’ll cover today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89888" y="181965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On-device model selection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89888" y="2167128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What makes a model suitable for local deployment — size, speed, efficiency, hardware fit.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309360" y="1874520"/>
            <a:ext cx="566928" cy="566928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309360" y="18745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059168" y="181965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Model quantisation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059168" y="2167128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How it works, what it changes and saves, and the key algorithms: GPTQ, AWQ, K-quants.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3291840"/>
            <a:ext cx="566928" cy="566928"/>
          </a:xfrm>
          <a:prstGeom prst="ellipse">
            <a:avLst/>
          </a:prstGeom>
          <a:solidFill>
            <a:srgbClr val="2FB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40080" y="3291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89888" y="323697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Practical conversion workflow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89888" y="3584448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Step-by-step, using prewritten scripts to prepare models for local inference.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309360" y="3291840"/>
            <a:ext cx="566928" cy="566928"/>
          </a:xfrm>
          <a:prstGeom prst="ellipse">
            <a:avLst/>
          </a:prstGeom>
          <a:solidFill>
            <a:srgbClr val="2FB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309360" y="3291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059168" y="323697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Common pitfalls &amp; debugging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059168" y="3584448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What goes wrong deploying on laptops and desktops — and how to fix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2FB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40080" y="4709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89888" y="465429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Sovereign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389888" y="5001768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How on-device AI supports Africa’s technical independence, privacy, and local capacity.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One app, fully local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1874520"/>
            <a:ext cx="10881360" cy="4023360"/>
          </a:xfrm>
          <a:prstGeom prst="roundRect">
            <a:avLst>
              <a:gd fmla="val 2727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97280" y="2286000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Anya — Research Assistant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97280" y="2880360"/>
            <a:ext cx="6126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 local-first desktop app for running literature reviews and brainstorming ideas. Powered by a quantised LLM, fully offline — no data leaves your machine.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97280" y="429768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97280" y="4599432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Python  ·  Ollama  ·  Gemma 3n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97280" y="498348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</a:rPr>
              <a:t>github.com/floatinggonion/anya-ra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097280" y="5330952"/>
            <a:ext cx="118872" cy="118872"/>
          </a:xfrm>
          <a:prstGeom prst="ellipse">
            <a:avLst/>
          </a:prstGeom>
          <a:solidFill>
            <a:srgbClr val="2FB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307592" y="5239512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</a:rPr>
              <a:t>Running locally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269480" y="228600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269480" y="2825496"/>
            <a:ext cx="118872" cy="118872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562088" y="26974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Fully offline — no API, no cloud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269480" y="3419856"/>
            <a:ext cx="118872" cy="118872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562088" y="32918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Runs on consumer hardware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269480" y="4014216"/>
            <a:ext cx="118872" cy="118872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562088" y="3886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Literature review &amp; brainstorming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269480" y="4608576"/>
            <a:ext cx="118872" cy="118872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562088" y="44805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Powered by quantised Gemma 3n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What makes a model on-device ready?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40080" y="1965960"/>
            <a:ext cx="3364992" cy="1783080"/>
          </a:xfrm>
          <a:prstGeom prst="roundRect">
            <a:avLst>
              <a:gd fmla="val 512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896112" y="2221992"/>
            <a:ext cx="365760" cy="36576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96112" y="22219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96112" y="27432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Low memory footprint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96112" y="32004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Must fit in device RAM — typically 2–6 GB on phones, 8–16 GB on laptops.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224528" y="1965960"/>
            <a:ext cx="3364992" cy="1783080"/>
          </a:xfrm>
          <a:prstGeom prst="roundRect">
            <a:avLst>
              <a:gd fmla="val 512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480560" y="2221992"/>
            <a:ext cx="365760" cy="36576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480560" y="22219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480560" y="27432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High inference speed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480560" y="32004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Low FLOPs; generates tokens fast enough to feel real-time.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808976" y="1965960"/>
            <a:ext cx="3364992" cy="1783080"/>
          </a:xfrm>
          <a:prstGeom prst="roundRect">
            <a:avLst>
              <a:gd fmla="val 512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8065008" y="2221992"/>
            <a:ext cx="365760" cy="36576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8065008" y="22219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065008" y="27432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Energy efficiency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065008" y="32004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Low power draw — critical for mobile, to avoid draining batteries.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40080" y="4023360"/>
            <a:ext cx="3364992" cy="1783080"/>
          </a:xfrm>
          <a:prstGeom prst="roundRect">
            <a:avLst>
              <a:gd fmla="val 512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96112" y="4279392"/>
            <a:ext cx="365760" cy="36576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896112" y="42793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96112" y="48006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Hardware acceleration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96112" y="52578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Leverages on-chip NPUs, GPUs, or Apple Neural Engine.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224528" y="4023360"/>
            <a:ext cx="3364992" cy="1783080"/>
          </a:xfrm>
          <a:prstGeom prst="roundRect">
            <a:avLst>
              <a:gd fmla="val 512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480560" y="4279392"/>
            <a:ext cx="365760" cy="36576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480560" y="42793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480560" y="48006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Quantisation readiness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480560" y="5257800"/>
            <a:ext cx="2852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Retains accuracy even when weights are heavily compressed.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808976" y="4023360"/>
            <a:ext cx="336499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These five criteria filter which models survive compression — Gemma 3n was built with exactly these constraints in mind.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Why Gemma 3n?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40080" y="1920240"/>
            <a:ext cx="60350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Google’s on-device-first multimodal model family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C1F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Designed from the ground up for mobile and edge deployment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C1F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Multimodal: accepts text, audio, and image inputs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C1F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Flexible compute budget via Per-Layer Embedding (PLE)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C1F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Quantised weights available on Hugging Face out of the 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C1F3D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Comparable to Qwen3.5 0.8B as an ultra-lightweight alternative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040880" y="1920240"/>
            <a:ext cx="4480560" cy="1874520"/>
          </a:xfrm>
          <a:prstGeom prst="roundRect">
            <a:avLst>
              <a:gd fmla="val 4878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315200" y="212140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Gemma 3n E2B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315200" y="254203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~2B params  ·  ~4 GB 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315200" y="28803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lang="en-US" sz="1100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1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100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r>
              <a:rPr b="0" i="0" lang="en-US" sz="11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 GB quantised (Q4_K_M)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315200" y="3291840"/>
            <a:ext cx="1828800" cy="310896"/>
          </a:xfrm>
          <a:prstGeom prst="roundRect">
            <a:avLst>
              <a:gd fmla="val 23529" name="adj"/>
            </a:avLst>
          </a:prstGeom>
          <a:solidFill>
            <a:srgbClr val="2FB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315200" y="329184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Mobile-friendly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040880" y="4069080"/>
            <a:ext cx="4480560" cy="1874520"/>
          </a:xfrm>
          <a:prstGeom prst="roundRect">
            <a:avLst>
              <a:gd fmla="val 487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315200" y="427024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Gemma 3n E4B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315200" y="46908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~4B params  ·  ~6–8 GB 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315200" y="50292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Qwen3.5 0.8B → lightweight alt.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315200" y="5440680"/>
            <a:ext cx="1828800" cy="310896"/>
          </a:xfrm>
          <a:prstGeom prst="roundRect">
            <a:avLst>
              <a:gd fmla="val 23529" name="adj"/>
            </a:avLst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7315200" y="544068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Laptop-class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3D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PART 2 OF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22960" y="2697480"/>
            <a:ext cx="9601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 Quantisation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What it changes  ·  What it saves  ·  The trade-offs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QUANTISATION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What is quantisation?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0080" y="160020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Reducing the numerical precision of a model’s weights — shrinking size and memory use while preserving most of its capability.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0080" y="2606040"/>
            <a:ext cx="5394960" cy="1965960"/>
          </a:xfrm>
          <a:prstGeom prst="roundRect">
            <a:avLst>
              <a:gd fmla="val 465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914400" y="2816352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THE ANALOGY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914400" y="310896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Compressing audio from WAV to MP3. You lose some ultra-high-frequency detail most ears can’t hear — but the song still sounds great, and the file is 10× smaller. Quantisation trades a sliver of precision for a massive drop in size and compute.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Precision → size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7"/>
          <p:cNvGraphicFramePr/>
          <p:nvPr/>
        </p:nvGraphicFramePr>
        <p:xfrm>
          <a:off x="6400800" y="2011680"/>
          <a:ext cx="5120640" cy="4206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5" name="Google Shape;155;p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QUANTISATION · THE MATH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Anatomy of a float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Every float splits its bits into three jobs. The sign says +/−. The exponent sets the range. The mantissa sets the precision.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0080" y="2103120"/>
            <a:ext cx="10881360" cy="777240"/>
          </a:xfrm>
          <a:prstGeom prst="roundRect">
            <a:avLst>
              <a:gd fmla="val 10588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896112" y="2267712"/>
            <a:ext cx="1036929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2FB6A0"/>
                </a:solidFill>
                <a:latin typeface="Courier New"/>
                <a:ea typeface="Courier New"/>
                <a:cs typeface="Courier New"/>
                <a:sym typeface="Courier New"/>
              </a:rPr>
              <a:t>value ≈ (−1)^sign × 1.mantissa × 2^(exponent − bias)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40080" y="3108960"/>
            <a:ext cx="201168" cy="201168"/>
          </a:xfrm>
          <a:prstGeom prst="rect">
            <a:avLst/>
          </a:prstGeom>
          <a:solidFill>
            <a:srgbClr val="3B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932688" y="30449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sign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383280" y="3108960"/>
            <a:ext cx="201168" cy="201168"/>
          </a:xfrm>
          <a:prstGeom prst="rect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675888" y="30449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exponent — range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126480" y="3108960"/>
            <a:ext cx="201168" cy="201168"/>
          </a:xfrm>
          <a:prstGeom prst="rect">
            <a:avLst/>
          </a:prstGeom>
          <a:solidFill>
            <a:srgbClr val="2FB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419088" y="30449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mantissa — precision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40080" y="3611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FP32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645920" y="3611880"/>
            <a:ext cx="274320" cy="384048"/>
          </a:xfrm>
          <a:prstGeom prst="rect">
            <a:avLst/>
          </a:prstGeom>
          <a:solidFill>
            <a:srgbClr val="3B407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920240" y="3611880"/>
            <a:ext cx="2194560" cy="384048"/>
          </a:xfrm>
          <a:prstGeom prst="rect">
            <a:avLst/>
          </a:prstGeom>
          <a:solidFill>
            <a:srgbClr val="D97B4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114800" y="3611880"/>
            <a:ext cx="6309360" cy="384048"/>
          </a:xfrm>
          <a:prstGeom prst="rect">
            <a:avLst/>
          </a:prstGeom>
          <a:solidFill>
            <a:srgbClr val="2FB6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40080" y="41422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645920" y="4142232"/>
            <a:ext cx="274320" cy="384048"/>
          </a:xfrm>
          <a:prstGeom prst="rect">
            <a:avLst/>
          </a:prstGeom>
          <a:solidFill>
            <a:srgbClr val="3B407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920240" y="4142232"/>
            <a:ext cx="1371600" cy="384048"/>
          </a:xfrm>
          <a:prstGeom prst="rect">
            <a:avLst/>
          </a:prstGeom>
          <a:solidFill>
            <a:srgbClr val="D97B4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3291840" y="4142232"/>
            <a:ext cx="2743200" cy="384048"/>
          </a:xfrm>
          <a:prstGeom prst="rect">
            <a:avLst/>
          </a:prstGeom>
          <a:solidFill>
            <a:srgbClr val="2FB6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40080" y="4672584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BF16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645920" y="4672584"/>
            <a:ext cx="274320" cy="384048"/>
          </a:xfrm>
          <a:prstGeom prst="rect">
            <a:avLst/>
          </a:prstGeom>
          <a:solidFill>
            <a:srgbClr val="3B407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920240" y="4672584"/>
            <a:ext cx="2194560" cy="384048"/>
          </a:xfrm>
          <a:prstGeom prst="rect">
            <a:avLst/>
          </a:prstGeom>
          <a:solidFill>
            <a:srgbClr val="D97B4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4114800" y="4672584"/>
            <a:ext cx="1920240" cy="384048"/>
          </a:xfrm>
          <a:prstGeom prst="rect">
            <a:avLst/>
          </a:prstGeom>
          <a:solidFill>
            <a:srgbClr val="2FB6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40080" y="520293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INT4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645920" y="5202936"/>
            <a:ext cx="1097280" cy="384048"/>
          </a:xfrm>
          <a:prstGeom prst="rect">
            <a:avLst/>
          </a:prstGeom>
          <a:solidFill>
            <a:srgbClr val="B3603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2926080" y="520293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plain signed integer — no exponent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8"/>
          <p:cNvGraphicFramePr/>
          <p:nvPr/>
        </p:nvGraphicFramePr>
        <p:xfrm>
          <a:off x="7223760" y="36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{E19E7D03-E4D3-4AF1-A5B3-DCE444A1380E}</a:tableStyleId>
              </a:tblPr>
              <a:tblGrid>
                <a:gridCol w="1097275"/>
                <a:gridCol w="731525"/>
                <a:gridCol w="1371600"/>
                <a:gridCol w="1097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magnitude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±3.4×10³⁸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~7 digits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±65,504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 digits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BF16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±3.39×10³⁸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 digits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−8 to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 (16 buckets)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7a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QUANTISATION · THE MATH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The quantisation formula — symmetric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40080" y="1600200"/>
            <a:ext cx="5120640" cy="1920240"/>
          </a:xfrm>
          <a:prstGeom prst="roundRect">
            <a:avLst>
              <a:gd fmla="val 4286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896112" y="1764792"/>
            <a:ext cx="4608576" cy="1591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FB6A0"/>
                </a:solidFill>
                <a:latin typeface="Courier New"/>
                <a:ea typeface="Courier New"/>
                <a:cs typeface="Courier New"/>
                <a:sym typeface="Courier New"/>
              </a:rPr>
              <a:t>QUANTIZE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scale = max(|values|) / q_max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 = round(v / scale)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DEQUANTIZE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v’ = q ×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40080" y="365760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One scale factor maps your float range onto the integer range, centred on zero. Simple — but wasteful if your data isn’t symmetric.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40080" y="4709160"/>
            <a:ext cx="5120640" cy="1234440"/>
          </a:xfrm>
          <a:prstGeom prst="roundRect">
            <a:avLst>
              <a:gd fmla="val 7407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777240" y="4818888"/>
            <a:ext cx="4846320" cy="6789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3603A"/>
                </a:solidFill>
                <a:latin typeface="Cambria"/>
                <a:ea typeface="Cambria"/>
                <a:cs typeface="Cambria"/>
                <a:sym typeface="Cambria"/>
              </a:rPr>
              <a:t>~18%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77240" y="5449824"/>
            <a:ext cx="4846320" cy="43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Average dequantised error — 6 real weights, symmetric int4 (q_max = 7, scale ≈ 0.127)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9"/>
          <p:cNvGraphicFramePr/>
          <p:nvPr/>
        </p:nvGraphicFramePr>
        <p:xfrm>
          <a:off x="6172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{E19E7D03-E4D3-4AF1-A5B3-DCE444A1380E}</a:tableStyleId>
              </a:tblPr>
              <a:tblGrid>
                <a:gridCol w="1371600"/>
                <a:gridCol w="1280150"/>
                <a:gridCol w="1463050"/>
                <a:gridCol w="12801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Original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Quantised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Dequantised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Error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-0.89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-7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-0.890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0.16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0.127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-20.6%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0.08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0.127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+58.9%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-0.13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-0.127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-2.2%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0.16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0.127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-20.6%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-0.54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-4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-0.509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-5.8%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7b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QUANTISATION · THE MATH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Asymmetric quantisation — adding a zero-point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40080" y="1600200"/>
            <a:ext cx="5120640" cy="2148840"/>
          </a:xfrm>
          <a:prstGeom prst="roundRect">
            <a:avLst>
              <a:gd fmla="val 3830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896112" y="1764792"/>
            <a:ext cx="4608576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B6A0"/>
                </a:solidFill>
                <a:latin typeface="Courier New"/>
                <a:ea typeface="Courier New"/>
                <a:cs typeface="Courier New"/>
                <a:sym typeface="Courier New"/>
              </a:rPr>
              <a:t>QUANTIZE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scale = (max − min) / (q_max − q_min)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zero = q_min − round(min / scale)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 = round(v / scale + zero)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DEQUANTIZE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v’ = scale × (q − zero)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40080" y="388620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Squishes around the midpoint of your data instead of zero, using the full integer range — same 4 bits, roughly half the error.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40080" y="4754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Same 4 bits, half the error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0"/>
          <p:cNvGraphicFramePr/>
          <p:nvPr/>
        </p:nvGraphicFramePr>
        <p:xfrm>
          <a:off x="640080" y="5074920"/>
          <a:ext cx="5120640" cy="16002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216" name="Google Shape;216;p10"/>
          <p:cNvGraphicFramePr/>
          <p:nvPr/>
        </p:nvGraphicFramePr>
        <p:xfrm>
          <a:off x="6172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{E19E7D03-E4D3-4AF1-A5B3-DCE444A1380E}</a:tableStyleId>
              </a:tblPr>
              <a:tblGrid>
                <a:gridCol w="1371600"/>
                <a:gridCol w="1280150"/>
                <a:gridCol w="1463050"/>
                <a:gridCol w="1280150"/>
              </a:tblGrid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Original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Quantised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Dequantised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Error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F3D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-0.89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-8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-0.91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+2.2%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0.16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0.14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-12.5%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0.08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0.07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-12.5%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-0.13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-0.14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+7.7%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0.16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0.14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-12.5%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-0.54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-3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-0.56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F3D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1C1F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+3.7%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10"/>
          <p:cNvSpPr/>
          <p:nvPr/>
        </p:nvSpPr>
        <p:spPr>
          <a:xfrm>
            <a:off x="6172200" y="57150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scale ≈ 0.07   ·   zero = 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7c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QUANTISATION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Why is floating point so expensive?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Adding two FP numbers isn’t simple addition — it’s a four-step hardware pipeline.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640080" y="2103120"/>
            <a:ext cx="2514600" cy="1188720"/>
          </a:xfrm>
          <a:prstGeom prst="roundRect">
            <a:avLst>
              <a:gd fmla="val 7692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822960" y="22128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822960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822960" y="28803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Match exponents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154680" y="2377440"/>
            <a:ext cx="228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383280" y="2103120"/>
            <a:ext cx="2514600" cy="1188720"/>
          </a:xfrm>
          <a:prstGeom prst="roundRect">
            <a:avLst>
              <a:gd fmla="val 7692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566160" y="22128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566160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566160" y="28803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Add mantissas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897880" y="2377440"/>
            <a:ext cx="228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6126480" y="2103120"/>
            <a:ext cx="2514600" cy="1188720"/>
          </a:xfrm>
          <a:prstGeom prst="roundRect">
            <a:avLst>
              <a:gd fmla="val 7692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6309360" y="22128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309360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Normalise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309360" y="28803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Back to sci. notation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641080" y="2377440"/>
            <a:ext cx="228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869680" y="2103120"/>
            <a:ext cx="2514600" cy="1188720"/>
          </a:xfrm>
          <a:prstGeom prst="roundRect">
            <a:avLst>
              <a:gd fmla="val 7692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9052560" y="22128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9052560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Round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9052560" y="28803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Truncate bits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40080" y="3611880"/>
            <a:ext cx="10881360" cy="868680"/>
          </a:xfrm>
          <a:prstGeom prst="roundRect">
            <a:avLst>
              <a:gd fmla="val 10526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914400" y="374904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FP32 / FP16:  </a:t>
            </a:r>
            <a:r>
              <a:rPr b="0" i="0" lang="en-US" sz="12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4-step pipeline per operation, multiple clock cycles, complex hardware logic.    </a:t>
            </a:r>
            <a:r>
              <a:rPr b="1" i="0" lang="en-US" sz="12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INT8:  </a:t>
            </a:r>
            <a:r>
              <a:rPr b="0" i="0" lang="en-US" sz="12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direct bit summation — no alignment, no normalisation. Fewer transistors, less power, higher throughput.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Quantisation usually skips the embedding layer and LM head to preserve accuracy — it targets the internal feed-forward and attention blocks.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QUANTISATION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Two main quantisation settings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40080" y="1691640"/>
            <a:ext cx="5212080" cy="4434840"/>
          </a:xfrm>
          <a:prstGeom prst="roundRect">
            <a:avLst>
              <a:gd fmla="val 2474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914400" y="1947672"/>
            <a:ext cx="1280160" cy="310896"/>
          </a:xfrm>
          <a:prstGeom prst="roundRect">
            <a:avLst>
              <a:gd fmla="val 23529" name="adj"/>
            </a:avLst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914400" y="19476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W8A8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914400" y="23774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Weight + activation quantisation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914400" y="28072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Both weights and activations quantised to INT8.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914400" y="33832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914400" y="3657600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Reduces both memory AND compute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C1F3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Full integer arithmetic at runtime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C1F3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Strong throughput on INT8 hardware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914400" y="49834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WATCH OUT FOR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914400" y="5257800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Activations vary at runtime — harder to quantise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Needs calibration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6309360" y="1691640"/>
            <a:ext cx="5212080" cy="4434840"/>
          </a:xfrm>
          <a:prstGeom prst="roundRect">
            <a:avLst>
              <a:gd fmla="val 2474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6583680" y="1947672"/>
            <a:ext cx="1280160" cy="310896"/>
          </a:xfrm>
          <a:prstGeom prst="roundRect">
            <a:avLst>
              <a:gd fmla="val 23529" name="adj"/>
            </a:avLst>
          </a:prstGeom>
          <a:solidFill>
            <a:srgbClr val="2FB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6583680" y="19476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W4A16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583680" y="23774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Weight-only quantisation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583680" y="28072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Weights compressed to INT4; activations stay FP16.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583680" y="33832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583680" y="3657600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 to 75% memory saving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Better accuracy retention than W8A8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common for on-device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583680" y="49834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WATCH OUT FOR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583680" y="5257800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Weights dequantised at runtime — small overhead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B7BAD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Less throughput gain vs W8A8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QUANTISATION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Core approaches: PTQ vs QAT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fmla="val 2609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914400" y="1993392"/>
            <a:ext cx="1097280" cy="310896"/>
          </a:xfrm>
          <a:prstGeom prst="roundRect">
            <a:avLst>
              <a:gd fmla="val 23529" name="adj"/>
            </a:avLst>
          </a:prstGeom>
          <a:solidFill>
            <a:srgbClr val="2FB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914400" y="199339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PTQ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914400" y="24231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Post-training quantisation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914400" y="2907792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Applied to an already-trained checkpoint. No retraining required.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914400" y="37033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KEY ADVANTAGES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914400" y="4023360"/>
            <a:ext cx="4663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 on any pre-trained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to apply — minutes to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approach used in this session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Go-to for on-device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6309360" y="1737360"/>
            <a:ext cx="5212080" cy="4206240"/>
          </a:xfrm>
          <a:prstGeom prst="roundRect">
            <a:avLst>
              <a:gd fmla="val 2609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6583680" y="1993392"/>
            <a:ext cx="1097280" cy="310896"/>
          </a:xfrm>
          <a:prstGeom prst="roundRect">
            <a:avLst>
              <a:gd fmla="val 23529" name="adj"/>
            </a:avLst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6583680" y="199339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583680" y="24231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Quantisation-aware training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583680" y="2907792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Quantisation errors are simulated during training so the model learns to compensate.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6583680" y="37033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KEY ADVANTAGES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583680" y="4023360"/>
            <a:ext cx="4663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Higher accuracy at very low bit widths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Better for INT4 / INT2 scenarios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Used in production fine-tuning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Expensive but more accurate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This session uses PTQ throughout — fast, no retraining, good results for on-device deployment.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QUANTISATION ALGORITHMS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Key algorithms: GPTQ &amp; AWQ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fmla="val 2553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914400" y="19476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1554480" y="189280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GPTQ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1554480" y="22402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Layer-by-layer, error-minimising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914400" y="269748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Generative Pre-trained Transformer Quantisation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914400" y="3291840"/>
            <a:ext cx="4663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Processes the model layer by layer. For each layer, finds the optimal rounding of weights that minimises output error.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914400" y="4892040"/>
            <a:ext cx="4663440" cy="868680"/>
          </a:xfrm>
          <a:prstGeom prst="roundRect">
            <a:avLst>
              <a:gd fmla="val 8421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1097280" y="498348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FP16 → 3–4 bits, up to 75% memory reduction, ~1–2% perplexity loss.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309360" y="1691640"/>
            <a:ext cx="5212080" cy="4297680"/>
          </a:xfrm>
          <a:prstGeom prst="roundRect">
            <a:avLst>
              <a:gd fmla="val 2553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583680" y="1947672"/>
            <a:ext cx="502920" cy="502920"/>
          </a:xfrm>
          <a:prstGeom prst="ellipse">
            <a:avLst/>
          </a:prstGeom>
          <a:solidFill>
            <a:srgbClr val="2FB6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6583680" y="19476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7223760" y="189280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AWQ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7223760" y="22402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</a:rPr>
              <a:t>Salience-aware, protects critical weights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583680" y="269748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Activation-Aware Weight Quantisation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6583680" y="3291840"/>
            <a:ext cx="4663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Key insight: ~1% of weights are ‘salient’ — they disproportionately swing model output. AWQ finds them via activation magnitudes and protects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583680" y="4892040"/>
            <a:ext cx="4663440" cy="868680"/>
          </a:xfrm>
          <a:prstGeom prst="roundRect">
            <a:avLst>
              <a:gd fmla="val 8421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6766560" y="498348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Often better accuracy than GPTQ at the same bit width, especially INT4.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QUANTISATION ALGORITHMS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Blockwise K quantisation (K-quants)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llama.cpp’s native quantisation method — the one behind Q4_K_M, Q5_K_M, Q6_K and other variants.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1234440" y="2121408"/>
            <a:ext cx="2770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Block splitting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640080" y="2743200"/>
            <a:ext cx="336499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Weights are split into small blocks, each with its own local scale factor — much finer-grained precision control than one global scale.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224528" y="2148840"/>
            <a:ext cx="457200" cy="45720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4224528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4818888" y="2121408"/>
            <a:ext cx="2770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Super-blocks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224528" y="2743200"/>
            <a:ext cx="336499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Groups of blocks bundle into ‘super-blocks’. Their scale constants get a second, lighter round of quantisation, compressing the overhead.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7808976" y="2148840"/>
            <a:ext cx="457200" cy="45720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7808976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8403336" y="2121408"/>
            <a:ext cx="2770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Importance matrix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7808976" y="2743200"/>
            <a:ext cx="336499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An imatrix, computed from sample data, identifies the most salient weights and minimises rounding error exactly there.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fmla="val 5128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914400" y="45262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NAMING CONVENTION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914400" y="4846320"/>
            <a:ext cx="10332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Q4_K_M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= 4-bit · K-quant · Medium quality.  </a:t>
            </a:r>
            <a:r>
              <a:rPr b="1" i="0" lang="en-US" sz="13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Q4_K_S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= Small,  </a:t>
            </a:r>
            <a:r>
              <a:rPr b="1" i="0" lang="en-US" sz="13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Q5_K_M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= 5-bit Medium. The _K suffix always means K-quant — these variants consistently beat legacy Q4_0 at the same bit depth. Always prefer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3D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THE PAYOFF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quantise?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640080" y="1965960"/>
            <a:ext cx="2029968" cy="2377440"/>
          </a:xfrm>
          <a:prstGeom prst="roundRect">
            <a:avLst>
              <a:gd fmla="val 5405" name="adj"/>
            </a:avLst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777240" y="2286000"/>
            <a:ext cx="17556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75%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777240" y="3200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saved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777240" y="3566160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FP16 → INT4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2852928" y="1965960"/>
            <a:ext cx="2029968" cy="2377440"/>
          </a:xfrm>
          <a:prstGeom prst="roundRect">
            <a:avLst>
              <a:gd fmla="val 5405" name="adj"/>
            </a:avLst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2990088" y="2286000"/>
            <a:ext cx="17556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4×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2990088" y="3200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throughput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2990088" y="3566160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vs. full precision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5065776" y="1965960"/>
            <a:ext cx="2029968" cy="2377440"/>
          </a:xfrm>
          <a:prstGeom prst="roundRect">
            <a:avLst>
              <a:gd fmla="val 5405" name="adj"/>
            </a:avLst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5202936" y="2286000"/>
            <a:ext cx="17556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5202936" y="3200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calls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5202936" y="3566160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Fully offline &amp; private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7278624" y="1965960"/>
            <a:ext cx="2029968" cy="2377440"/>
          </a:xfrm>
          <a:prstGeom prst="roundRect">
            <a:avLst>
              <a:gd fmla="val 5405" name="adj"/>
            </a:avLst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/>
          <p:nvPr/>
        </p:nvSpPr>
        <p:spPr>
          <a:xfrm>
            <a:off x="7415784" y="2286000"/>
            <a:ext cx="17556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↓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7415784" y="3200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per token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7415784" y="3566160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Less battery drain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9491472" y="1965960"/>
            <a:ext cx="2029968" cy="2377440"/>
          </a:xfrm>
          <a:prstGeom prst="roundRect">
            <a:avLst>
              <a:gd fmla="val 5405" name="adj"/>
            </a:avLst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9628632" y="2286000"/>
            <a:ext cx="17556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↑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9628632" y="320040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 length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9628632" y="3566160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More tokens per GB 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A 75% memory cut turns a 10 GB model needing a rented A100 into a 2.5 GB model that runs on a MacBook. ‘Zero cloud calls’ is the number that carries the sovereign-AI 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3D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PART 3 OF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822960" y="2697480"/>
            <a:ext cx="9601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Practical Conversion Workflow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From Hugging Face to local inference — step by step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PRACTICAL WORKFLOW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Preparing a model for local inference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640080" y="2011680"/>
            <a:ext cx="2011680" cy="3200400"/>
          </a:xfrm>
          <a:prstGeom prst="roundRect">
            <a:avLst>
              <a:gd fmla="val 4545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1394460" y="2286000"/>
            <a:ext cx="502920" cy="50292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8"/>
          <p:cNvSpPr/>
          <p:nvPr/>
        </p:nvSpPr>
        <p:spPr>
          <a:xfrm>
            <a:off x="1394460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777240" y="29718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Choose your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777240" y="3520440"/>
            <a:ext cx="17373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Pick from Hugging Face. Target ≤7B params for laptops, ≤3B for mobile. Check licence.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2651760" y="3383280"/>
            <a:ext cx="164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2816352" y="2011680"/>
            <a:ext cx="2011680" cy="3200400"/>
          </a:xfrm>
          <a:prstGeom prst="roundRect">
            <a:avLst>
              <a:gd fmla="val 4545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3570732" y="2286000"/>
            <a:ext cx="502920" cy="50292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3570732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2953512" y="29718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Build llama.cpp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2953512" y="3520440"/>
            <a:ext cx="17373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Clone and compile llama.cpp — our primary inference runtime for GGUF models.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4828032" y="3383280"/>
            <a:ext cx="164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4992624" y="2011680"/>
            <a:ext cx="2011680" cy="3200400"/>
          </a:xfrm>
          <a:prstGeom prst="roundRect">
            <a:avLst>
              <a:gd fmla="val 4545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5747004" y="2286000"/>
            <a:ext cx="502920" cy="50292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5747004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5129784" y="29718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Convert to GGUF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5129784" y="3520440"/>
            <a:ext cx="17373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Run convert_hf_to_gguf.py to convert the checkpoint into GGUF format.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7004304" y="3383280"/>
            <a:ext cx="164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7168896" y="2011680"/>
            <a:ext cx="2011680" cy="3200400"/>
          </a:xfrm>
          <a:prstGeom prst="roundRect">
            <a:avLst>
              <a:gd fmla="val 4545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7923276" y="2286000"/>
            <a:ext cx="502920" cy="50292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7923276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7306056" y="29718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Quantise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7306056" y="3520440"/>
            <a:ext cx="17373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Run llama-quantize with your chosen precision. Q4_K_M is a solid default.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9180576" y="3383280"/>
            <a:ext cx="164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9345168" y="2011680"/>
            <a:ext cx="2011680" cy="3200400"/>
          </a:xfrm>
          <a:prstGeom prst="roundRect">
            <a:avLst>
              <a:gd fmla="val 4545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10099548" y="2286000"/>
            <a:ext cx="502920" cy="50292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10099548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9482328" y="29718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Test inference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9482328" y="3520440"/>
            <a:ext cx="17373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Run llama-cli or llama-server. Validate quality and check tokens/sec.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fmla="val 10667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914400" y="548640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Pre</a:t>
            </a:r>
            <a:r>
              <a:rPr b="0" i="0" lang="en-US" sz="12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-quantised</a:t>
            </a:r>
            <a:r>
              <a:rPr b="0" i="0" lang="en-US" sz="12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 models</a:t>
            </a:r>
            <a:r>
              <a:rPr b="0" i="0" lang="en-US" sz="12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1" i="0" lang="en-US" sz="125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huggingface.co/FloatinggOnion/mobile-llm-quant-demo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Edge &amp; mobile inference frameworks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>
            <a:off x="841248" y="2240280"/>
            <a:ext cx="22037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llama.cpp / GGUF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841248" y="2880360"/>
            <a:ext cx="22037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macOS · Linux · Windows · Android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841248" y="3474720"/>
            <a:ext cx="2203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Go-to runtime for quantised LLMs on CPU and GPU. GGUF is the primary format used in this session.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3447288" y="196596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3648456" y="2240280"/>
            <a:ext cx="22037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ONNX Runtime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3648456" y="2880360"/>
            <a:ext cx="22037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Cross-platform · Mobile · Browser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3648456" y="3474720"/>
            <a:ext cx="2203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Wide hardware support via optimised execution providers. Good for cross-platform edge deployment.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6254496" y="196596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9"/>
          <p:cNvSpPr/>
          <p:nvPr/>
        </p:nvSpPr>
        <p:spPr>
          <a:xfrm>
            <a:off x="6455664" y="2240280"/>
            <a:ext cx="22037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TensorFlow Lite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6455664" y="2880360"/>
            <a:ext cx="22037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Android · iOS · Embedded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6455664" y="3474720"/>
            <a:ext cx="2203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Mature mobile runtime, best for smaller task-specific models (classification, vision, audio).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9061704" y="196596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9"/>
          <p:cNvSpPr/>
          <p:nvPr/>
        </p:nvSpPr>
        <p:spPr>
          <a:xfrm>
            <a:off x="9262872" y="2240280"/>
            <a:ext cx="22037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Apple Core ML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9262872" y="2880360"/>
            <a:ext cx="22037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iOS · macOS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9262872" y="3474720"/>
            <a:ext cx="2203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Apple’s native framework, leveraging the Neural Engine on A-series / M-series chips.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This session uses llama.cpp / GGUF — the most versatile and best maintained option, working on any 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3D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PART 4 OF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822960" y="2697480"/>
            <a:ext cx="9601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Common Pitfalls &amp; How to Debug Them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What goes wrong — and what to do about 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PITFALLS &amp; DEBUGGING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Common pitfalls — and how to fix them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640080" y="1783080"/>
            <a:ext cx="10881360" cy="804672"/>
          </a:xfrm>
          <a:prstGeom prst="roundRect">
            <a:avLst>
              <a:gd fmla="val 909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868680" y="1984248"/>
            <a:ext cx="402336" cy="402336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868680" y="19842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1508760" y="1874520"/>
            <a:ext cx="4206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Out of memory (OOM) during conversion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5852160" y="1874520"/>
            <a:ext cx="5394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Use a machine with ≥16 GB RAM. Start with a smaller model (≤3B). Offload layers to disk with --offload-kqv.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fmla="val 909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868680" y="2898648"/>
            <a:ext cx="402336" cy="402336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"/>
          <p:cNvSpPr/>
          <p:nvPr/>
        </p:nvSpPr>
        <p:spPr>
          <a:xfrm>
            <a:off x="868680" y="28986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1508760" y="2788920"/>
            <a:ext cx="4206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Gibberish output after quantisation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5852160" y="2788920"/>
            <a:ext cx="5394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Tokeniser likely wasn’t converted correctly. Re-run GGUF conversion and check tokeniser files are included.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640080" y="3611880"/>
            <a:ext cx="10881360" cy="804672"/>
          </a:xfrm>
          <a:prstGeom prst="roundRect">
            <a:avLst>
              <a:gd fmla="val 909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1"/>
          <p:cNvSpPr/>
          <p:nvPr/>
        </p:nvSpPr>
        <p:spPr>
          <a:xfrm>
            <a:off x="868680" y="3813048"/>
            <a:ext cx="402336" cy="402336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1"/>
          <p:cNvSpPr/>
          <p:nvPr/>
        </p:nvSpPr>
        <p:spPr>
          <a:xfrm>
            <a:off x="868680" y="38130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1508760" y="3703320"/>
            <a:ext cx="4206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GGUF version mismatch (model won’t load)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5852160" y="3703320"/>
            <a:ext cx="5394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Update llama.cpp to the latest build — GGUF format versions change frequently; old files often unsupported.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640080" y="4526280"/>
            <a:ext cx="10881360" cy="804672"/>
          </a:xfrm>
          <a:prstGeom prst="roundRect">
            <a:avLst>
              <a:gd fmla="val 909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1"/>
          <p:cNvSpPr/>
          <p:nvPr/>
        </p:nvSpPr>
        <p:spPr>
          <a:xfrm>
            <a:off x="868680" y="4727448"/>
            <a:ext cx="402336" cy="402336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1"/>
          <p:cNvSpPr/>
          <p:nvPr/>
        </p:nvSpPr>
        <p:spPr>
          <a:xfrm>
            <a:off x="868680" y="47274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1508760" y="4617720"/>
            <a:ext cx="4206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Very slow inference on CPU (&gt;10 sec/token)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5852160" y="4617720"/>
            <a:ext cx="5394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Pass -ngl 99 to offload layers to GPU if available. On CPU-only, 1–4 tok/s for 3–4B models is normal.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640080" y="5440680"/>
            <a:ext cx="10881360" cy="804672"/>
          </a:xfrm>
          <a:prstGeom prst="roundRect">
            <a:avLst>
              <a:gd fmla="val 9091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1"/>
          <p:cNvSpPr/>
          <p:nvPr/>
        </p:nvSpPr>
        <p:spPr>
          <a:xfrm>
            <a:off x="868680" y="5641848"/>
            <a:ext cx="402336" cy="402336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1"/>
          <p:cNvSpPr/>
          <p:nvPr/>
        </p:nvSpPr>
        <p:spPr>
          <a:xfrm>
            <a:off x="868680" y="56418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1508760" y="5532120"/>
            <a:ext cx="4206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Noticeable quality loss after quantisation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5852160" y="5532120"/>
            <a:ext cx="5394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Move from Q4_0 to Q4_K_M — the _K variants group better. Or go up to Q5 / Q6 for more accuracy.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3D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</a:rPr>
              <a:t>PART 5 OF 5 · THE BIGGER PICTURE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Sovereign Intelligence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640080" y="1874520"/>
            <a:ext cx="5166360" cy="1965960"/>
          </a:xfrm>
          <a:prstGeom prst="roundRect">
            <a:avLst>
              <a:gd fmla="val 4651" name="adj"/>
            </a:avLst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2"/>
          <p:cNvSpPr/>
          <p:nvPr/>
        </p:nvSpPr>
        <p:spPr>
          <a:xfrm>
            <a:off x="914400" y="210312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Data stays local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914400" y="2560320"/>
            <a:ext cx="4617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Patient records, government documents, personal data — none of it leaves the device. Privacy is architecture, not policy.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6355080" y="1874520"/>
            <a:ext cx="5166360" cy="1965960"/>
          </a:xfrm>
          <a:prstGeom prst="roundRect">
            <a:avLst>
              <a:gd fmla="val 4651" name="adj"/>
            </a:avLst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2"/>
          <p:cNvSpPr/>
          <p:nvPr/>
        </p:nvSpPr>
        <p:spPr>
          <a:xfrm>
            <a:off x="6629400" y="210312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No cloud dependency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6629400" y="2560320"/>
            <a:ext cx="4617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No API bills. No foreign infrastructure. No outages from a distant data centre. AI that works anywhere, even offline.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fmla="val 4651" name="adj"/>
            </a:avLst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2"/>
          <p:cNvSpPr/>
          <p:nvPr/>
        </p:nvSpPr>
        <p:spPr>
          <a:xfrm>
            <a:off x="914400" y="438912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Adaptable to local context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914400" y="4846320"/>
            <a:ext cx="4617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Local models can be fine-tuned on local hardware for African languages, dialects, and domain knowledge.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6355080" y="4160520"/>
            <a:ext cx="5166360" cy="1965960"/>
          </a:xfrm>
          <a:prstGeom prst="roundRect">
            <a:avLst>
              <a:gd fmla="val 4651" name="adj"/>
            </a:avLst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6629400" y="438912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Build, don’t just consume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6629400" y="4846320"/>
            <a:ext cx="4617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These skills put deployment power in African hands — to prototype, ship, and iterate without gatekeepers.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Next steps &amp; resources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YOUR CHECKLIST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/>
          <p:nvPr/>
        </p:nvSpPr>
        <p:spPr>
          <a:xfrm>
            <a:off x="640080" y="2057400"/>
            <a:ext cx="292608" cy="292608"/>
          </a:xfrm>
          <a:prstGeom prst="roundRect">
            <a:avLst>
              <a:gd fmla="val 18750" name="adj"/>
            </a:avLst>
          </a:prstGeom>
          <a:noFill/>
          <a:ln cap="flat" cmpd="sng" w="19050">
            <a:solidFill>
              <a:srgbClr val="D9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3"/>
          <p:cNvSpPr/>
          <p:nvPr/>
        </p:nvSpPr>
        <p:spPr>
          <a:xfrm>
            <a:off x="1097280" y="200253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Install llama.cpp on your machine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640080" y="2560320"/>
            <a:ext cx="292608" cy="292608"/>
          </a:xfrm>
          <a:prstGeom prst="roundRect">
            <a:avLst>
              <a:gd fmla="val 18750" name="adj"/>
            </a:avLst>
          </a:prstGeom>
          <a:noFill/>
          <a:ln cap="flat" cmpd="sng" w="19050">
            <a:solidFill>
              <a:srgbClr val="D9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3"/>
          <p:cNvSpPr/>
          <p:nvPr/>
        </p:nvSpPr>
        <p:spPr>
          <a:xfrm>
            <a:off x="1097280" y="250545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Download a pre-quantised model from the repo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640080" y="3063240"/>
            <a:ext cx="292608" cy="292608"/>
          </a:xfrm>
          <a:prstGeom prst="roundRect">
            <a:avLst>
              <a:gd fmla="val 18750" name="adj"/>
            </a:avLst>
          </a:prstGeom>
          <a:noFill/>
          <a:ln cap="flat" cmpd="sng" w="19050">
            <a:solidFill>
              <a:srgbClr val="D9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3"/>
          <p:cNvSpPr/>
          <p:nvPr/>
        </p:nvSpPr>
        <p:spPr>
          <a:xfrm>
            <a:off x="1097280" y="300837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Run inference locally — confirm it works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640080" y="3566160"/>
            <a:ext cx="292608" cy="292608"/>
          </a:xfrm>
          <a:prstGeom prst="roundRect">
            <a:avLst>
              <a:gd fmla="val 18750" name="adj"/>
            </a:avLst>
          </a:prstGeom>
          <a:noFill/>
          <a:ln cap="flat" cmpd="sng" w="19050">
            <a:solidFill>
              <a:srgbClr val="D9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3"/>
          <p:cNvSpPr/>
          <p:nvPr/>
        </p:nvSpPr>
        <p:spPr>
          <a:xfrm>
            <a:off x="1097280" y="351129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Convert and quantise a model of your choice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640080" y="4069080"/>
            <a:ext cx="292608" cy="292608"/>
          </a:xfrm>
          <a:prstGeom prst="roundRect">
            <a:avLst>
              <a:gd fmla="val 18750" name="adj"/>
            </a:avLst>
          </a:prstGeom>
          <a:noFill/>
          <a:ln cap="flat" cmpd="sng" w="19050">
            <a:solidFill>
              <a:srgbClr val="D9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3"/>
          <p:cNvSpPr/>
          <p:nvPr/>
        </p:nvSpPr>
        <p:spPr>
          <a:xfrm>
            <a:off x="1097280" y="401421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Evaluate output quality (compare to original)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640080" y="4572000"/>
            <a:ext cx="292608" cy="292608"/>
          </a:xfrm>
          <a:prstGeom prst="roundRect">
            <a:avLst>
              <a:gd fmla="val 18750" name="adj"/>
            </a:avLst>
          </a:prstGeom>
          <a:noFill/>
          <a:ln cap="flat" cmpd="sng" w="19050">
            <a:solidFill>
              <a:srgbClr val="D9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3"/>
          <p:cNvSpPr/>
          <p:nvPr/>
        </p:nvSpPr>
        <p:spPr>
          <a:xfrm>
            <a:off x="1097280" y="451713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Build something useful with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6492240" y="1045877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60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3603A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3"/>
          <p:cNvSpPr/>
          <p:nvPr/>
        </p:nvSpPr>
        <p:spPr>
          <a:xfrm>
            <a:off x="6492240" y="1411637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Session repo (scripts &amp; notebook)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>
            <a:hlinkClick r:id="rId3"/>
          </p:cNvPr>
          <p:cNvSpPr/>
          <p:nvPr/>
        </p:nvSpPr>
        <p:spPr>
          <a:xfrm>
            <a:off x="6492240" y="1667669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github.com/FloatinggOnion/dl-indaba-resources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6492240" y="1978565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Shared drive (slides &amp; extras)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>
            <a:hlinkClick r:id="rId5"/>
          </p:cNvPr>
          <p:cNvSpPr/>
          <p:nvPr/>
        </p:nvSpPr>
        <p:spPr>
          <a:xfrm>
            <a:off x="6492240" y="2234597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drive.google.com/drive/folders/1hwQdn33z…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6492240" y="2545493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Pre-quantised models (HF)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>
            <a:hlinkClick r:id="rId7"/>
          </p:cNvPr>
          <p:cNvSpPr/>
          <p:nvPr/>
        </p:nvSpPr>
        <p:spPr>
          <a:xfrm>
            <a:off x="6492240" y="2801525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hf.co/FloatinggOnion/mobile-llm-quant-demo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6492240" y="3112421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Quantisation in depth (DLAI)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>
            <a:hlinkClick r:id="rId9"/>
          </p:cNvPr>
          <p:cNvSpPr/>
          <p:nvPr/>
        </p:nvSpPr>
        <p:spPr>
          <a:xfrm>
            <a:off x="6492240" y="3368453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deeplearning.ai/courses/quantization-in-depth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6492240" y="3679349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Quantisation fundamentals (HF×DLAI)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>
            <a:hlinkClick r:id="rId11"/>
          </p:cNvPr>
          <p:cNvSpPr/>
          <p:nvPr/>
        </p:nvSpPr>
        <p:spPr>
          <a:xfrm>
            <a:off x="6492240" y="3935381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deeplearning.ai/courses/quantization-fundamentals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6492240" y="4246277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A visual guide to quantisation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>
            <a:hlinkClick r:id="rId13"/>
          </p:cNvPr>
          <p:cNvSpPr/>
          <p:nvPr/>
        </p:nvSpPr>
        <p:spPr>
          <a:xfrm>
            <a:off x="6492240" y="4502309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newsletter.maartengrootendorst.com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6492240" y="4813205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AWQ &amp; GPTQ papers (arXiv)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>
            <a:hlinkClick r:id="rId15"/>
          </p:cNvPr>
          <p:cNvSpPr/>
          <p:nvPr/>
        </p:nvSpPr>
        <p:spPr>
          <a:xfrm>
            <a:off x="6492240" y="5069237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arxiv.org/pdf/2306.00978  ·  arxiv.org/abs/2210.17323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3"/>
          <p:cNvSpPr/>
          <p:nvPr/>
        </p:nvSpPr>
        <p:spPr>
          <a:xfrm>
            <a:off x="640080" y="6263640"/>
            <a:ext cx="10607040" cy="457200"/>
          </a:xfrm>
          <a:prstGeom prst="roundRect">
            <a:avLst>
              <a:gd fmla="val 16000" name="adj"/>
            </a:avLst>
          </a:prstGeom>
          <a:solidFill>
            <a:srgbClr val="1C1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3"/>
          <p:cNvSpPr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Questions after the session?   </a:t>
            </a:r>
            <a:r>
              <a:rPr b="1" i="0" lang="en-US" sz="1300" u="sng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jesseosems123@gmail.com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6492240" y="5392130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F3D"/>
                </a:solidFill>
                <a:latin typeface="Calibri"/>
                <a:ea typeface="Calibri"/>
                <a:cs typeface="Calibri"/>
                <a:sym typeface="Calibri"/>
              </a:rPr>
              <a:t>AWQ &amp; GPTQ papers (arXiv)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3">
            <a:hlinkClick r:id="rId18"/>
          </p:cNvPr>
          <p:cNvSpPr/>
          <p:nvPr/>
        </p:nvSpPr>
        <p:spPr>
          <a:xfrm>
            <a:off x="6492240" y="5666447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79"/>
              </a:buClr>
              <a:buSzPts val="1000"/>
              <a:buFont typeface="Calibri"/>
              <a:buNone/>
            </a:pPr>
            <a:r>
              <a:rPr lang="en-US" sz="1000" u="sng">
                <a:solidFill>
                  <a:srgbClr val="1F8A79"/>
                </a:solidFill>
                <a:latin typeface="Calibri"/>
                <a:ea typeface="Calibri"/>
                <a:cs typeface="Calibri"/>
                <a:sym typeface="Calibri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https://ngrok.com/blog/quantization</a:t>
            </a:r>
            <a:endParaRPr sz="1000">
              <a:solidFill>
                <a:srgbClr val="1F8A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4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B4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B4F"/>
                </a:solidFill>
                <a:latin typeface="Calibri"/>
                <a:ea typeface="Calibri"/>
                <a:cs typeface="Calibri"/>
                <a:sym typeface="Calibri"/>
              </a:rPr>
              <a:t>APPRECIATION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With thanks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4"/>
          <p:cNvSpPr/>
          <p:nvPr/>
        </p:nvSpPr>
        <p:spPr>
          <a:xfrm>
            <a:off x="640080" y="2011680"/>
            <a:ext cx="10881360" cy="3108960"/>
          </a:xfrm>
          <a:prstGeom prst="roundRect">
            <a:avLst>
              <a:gd fmla="val 411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4"/>
          <p:cNvSpPr/>
          <p:nvPr/>
        </p:nvSpPr>
        <p:spPr>
          <a:xfrm>
            <a:off x="1005840" y="2423160"/>
            <a:ext cx="868680" cy="868680"/>
          </a:xfrm>
          <a:prstGeom prst="ellipse">
            <a:avLst/>
          </a:prstGeom>
          <a:solidFill>
            <a:srgbClr val="D97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4"/>
          <p:cNvSpPr/>
          <p:nvPr/>
        </p:nvSpPr>
        <p:spPr>
          <a:xfrm>
            <a:off x="1005840" y="242316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2148840" y="246888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F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1F3D"/>
                </a:solidFill>
                <a:latin typeface="Cambria"/>
                <a:ea typeface="Cambria"/>
                <a:cs typeface="Cambria"/>
                <a:sym typeface="Cambria"/>
              </a:rPr>
              <a:t>Daniel Onyesoh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4"/>
          <p:cNvSpPr/>
          <p:nvPr/>
        </p:nvSpPr>
        <p:spPr>
          <a:xfrm>
            <a:off x="2148840" y="2971800"/>
            <a:ext cx="8961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With gratitude for the collaboration, insight, and hands-on work that helped shape this session — from the demos to the ideas behind them.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20a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3D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5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5"/>
          <p:cNvSpPr/>
          <p:nvPr/>
        </p:nvSpPr>
        <p:spPr>
          <a:xfrm>
            <a:off x="9601200" y="3657600"/>
            <a:ext cx="4114800" cy="4114800"/>
          </a:xfrm>
          <a:prstGeom prst="ellipse">
            <a:avLst/>
          </a:prstGeom>
          <a:solidFill>
            <a:srgbClr val="2B2F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5"/>
          <p:cNvSpPr/>
          <p:nvPr/>
        </p:nvSpPr>
        <p:spPr>
          <a:xfrm>
            <a:off x="822960" y="192024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6A0"/>
              </a:buClr>
              <a:buSzPts val="2200"/>
              <a:buFont typeface="Cambria"/>
              <a:buNone/>
            </a:pPr>
            <a:r>
              <a:rPr b="0" i="1" lang="en-US" sz="2200" u="none" cap="none" strike="noStrike">
                <a:solidFill>
                  <a:srgbClr val="2FB6A0"/>
                </a:solidFill>
                <a:latin typeface="Cambria"/>
                <a:ea typeface="Cambria"/>
                <a:cs typeface="Cambria"/>
                <a:sym typeface="Cambria"/>
              </a:rPr>
              <a:t>Questions?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822960" y="352044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Jesse-Paul Osemeke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822960" y="402336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Repo:   </a:t>
            </a:r>
            <a:r>
              <a:rPr b="0" i="0" lang="en-US" sz="1200" u="sng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github.com/FloatinggOnion/dl-indaba-resources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822960" y="4334256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Drive:   </a:t>
            </a:r>
            <a:r>
              <a:rPr b="0" i="0" lang="en-US" sz="1200" u="sng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drive.google.com/drive/folders/1hwQdn33z…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822960" y="4645152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A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BAD9"/>
                </a:solidFill>
                <a:latin typeface="Calibri"/>
                <a:ea typeface="Calibri"/>
                <a:cs typeface="Calibri"/>
                <a:sym typeface="Calibri"/>
              </a:rPr>
              <a:t>Questions?   </a:t>
            </a:r>
            <a:r>
              <a:rPr b="1" i="0" lang="en-US" sz="1200" u="sng" cap="none" strike="noStrike">
                <a:solidFill>
                  <a:srgbClr val="2FB6A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jesseosems123@gmail.com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5"/>
          <p:cNvSpPr/>
          <p:nvPr/>
        </p:nvSpPr>
        <p:spPr>
          <a:xfrm>
            <a:off x="822960" y="544068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“The path to sovereign intelligence is built one model at a time.”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2026-07-12T23:35:20Z</dcterms:created>
  <dc:creator>PptxGenJS</dc:creator>
</cp:coreProperties>
</file>